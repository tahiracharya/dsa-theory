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7" r:id="rId16"/>
    <p:sldId id="269" r:id="rId17"/>
    <p:sldId id="278" r:id="rId18"/>
    <p:sldId id="270" r:id="rId19"/>
    <p:sldId id="271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9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sa-visualizer-delta.vercel.app/visualizer" TargetMode="External"/><Relationship Id="rId2" Type="http://schemas.openxmlformats.org/officeDocument/2006/relationships/hyperlink" Target="https://visualgo.net/en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atastructuresvisualization.netlify.app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0" cy="6858000"/>
          </a:xfrm>
          <a:prstGeom prst="rect">
            <a:avLst/>
          </a:prstGeom>
          <a:solidFill>
            <a:srgbClr val="E2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28430"/>
                </a:solidFill>
                <a:latin typeface="Aptos"/>
              </a:rPr>
              <a:t>ZERO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Data Structure and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Aptos"/>
              </a:rPr>
              <a:t>Course Code: 1BCS305
PCC • Semester III • Academic Year 2026–2027
L–T–P: 3–0–0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0" dirty="0">
                <a:solidFill>
                  <a:srgbClr val="D7E1EB"/>
                </a:solidFill>
                <a:latin typeface="Aptos"/>
              </a:rPr>
              <a:t>By. </a:t>
            </a:r>
          </a:p>
          <a:p>
            <a:pPr algn="ctr"/>
            <a:r>
              <a:rPr lang="en-IN" sz="2000" b="1" dirty="0">
                <a:solidFill>
                  <a:srgbClr val="D7E1EB"/>
                </a:solidFill>
                <a:latin typeface="Aptos"/>
              </a:rPr>
              <a:t>Mohammad Tahir </a:t>
            </a:r>
            <a:r>
              <a:rPr lang="en-IN" sz="2000" b="1" dirty="0" err="1">
                <a:solidFill>
                  <a:srgbClr val="D7E1EB"/>
                </a:solidFill>
                <a:latin typeface="Aptos"/>
              </a:rPr>
              <a:t>Mirji</a:t>
            </a:r>
            <a:endParaRPr lang="en-IN" sz="2000" b="1" dirty="0">
              <a:solidFill>
                <a:srgbClr val="D7E1EB"/>
              </a:solidFill>
              <a:latin typeface="Aptos"/>
            </a:endParaRPr>
          </a:p>
          <a:p>
            <a:pPr algn="ctr"/>
            <a:r>
              <a:rPr lang="en-IN" sz="2000" dirty="0">
                <a:solidFill>
                  <a:srgbClr val="D7E1EB"/>
                </a:solidFill>
                <a:latin typeface="Aptos"/>
              </a:rPr>
              <a:t>Assistant Professor</a:t>
            </a:r>
            <a:br>
              <a:rPr lang="en-IN" sz="2000" dirty="0">
                <a:solidFill>
                  <a:srgbClr val="D7E1EB"/>
                </a:solidFill>
                <a:latin typeface="Aptos"/>
              </a:rPr>
            </a:br>
            <a:r>
              <a:rPr lang="en-IN" sz="2000" dirty="0">
                <a:solidFill>
                  <a:srgbClr val="D7E1EB"/>
                </a:solidFill>
                <a:latin typeface="Aptos"/>
              </a:rPr>
              <a:t>Department of AI&amp;ML</a:t>
            </a:r>
            <a:endParaRPr sz="2000" b="0" dirty="0">
              <a:solidFill>
                <a:srgbClr val="D7E1E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28430"/>
                </a:solidFill>
                <a:latin typeface="Aptos"/>
              </a:rPr>
              <a:t>THE MINDSET FOR THIS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Organize → Analyse → Design → Implement → Test → Improve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794760"/>
            <a:ext cx="30175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39" y="39319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DON'T JUST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39" y="4407408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Understand why the structure fits.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794760"/>
            <a:ext cx="30175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39319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DON'T JUST MEMORIZE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407408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Rebuild the logic yourself.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794760"/>
            <a:ext cx="30175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9" y="39319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E5B"/>
                </a:solidFill>
                <a:latin typeface="Aptos"/>
              </a:rPr>
              <a:t>DON'T STOP AT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4407408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Analyse efficiency and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7219" y="-101671"/>
            <a:ext cx="111556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1B2B3D"/>
                </a:solidFill>
                <a:latin typeface="Aptos"/>
              </a:rPr>
              <a:t>Welcome to </a:t>
            </a:r>
            <a:r>
              <a:rPr lang="en-IN" sz="2800" b="1" dirty="0">
                <a:solidFill>
                  <a:srgbClr val="1B2B3D"/>
                </a:solidFill>
                <a:latin typeface="Aptos"/>
              </a:rPr>
              <a:t>Zero Session for </a:t>
            </a:r>
          </a:p>
          <a:p>
            <a:pPr algn="ctr"/>
            <a:r>
              <a:rPr lang="en-IN" sz="2800" b="1" dirty="0">
                <a:solidFill>
                  <a:srgbClr val="1B2B3D"/>
                </a:solidFill>
                <a:latin typeface="Aptos"/>
              </a:rPr>
              <a:t>Data Structures and Applications -</a:t>
            </a:r>
            <a:r>
              <a:rPr sz="2800" b="1" dirty="0">
                <a:solidFill>
                  <a:srgbClr val="1B2B3D"/>
                </a:solidFill>
                <a:latin typeface="Aptos"/>
              </a:rPr>
              <a:t>1BCS305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2900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50876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8" y="1984248"/>
            <a:ext cx="32461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034"/>
                </a:solidFill>
                <a:latin typeface="Aptos"/>
              </a:rPr>
              <a:t>Data Structure and Applications
PCC | Semester III
L–T–P: 3–0–0
Academic Year: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What this course builds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1984248"/>
            <a:ext cx="32461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034"/>
                </a:solidFill>
                <a:latin typeface="Aptos"/>
              </a:rPr>
              <a:t>Fundamentals of data structures, operations, implementation skills and application-oriented problem solving.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2900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E5B"/>
                </a:solidFill>
                <a:latin typeface="Aptos"/>
              </a:rPr>
              <a:t>Big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1984248"/>
            <a:ext cx="32461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034"/>
                </a:solidFill>
                <a:latin typeface="Aptos"/>
              </a:rPr>
              <a:t>How do we organize data so that a computational problem can be solved clearly, efficiently and reliably?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Why Do We Need Data Structures?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034"/>
                </a:solidFill>
                <a:latin typeface="Aptos"/>
              </a:defRPr>
            </a:pPr>
            <a:r>
              <a:t>• Programs work with data; the way data is organized directly affects how easily it can be stored, accessed, updated and processed.</a:t>
            </a:r>
          </a:p>
          <a:p>
            <a:pPr>
              <a:spcAft>
                <a:spcPts val="1000"/>
              </a:spcAft>
              <a:defRPr sz="2000">
                <a:solidFill>
                  <a:srgbClr val="2D3034"/>
                </a:solidFill>
                <a:latin typeface="Aptos"/>
              </a:defRPr>
            </a:pPr>
            <a:r>
              <a:t>• Different problems need different organizations: linear structures, linked structures, trees, graphs, hashing and priority-based structures.</a:t>
            </a:r>
          </a:p>
          <a:p>
            <a:pPr>
              <a:spcAft>
                <a:spcPts val="1000"/>
              </a:spcAft>
              <a:defRPr sz="2000">
                <a:solidFill>
                  <a:srgbClr val="2D3034"/>
                </a:solidFill>
                <a:latin typeface="Aptos"/>
              </a:defRPr>
            </a:pPr>
            <a:r>
              <a:t>• A good data structure supports an appropriate solution instead of forcing every problem into the same representation.</a:t>
            </a:r>
          </a:p>
          <a:p>
            <a:pPr>
              <a:spcAft>
                <a:spcPts val="1000"/>
              </a:spcAft>
              <a:defRPr sz="2000">
                <a:solidFill>
                  <a:srgbClr val="2D3034"/>
                </a:solidFill>
                <a:latin typeface="Aptos"/>
              </a:defRPr>
            </a:pPr>
            <a:r>
              <a:t>• This course moves from fundamentals to application-oriented structures and problem solving.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Course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• Explain fundamentals of data structures and their applications.</a:t>
            </a:r>
          </a:p>
          <a:p>
            <a:pPr>
              <a:spcAft>
                <a:spcPts val="10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• Represent different data structures such as Stack and Queues.</a:t>
            </a:r>
          </a:p>
          <a:p>
            <a:pPr>
              <a:spcAft>
                <a:spcPts val="10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• Design and develop solutions to problems using Linked Lists.</a:t>
            </a:r>
          </a:p>
          <a:p>
            <a:pPr>
              <a:spcAft>
                <a:spcPts val="10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• Solve computational problems using trees.</a:t>
            </a:r>
          </a:p>
          <a:p>
            <a:pPr>
              <a:spcAft>
                <a:spcPts val="10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• Study advanced data structures such as Hashing and Leftist trees.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Course Outcomes (COs)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CO1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92807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034"/>
                </a:solidFill>
                <a:latin typeface="Aptos"/>
              </a:rPr>
              <a:t>Explain fundamentals of data structures and their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80160"/>
            <a:ext cx="521208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1731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CO2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92807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Illustrate operations of stacks and queues in programming 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39"/>
            <a:ext cx="521208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7179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E5B"/>
                </a:solidFill>
                <a:latin typeface="Aptos"/>
              </a:rPr>
              <a:t>CO3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47287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Apply Linked List concepts to real-world problems.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834639"/>
            <a:ext cx="521208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97179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CO4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47287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Solve computational problems using trees.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521208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CO5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01768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Apply hashing techniques and leftist trees to organise data effectively.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Course Roadmap: Five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56616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1731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Module 1
Introduction to Data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81" y="2285999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034"/>
                </a:solidFill>
                <a:latin typeface="Aptos"/>
              </a:rPr>
              <a:t>Fundamentals, memory management and basic data organization.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56616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41731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Module 2
Linear Data Structures – Stacks &amp; Queues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22577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034"/>
                </a:solidFill>
                <a:latin typeface="Aptos"/>
              </a:rPr>
              <a:t>Concepts, operations and applications.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80160"/>
            <a:ext cx="356616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141731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E5B"/>
                </a:solidFill>
                <a:latin typeface="Aptos"/>
              </a:rPr>
              <a:t>Module 3
Advanced Linear Data 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8681" y="2323052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034"/>
                </a:solidFill>
                <a:latin typeface="Aptos"/>
              </a:rPr>
              <a:t>Circular queues, multiple stacks and linked lists.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11879"/>
            <a:ext cx="356616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490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Module 4
Hierarchical Data Structures – Trees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008" y="4709159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034"/>
                </a:solidFill>
                <a:latin typeface="Aptos"/>
              </a:rPr>
              <a:t>Binary trees and BSTs for hierarchical representation and searching.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11879"/>
            <a:ext cx="356616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37490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Module 5
Non-Linear Data Structures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8056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034"/>
                </a:solidFill>
                <a:latin typeface="Aptos"/>
              </a:rPr>
              <a:t>Graphs, hashing and priority queues for organization, retrieval and processing.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Module 1 — Start with the Foundations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6303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38528"/>
            <a:ext cx="3017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Understand what a data structure is, why it is needed, and how data is organized in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46303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Hands-on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38528"/>
            <a:ext cx="3017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Pointers and coding exercises strengthen understanding of memory and data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38328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3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E5B"/>
                </a:solidFill>
                <a:latin typeface="Aptos"/>
              </a:rPr>
              <a:t>Problem Solving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38528"/>
            <a:ext cx="3017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Programming assignments through platforms such as LeetCode / HackerRank.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B2B3D"/>
                </a:solidFill>
                <a:latin typeface="Aptos"/>
              </a:rPr>
              <a:t>Course-file ICT: GCC / VS Code / Online C compiler / PPT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Modules 2 &amp; 3 — Linear Data Structures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57800" cy="379476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63039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Module 2: Stacks &amp; Queues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38528"/>
            <a:ext cx="4892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Learn stack and queue concepts and operations.
Focus: LIFO vs FIFO, implementation and programming applications.
Experiential learning: hands-on coding exercises on linear data structures.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257800" cy="379476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63039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Module 3: Advanced Linear 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38528"/>
            <a:ext cx="4892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Explore circular queues, multiple stacks and linked lists for dynamic storage and manipulation.
Experiential learning: coding exercises on advanced linear data structures.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Modules 4 &amp; 5 — Trees and Non-Linear Structures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57800" cy="3794760"/>
          </a:xfrm>
          <a:prstGeom prst="roundRect">
            <a:avLst/>
          </a:prstGeom>
          <a:solidFill>
            <a:srgbClr val="F4F7FA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63039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E5B"/>
                </a:solidFill>
                <a:latin typeface="Aptos"/>
              </a:rPr>
              <a:t>Module 4: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38528"/>
            <a:ext cx="48920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Binary trees and binary search trees.
Goal: efficient hierarchical representation and searching.
Application: implementation of data structures and their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257800" cy="379476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63039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Module 5: Graphs, Hashing &amp; Priority Queues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38528"/>
            <a:ext cx="4892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Understand non-linear organization, retrieval and processing.
Course emphasis includes hashing and leftist trees.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How You Are Expected to Learn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333756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39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67128"/>
            <a:ext cx="2971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Participative Learning
Classroom teaching +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554480"/>
            <a:ext cx="333756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691639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67128"/>
            <a:ext cx="2971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Experiential Learning
Hands-on coding exercises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554480"/>
            <a:ext cx="333756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39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E5B"/>
                </a:solidFill>
                <a:latin typeface="Aptos"/>
              </a:rP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167128"/>
            <a:ext cx="2971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Problem-Solving Learning
Programming assignments /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2B3D"/>
                </a:solidFill>
                <a:latin typeface="Aptos"/>
              </a:rPr>
              <a:t>The course file applies this 60–30–10 model across Modules 1–5.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ICT Integration: Use Technology as a Learning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255" y="1325880"/>
            <a:ext cx="11595538" cy="3330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rPr sz="2000" dirty="0"/>
              <a:t>• </a:t>
            </a:r>
            <a:r>
              <a:rPr lang="en-IN" sz="2000" dirty="0"/>
              <a:t>Dev C++</a:t>
            </a:r>
            <a:r>
              <a:rPr sz="2000" dirty="0"/>
              <a:t> / VS Code / Online C Compiler — implement, compile, debug and test C programs.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rPr sz="2000" dirty="0"/>
              <a:t>• Virtual Labs — visualize and reinforce data structure concepts where applicable.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rPr sz="2000" dirty="0"/>
              <a:t>• PPT — conceptual explanation and guided classroom interaction.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rPr sz="2000" dirty="0"/>
              <a:t>• </a:t>
            </a:r>
            <a:r>
              <a:rPr sz="2000" dirty="0" err="1"/>
              <a:t>LeetCode</a:t>
            </a:r>
            <a:r>
              <a:rPr sz="2000" dirty="0"/>
              <a:t> / </a:t>
            </a:r>
            <a:r>
              <a:rPr sz="2000" dirty="0" err="1"/>
              <a:t>HackerRank</a:t>
            </a:r>
            <a:r>
              <a:rPr sz="2000" dirty="0"/>
              <a:t> — problem-solving practice and application of concepts.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rPr sz="2000" dirty="0"/>
              <a:t>• Springboard certification on Data Structures and Algorithms (18 hours) is identified as a self-learning activity.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Learning Beyond the Prescribed Syllabus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5780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63039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Additional Topics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38528"/>
            <a:ext cx="4892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Pointers and Functions
Common Pointer Mistakes
Recursive Programming Techniques
Memory Organization &amp; Dynamic Memory Management in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25780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63039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Advanced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38528"/>
            <a:ext cx="4892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Red-Black Trees
Quadratic Hashing
Radix Sort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97078"/>
                </a:solidFill>
                <a:latin typeface="Aptos"/>
              </a:rPr>
              <a:t>Treat these as opportunities to connect the prescribed concepts with broader problem-solving techniques.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Assessment Pattern — CIE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578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63039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CIE: 50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8" y="1938528"/>
            <a:ext cx="50749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034"/>
                </a:solidFill>
                <a:latin typeface="Aptos"/>
              </a:rPr>
              <a:t>Continuous Comprehensive Assessment (CCA): 25
+
Internal Assessment Test (IA): 25
=
50 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2578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63039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IA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38528"/>
            <a:ext cx="4892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034"/>
                </a:solidFill>
                <a:latin typeface="Aptos"/>
              </a:rPr>
              <a:t>Minimum of two Internal Assessment Tests are conducted during the semester.
The total IA performance contributes 25 marks towards CIE.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2EB15D-3695-37F6-D5D9-A00DB9FFA824}"/>
              </a:ext>
            </a:extLst>
          </p:cNvPr>
          <p:cNvSpPr/>
          <p:nvPr/>
        </p:nvSpPr>
        <p:spPr>
          <a:xfrm>
            <a:off x="501320" y="189000"/>
            <a:ext cx="8492872" cy="5189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150000"/>
              </a:lnSpc>
            </a:pPr>
            <a:r>
              <a:rPr lang="en-US" sz="2200" b="1" dirty="0">
                <a:cs typeface="Times New Roman" panose="02020603050405020304" pitchFamily="18" charset="0"/>
              </a:rPr>
              <a:t>Assessment Pattern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Continuous Internal Evaluation (CIE) </a:t>
            </a:r>
          </a:p>
          <a:p>
            <a:pPr algn="just"/>
            <a:r>
              <a:rPr lang="en-US" dirty="0"/>
              <a:t>Continuous Comprehensive Assessment (CCA) + Internal Assessment Test (IA)</a:t>
            </a:r>
            <a:br>
              <a:rPr lang="en-US" dirty="0"/>
            </a:br>
            <a:r>
              <a:rPr lang="en-US" dirty="0"/>
              <a:t>Total Marks: 50 (CCA: 25 Marks + IA: 25 Marks)</a:t>
            </a:r>
          </a:p>
          <a:p>
            <a:pPr algn="just"/>
            <a:br>
              <a:rPr lang="en-US" dirty="0"/>
            </a:br>
            <a:r>
              <a:rPr lang="en-US" b="1" dirty="0"/>
              <a:t>1. Internal Assessment Test (IA) – 25 Marks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dirty="0"/>
              <a:t>A minimum of </a:t>
            </a:r>
            <a:r>
              <a:rPr lang="en-US" b="1" dirty="0"/>
              <a:t>two Internal Assessment Tests (IA)</a:t>
            </a:r>
            <a:r>
              <a:rPr lang="en-US" dirty="0"/>
              <a:t> shall be conducted during the semester.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dirty="0"/>
              <a:t>The total marks secured in IA Tests shall contribute </a:t>
            </a:r>
            <a:r>
              <a:rPr lang="en-US" b="1" dirty="0"/>
              <a:t>25 marks</a:t>
            </a:r>
            <a:r>
              <a:rPr lang="en-US" dirty="0"/>
              <a:t> towards CIE.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r>
              <a:rPr lang="en-US" b="1" dirty="0"/>
              <a:t>2. Continuous Comprehensive Assessment (CCA) – 25 Marks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dirty="0"/>
              <a:t>CCA is designed to evaluate students’ </a:t>
            </a:r>
            <a:r>
              <a:rPr lang="en-US" b="1" dirty="0"/>
              <a:t>problem-solving skills, programming ability, and application-oriented learning</a:t>
            </a:r>
            <a:r>
              <a:rPr lang="en-US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dirty="0"/>
              <a:t>A maximum of </a:t>
            </a:r>
            <a:r>
              <a:rPr lang="en-US" b="1" dirty="0"/>
              <a:t>two learning activities</a:t>
            </a:r>
            <a:r>
              <a:rPr lang="en-US" dirty="0"/>
              <a:t> are recommended to promote students’ holistic development.</a:t>
            </a:r>
          </a:p>
          <a:p>
            <a:pPr lvl="0" algn="just" fontAlgn="base">
              <a:lnSpc>
                <a:spcPct val="150000"/>
              </a:lnSpc>
            </a:pPr>
            <a:r>
              <a:rPr lang="en-US" b="1" dirty="0">
                <a:cs typeface="Times New Roman" panose="02020603050405020304" pitchFamily="18" charset="0"/>
              </a:rPr>
              <a:t>				 </a:t>
            </a:r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261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Continuous Comprehensive Assessment — 25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520440" cy="3749039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1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10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92807"/>
            <a:ext cx="3154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Problem Solving: Competitive Programming Assignments
Platforms identified: HackerRank, HackerEarth and LeetCode.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520440" cy="3749039"/>
          </a:xfrm>
          <a:prstGeom prst="roundRect">
            <a:avLst/>
          </a:prstGeom>
          <a:solidFill>
            <a:srgbClr val="F4F7FA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41731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E5B"/>
                </a:solidFill>
                <a:latin typeface="Aptos"/>
              </a:rPr>
              <a:t>5 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92807"/>
            <a:ext cx="3154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Self-Learning Activity
Springboard certification:
Data Structures and Algorithms
18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80160"/>
            <a:ext cx="3520440" cy="3749039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19" y="141731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10 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892807"/>
            <a:ext cx="31546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Data Structure Application-Based Problems
Stacks, trees, traversals, threaded binary trees, BSTs, graphs, graph traversals, hashing and leftist trees.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8F13-8DDB-EBD6-2DB7-2D2B725DF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1049D9-7216-9272-16AD-07E023609839}"/>
              </a:ext>
            </a:extLst>
          </p:cNvPr>
          <p:cNvSpPr txBox="1"/>
          <p:nvPr/>
        </p:nvSpPr>
        <p:spPr>
          <a:xfrm>
            <a:off x="594360" y="29260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solidFill>
                  <a:srgbClr val="1B2B3D"/>
                </a:solidFill>
                <a:latin typeface="Aptos"/>
              </a:rPr>
              <a:t>DSA Learning ICT Tools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0E2443-9EE7-AC51-77BF-55F6B6445E18}"/>
              </a:ext>
            </a:extLst>
          </p:cNvPr>
          <p:cNvSpPr/>
          <p:nvPr/>
        </p:nvSpPr>
        <p:spPr>
          <a:xfrm>
            <a:off x="594360" y="1280161"/>
            <a:ext cx="10141958" cy="1794116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EADCF-A948-5CA2-0C23-095120693FD6}"/>
              </a:ext>
            </a:extLst>
          </p:cNvPr>
          <p:cNvSpPr txBox="1"/>
          <p:nvPr/>
        </p:nvSpPr>
        <p:spPr>
          <a:xfrm>
            <a:off x="777240" y="141731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solidFill>
                  <a:srgbClr val="2769AA"/>
                </a:solidFill>
                <a:latin typeface="Aptos"/>
              </a:rPr>
              <a:t>Links to access</a:t>
            </a:r>
            <a:endParaRPr sz="1800" b="1" dirty="0">
              <a:solidFill>
                <a:srgbClr val="2769AA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17B0D-0E2A-9D6C-B0EA-12B4B32F78FD}"/>
              </a:ext>
            </a:extLst>
          </p:cNvPr>
          <p:cNvSpPr txBox="1"/>
          <p:nvPr/>
        </p:nvSpPr>
        <p:spPr>
          <a:xfrm>
            <a:off x="777240" y="1892807"/>
            <a:ext cx="6727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eriod"/>
            </a:pPr>
            <a:r>
              <a:rPr lang="en-IN" b="0" dirty="0">
                <a:solidFill>
                  <a:srgbClr val="2D3034"/>
                </a:solidFill>
                <a:latin typeface="Aptos"/>
                <a:hlinkClick r:id="rId2"/>
              </a:rPr>
              <a:t>https://visualgo.net/en</a:t>
            </a:r>
            <a:endParaRPr lang="en-IN" b="0" dirty="0">
              <a:solidFill>
                <a:srgbClr val="2D3034"/>
              </a:solidFill>
              <a:latin typeface="Aptos"/>
            </a:endParaRPr>
          </a:p>
          <a:p>
            <a:pPr marL="342900" indent="-342900" algn="l">
              <a:buAutoNum type="arabicPeriod"/>
            </a:pPr>
            <a:r>
              <a:rPr lang="en-IN" b="0" dirty="0">
                <a:solidFill>
                  <a:srgbClr val="2D3034"/>
                </a:solidFill>
                <a:latin typeface="Aptos"/>
                <a:hlinkClick r:id="rId3"/>
              </a:rPr>
              <a:t>https://dsa-visualizer-delta.vercel.app/visualizer</a:t>
            </a:r>
            <a:endParaRPr lang="en-IN" b="0" dirty="0">
              <a:solidFill>
                <a:srgbClr val="2D3034"/>
              </a:solidFill>
              <a:latin typeface="Aptos"/>
            </a:endParaRPr>
          </a:p>
          <a:p>
            <a:pPr marL="342900" indent="-342900" algn="l">
              <a:buAutoNum type="arabicPeriod"/>
            </a:pPr>
            <a:r>
              <a:rPr lang="en-IN" b="0" dirty="0">
                <a:solidFill>
                  <a:srgbClr val="2D3034"/>
                </a:solidFill>
                <a:latin typeface="Aptos"/>
                <a:hlinkClick r:id="rId4"/>
              </a:rPr>
              <a:t>https://datastructuresvisualization.netlify.app</a:t>
            </a:r>
            <a:endParaRPr lang="en-IN" b="0" dirty="0">
              <a:solidFill>
                <a:srgbClr val="2D3034"/>
              </a:solidFill>
              <a:latin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FB0420-2FF7-464E-836E-9E6A451A8249}"/>
              </a:ext>
            </a:extLst>
          </p:cNvPr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59E0FB-06D4-4CC4-7FA5-BC1C79D67927}"/>
              </a:ext>
            </a:extLst>
          </p:cNvPr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14</a:t>
            </a:r>
          </a:p>
        </p:txBody>
      </p:sp>
    </p:spTree>
    <p:extLst>
      <p:ext uri="{BB962C8B-B14F-4D97-AF65-F5344CB8AC3E}">
        <p14:creationId xmlns:p14="http://schemas.microsoft.com/office/powerpoint/2010/main" val="2535285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What Skills Are Being Developed?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• Engineering knowledge and problem analysis through algorithmic reasoning.</a:t>
            </a:r>
          </a:p>
          <a:p>
            <a:pPr>
              <a:spcAft>
                <a:spcPts val="10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• Design and development of solutions using suitable data structures.</a:t>
            </a:r>
          </a:p>
          <a:p>
            <a:pPr>
              <a:spcAft>
                <a:spcPts val="10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• Investigation through testing and comparison of implementations.</a:t>
            </a:r>
          </a:p>
          <a:p>
            <a:pPr>
              <a:spcAft>
                <a:spcPts val="10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• Modern tool usage through compilers, IDEs, online judges and virtual labs.</a:t>
            </a:r>
          </a:p>
          <a:p>
            <a:pPr>
              <a:spcAft>
                <a:spcPts val="1000"/>
              </a:spcAft>
              <a:defRPr sz="1900">
                <a:solidFill>
                  <a:srgbClr val="2D3034"/>
                </a:solidFill>
                <a:latin typeface="Aptos"/>
              </a:defRPr>
            </a:pPr>
            <a:r>
              <a:t>• Communication, teamwork and life-long learning through application tasks and self-learning.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Course Target &amp; Continuous Improvement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93776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Department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Previous result: 95% (2024–25)
Target for current year: 98%
The course file also defines CO-level target marks and attainment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493776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E5B"/>
                </a:solidFill>
                <a:latin typeface="Aptos"/>
              </a:rPr>
              <a:t>Your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2996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D3034"/>
                </a:solidFill>
                <a:latin typeface="Aptos"/>
              </a:rPr>
              <a:t>Attend, practise, attempt problems, analyse mistakes, use feedback and progressively improve your implementation and problem-solving skills.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My Expectations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t>• Understand the concept before memorizing the program.</a:t>
            </a:r>
          </a:p>
          <a:p>
            <a:pPr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t>• Write code, execute it and observe what actually happens.</a:t>
            </a:r>
          </a:p>
          <a:p>
            <a:pPr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t>• Ask “why this data structure?” before asking “what is the code?”</a:t>
            </a:r>
          </a:p>
          <a:p>
            <a:pPr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t>• Practise small problems regularly rather than waiting for examinations.</a:t>
            </a:r>
          </a:p>
          <a:p>
            <a:pPr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t>• Use coding platforms to develop problem-solving speed and accuracy.</a:t>
            </a:r>
          </a:p>
          <a:p>
            <a:pPr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t>• Learn from errors: compilation error → logic error → test-case failure → improvement.</a:t>
            </a:r>
          </a:p>
          <a:p>
            <a:pPr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t>• Be able to explain your algorithm and implementation in your own words.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Zero-Session Activity: Think Like a Data-Structure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B3D"/>
                </a:solidFill>
                <a:latin typeface="Aptos"/>
              </a:rPr>
              <a:t>For each situation, choose a suitable data structure and justify your choice.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2900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011679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Browser Back 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8716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034"/>
                </a:solidFill>
                <a:latin typeface="Aptos"/>
              </a:rPr>
              <a:t>Which structure? Why?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42900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011679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Printer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8716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034"/>
                </a:solidFill>
                <a:latin typeface="Aptos"/>
              </a:rPr>
              <a:t>Which structure? Why?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74519"/>
            <a:ext cx="342900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79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E5B"/>
                </a:solidFill>
                <a:latin typeface="Aptos"/>
              </a:rPr>
              <a:t>Student Roll-Number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83110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D3034"/>
                </a:solidFill>
                <a:latin typeface="Aptos"/>
              </a:rPr>
              <a:t>Which structure/strategy? Why?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79"/>
            <a:ext cx="342900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2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977639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69AA"/>
                </a:solidFill>
                <a:latin typeface="Aptos"/>
              </a:rPr>
              <a:t>Road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453127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034"/>
                </a:solidFill>
                <a:latin typeface="Aptos"/>
              </a:rPr>
              <a:t>Which structure? Why?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79"/>
            <a:ext cx="342900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2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977639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430"/>
                </a:solidFill>
                <a:latin typeface="Aptos"/>
              </a:rPr>
              <a:t>Emergency / Priority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69609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034"/>
                </a:solidFill>
                <a:latin typeface="Aptos"/>
              </a:rPr>
              <a:t>Which structure? Why?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28430"/>
                </a:solidFill>
                <a:latin typeface="Aptos"/>
              </a:rPr>
              <a:t>No single data structure is best for every problem.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B3D"/>
                </a:solidFill>
                <a:latin typeface="Aptos"/>
              </a:rPr>
              <a:t>Your Study Strategy for the Semester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186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rPr dirty="0"/>
              <a:t>• Step 1 — Build fundamentals: data organization, memory, pointers and basic operations.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rPr dirty="0"/>
              <a:t>• Step 2 — Master linear structures: stack, queue, circular queue and linked lists.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rPr dirty="0"/>
              <a:t>• Step 3 — Move to hierarchical structures: binary trees and BSTs.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rPr dirty="0"/>
              <a:t>• Step 4 — Connect structures to applications: graphs, traversals, hashing and priority queues.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rPr dirty="0"/>
              <a:t>• Step 5 — Extend your knowledge with the augmented syllabus and competitive programming.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>
                <a:solidFill>
                  <a:srgbClr val="2D3034"/>
                </a:solidFill>
                <a:latin typeface="Aptos"/>
              </a:defRPr>
            </a:pPr>
            <a:r>
              <a:rPr dirty="0"/>
              <a:t>• Step 6 — Use assessments and feedback to identify weak concepts and improve.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191695" cy="0"/>
          </a:xfrm>
          <a:prstGeom prst="rect">
            <a:avLst/>
          </a:prstGeom>
          <a:solidFill>
            <a:srgbClr val="1B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92824"/>
            <a:ext cx="11155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Data Structure and Applications | 1BCS305 | 2026–27 |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1706</Words>
  <Application>Microsoft Office PowerPoint</Application>
  <PresentationFormat>Widescreen</PresentationFormat>
  <Paragraphs>180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</cp:lastModifiedBy>
  <cp:revision>23</cp:revision>
  <dcterms:created xsi:type="dcterms:W3CDTF">2013-01-27T09:14:16Z</dcterms:created>
  <dcterms:modified xsi:type="dcterms:W3CDTF">2026-09-08T09:45:16Z</dcterms:modified>
  <cp:category/>
</cp:coreProperties>
</file>