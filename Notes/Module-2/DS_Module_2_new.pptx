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96" r:id="rId2"/>
    <p:sldMasterId id="2147483684" r:id="rId3"/>
    <p:sldMasterId id="2147483661" r:id="rId4"/>
    <p:sldMasterId id="2147483672" r:id="rId5"/>
  </p:sldMasterIdLst>
  <p:notesMasterIdLst>
    <p:notesMasterId r:id="rId112"/>
  </p:notesMasterIdLst>
  <p:sldIdLst>
    <p:sldId id="256" r:id="rId6"/>
    <p:sldId id="265"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461" r:id="rId39"/>
    <p:sldId id="376" r:id="rId40"/>
    <p:sldId id="377" r:id="rId41"/>
    <p:sldId id="378" r:id="rId42"/>
    <p:sldId id="379" r:id="rId43"/>
    <p:sldId id="380" r:id="rId44"/>
    <p:sldId id="381" r:id="rId45"/>
    <p:sldId id="382" r:id="rId46"/>
    <p:sldId id="383" r:id="rId47"/>
    <p:sldId id="385" r:id="rId48"/>
    <p:sldId id="384" r:id="rId49"/>
    <p:sldId id="386" r:id="rId50"/>
    <p:sldId id="387" r:id="rId51"/>
    <p:sldId id="388" r:id="rId52"/>
    <p:sldId id="389" r:id="rId53"/>
    <p:sldId id="390" r:id="rId54"/>
    <p:sldId id="391" r:id="rId55"/>
    <p:sldId id="392" r:id="rId56"/>
    <p:sldId id="393" r:id="rId57"/>
    <p:sldId id="394" r:id="rId58"/>
    <p:sldId id="395" r:id="rId59"/>
    <p:sldId id="396" r:id="rId60"/>
    <p:sldId id="397" r:id="rId61"/>
    <p:sldId id="398" r:id="rId62"/>
    <p:sldId id="399" r:id="rId63"/>
    <p:sldId id="400" r:id="rId64"/>
    <p:sldId id="401" r:id="rId65"/>
    <p:sldId id="402" r:id="rId66"/>
    <p:sldId id="403" r:id="rId67"/>
    <p:sldId id="404" r:id="rId68"/>
    <p:sldId id="419" r:id="rId69"/>
    <p:sldId id="420" r:id="rId70"/>
    <p:sldId id="421" r:id="rId71"/>
    <p:sldId id="422" r:id="rId72"/>
    <p:sldId id="423" r:id="rId73"/>
    <p:sldId id="424" r:id="rId74"/>
    <p:sldId id="425" r:id="rId75"/>
    <p:sldId id="426" r:id="rId76"/>
    <p:sldId id="427" r:id="rId77"/>
    <p:sldId id="428" r:id="rId78"/>
    <p:sldId id="429" r:id="rId79"/>
    <p:sldId id="430" r:id="rId80"/>
    <p:sldId id="431" r:id="rId81"/>
    <p:sldId id="432" r:id="rId82"/>
    <p:sldId id="433" r:id="rId83"/>
    <p:sldId id="434" r:id="rId84"/>
    <p:sldId id="435" r:id="rId85"/>
    <p:sldId id="436" r:id="rId86"/>
    <p:sldId id="437" r:id="rId87"/>
    <p:sldId id="438" r:id="rId88"/>
    <p:sldId id="439" r:id="rId89"/>
    <p:sldId id="440" r:id="rId90"/>
    <p:sldId id="441" r:id="rId91"/>
    <p:sldId id="442" r:id="rId92"/>
    <p:sldId id="443" r:id="rId93"/>
    <p:sldId id="444" r:id="rId94"/>
    <p:sldId id="445" r:id="rId95"/>
    <p:sldId id="446" r:id="rId96"/>
    <p:sldId id="447" r:id="rId97"/>
    <p:sldId id="448" r:id="rId98"/>
    <p:sldId id="449" r:id="rId99"/>
    <p:sldId id="450" r:id="rId100"/>
    <p:sldId id="451" r:id="rId101"/>
    <p:sldId id="452" r:id="rId102"/>
    <p:sldId id="453" r:id="rId103"/>
    <p:sldId id="454" r:id="rId104"/>
    <p:sldId id="455" r:id="rId105"/>
    <p:sldId id="456" r:id="rId106"/>
    <p:sldId id="457" r:id="rId107"/>
    <p:sldId id="458" r:id="rId108"/>
    <p:sldId id="459" r:id="rId109"/>
    <p:sldId id="460" r:id="rId110"/>
    <p:sldId id="264" r:id="rId111"/>
  </p:sldIdLst>
  <p:sldSz cx="12192000" cy="6858000"/>
  <p:notesSz cx="6858000" cy="9144000"/>
  <p:embeddedFontLst>
    <p:embeddedFont>
      <p:font typeface="Poppins" panose="00000500000000000000" pitchFamily="2" charset="0"/>
      <p:regular r:id="rId113"/>
      <p:bold r:id="rId114"/>
      <p:italic r:id="rId115"/>
      <p:boldItalic r:id="rId1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49">
          <p15:clr>
            <a:srgbClr val="A4A3A4"/>
          </p15:clr>
        </p15:guide>
        <p15:guide id="2" pos="232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7" roundtripDataSignature="AMtx7mj2tfnw/z739FrauExb7XE+xxQB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996" y="66"/>
      </p:cViewPr>
      <p:guideLst>
        <p:guide orient="horz" pos="1049"/>
        <p:guide pos="23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notesMaster" Target="notesMasters/notesMaster1.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181" Type="http://schemas.openxmlformats.org/officeDocument/2006/relationships/tableStyles" Target="tableStyle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font" Target="fonts/font1.fntdata"/><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font" Target="fonts/font2.fntdata"/><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77"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4.xml"/><Relationship Id="rId180" Type="http://schemas.openxmlformats.org/officeDocument/2006/relationships/theme" Target="theme/theme1.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font" Target="fonts/font3.fntdata"/><Relationship Id="rId178"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font" Target="fonts/font4.fntdata"/><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79" Type="http://schemas.openxmlformats.org/officeDocument/2006/relationships/viewProps" Target="viewProps.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L="914400" marR="0" lvl="1"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2pPr>
            <a:lvl3pPr marL="1371600" marR="0" lvl="2"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3pPr>
            <a:lvl4pPr marL="1828800" marR="0" lvl="3"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4pPr>
            <a:lvl5pPr marL="2286000" marR="0" lvl="4"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5pPr>
            <a:lvl6pPr marL="2743200" marR="0" lvl="5"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6pPr>
            <a:lvl7pPr marL="3200400" marR="0" lvl="6"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7pPr>
            <a:lvl8pPr marL="3657600" marR="0" lvl="7"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8pPr>
            <a:lvl9pPr marL="4114800" marR="0" lvl="8"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oppins"/>
                <a:ea typeface="Poppins"/>
                <a:cs typeface="Poppins"/>
                <a:sym typeface="Poppins"/>
              </a:rPr>
              <a:t>‹#›</a:t>
            </a:fld>
            <a:endParaRPr sz="1200" b="0" i="0" u="none" strike="noStrike" cap="none">
              <a:solidFill>
                <a:schemeClr val="dk1"/>
              </a:solidFill>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253571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919943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811375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346265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36957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193952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732387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4222209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881773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24019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745878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042046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095297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475854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841258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120906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887658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077636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5590223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4504409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126421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478111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781170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725310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1989028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602394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806059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9554628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9269983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12859467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6707217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929991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45EBF24D-7F67-C477-3511-5E1F61832A9D}"/>
            </a:ext>
          </a:extLst>
        </p:cNvPr>
        <p:cNvGrpSpPr/>
        <p:nvPr/>
      </p:nvGrpSpPr>
      <p:grpSpPr>
        <a:xfrm>
          <a:off x="0" y="0"/>
          <a:ext cx="0" cy="0"/>
          <a:chOff x="0" y="0"/>
          <a:chExt cx="0" cy="0"/>
        </a:xfrm>
      </p:grpSpPr>
      <p:sp>
        <p:nvSpPr>
          <p:cNvPr id="85" name="Google Shape;85;g2eff20282af_0_123:notes">
            <a:extLst>
              <a:ext uri="{FF2B5EF4-FFF2-40B4-BE49-F238E27FC236}">
                <a16:creationId xmlns:a16="http://schemas.microsoft.com/office/drawing/2014/main" id="{782E5E58-A394-B8FC-4726-4DCA50329A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a:extLst>
              <a:ext uri="{FF2B5EF4-FFF2-40B4-BE49-F238E27FC236}">
                <a16:creationId xmlns:a16="http://schemas.microsoft.com/office/drawing/2014/main" id="{B5D95BC3-6208-BB29-6D1A-AC0D6EB2989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a:extLst>
              <a:ext uri="{FF2B5EF4-FFF2-40B4-BE49-F238E27FC236}">
                <a16:creationId xmlns:a16="http://schemas.microsoft.com/office/drawing/2014/main" id="{407EE8BD-CC32-B8C8-09FD-6865E77FCEA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8924570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42590182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38580593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25867764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8100780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9652810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33395322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3391987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22504402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33800821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28280532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28078256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11661337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20712387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40455479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24988706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20519964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33890030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3587145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10535635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23233915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32404886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17412366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41211283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11902616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27427876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9776421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15688877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38983747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23665104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extLst>
      <p:ext uri="{BB962C8B-B14F-4D97-AF65-F5344CB8AC3E}">
        <p14:creationId xmlns:p14="http://schemas.microsoft.com/office/powerpoint/2010/main" val="7273918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6700557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23966937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31077992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14428122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41721217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18193411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15993568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30342021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Tree>
    <p:extLst>
      <p:ext uri="{BB962C8B-B14F-4D97-AF65-F5344CB8AC3E}">
        <p14:creationId xmlns:p14="http://schemas.microsoft.com/office/powerpoint/2010/main" val="18968751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83655249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36555275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3405652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13513772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115341319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58209825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154210196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81</a:t>
            </a:fld>
            <a:endParaRPr/>
          </a:p>
        </p:txBody>
      </p:sp>
    </p:spTree>
    <p:extLst>
      <p:ext uri="{BB962C8B-B14F-4D97-AF65-F5344CB8AC3E}">
        <p14:creationId xmlns:p14="http://schemas.microsoft.com/office/powerpoint/2010/main" val="259618562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82</a:t>
            </a:fld>
            <a:endParaRPr/>
          </a:p>
        </p:txBody>
      </p:sp>
    </p:spTree>
    <p:extLst>
      <p:ext uri="{BB962C8B-B14F-4D97-AF65-F5344CB8AC3E}">
        <p14:creationId xmlns:p14="http://schemas.microsoft.com/office/powerpoint/2010/main" val="106171489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109064560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84</a:t>
            </a:fld>
            <a:endParaRPr/>
          </a:p>
        </p:txBody>
      </p:sp>
    </p:spTree>
    <p:extLst>
      <p:ext uri="{BB962C8B-B14F-4D97-AF65-F5344CB8AC3E}">
        <p14:creationId xmlns:p14="http://schemas.microsoft.com/office/powerpoint/2010/main" val="420709674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85</a:t>
            </a:fld>
            <a:endParaRPr/>
          </a:p>
        </p:txBody>
      </p:sp>
    </p:spTree>
    <p:extLst>
      <p:ext uri="{BB962C8B-B14F-4D97-AF65-F5344CB8AC3E}">
        <p14:creationId xmlns:p14="http://schemas.microsoft.com/office/powerpoint/2010/main" val="25098685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86</a:t>
            </a:fld>
            <a:endParaRPr/>
          </a:p>
        </p:txBody>
      </p:sp>
    </p:spTree>
    <p:extLst>
      <p:ext uri="{BB962C8B-B14F-4D97-AF65-F5344CB8AC3E}">
        <p14:creationId xmlns:p14="http://schemas.microsoft.com/office/powerpoint/2010/main" val="13140295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87</a:t>
            </a:fld>
            <a:endParaRPr/>
          </a:p>
        </p:txBody>
      </p:sp>
    </p:spTree>
    <p:extLst>
      <p:ext uri="{BB962C8B-B14F-4D97-AF65-F5344CB8AC3E}">
        <p14:creationId xmlns:p14="http://schemas.microsoft.com/office/powerpoint/2010/main" val="69548724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88</a:t>
            </a:fld>
            <a:endParaRPr/>
          </a:p>
        </p:txBody>
      </p:sp>
    </p:spTree>
    <p:extLst>
      <p:ext uri="{BB962C8B-B14F-4D97-AF65-F5344CB8AC3E}">
        <p14:creationId xmlns:p14="http://schemas.microsoft.com/office/powerpoint/2010/main" val="33433658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89</a:t>
            </a:fld>
            <a:endParaRPr/>
          </a:p>
        </p:txBody>
      </p:sp>
    </p:spTree>
    <p:extLst>
      <p:ext uri="{BB962C8B-B14F-4D97-AF65-F5344CB8AC3E}">
        <p14:creationId xmlns:p14="http://schemas.microsoft.com/office/powerpoint/2010/main" val="419844339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90</a:t>
            </a:fld>
            <a:endParaRPr/>
          </a:p>
        </p:txBody>
      </p:sp>
    </p:spTree>
    <p:extLst>
      <p:ext uri="{BB962C8B-B14F-4D97-AF65-F5344CB8AC3E}">
        <p14:creationId xmlns:p14="http://schemas.microsoft.com/office/powerpoint/2010/main" val="243982612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91</a:t>
            </a:fld>
            <a:endParaRPr/>
          </a:p>
        </p:txBody>
      </p:sp>
    </p:spTree>
    <p:extLst>
      <p:ext uri="{BB962C8B-B14F-4D97-AF65-F5344CB8AC3E}">
        <p14:creationId xmlns:p14="http://schemas.microsoft.com/office/powerpoint/2010/main" val="4844732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92</a:t>
            </a:fld>
            <a:endParaRPr/>
          </a:p>
        </p:txBody>
      </p:sp>
    </p:spTree>
    <p:extLst>
      <p:ext uri="{BB962C8B-B14F-4D97-AF65-F5344CB8AC3E}">
        <p14:creationId xmlns:p14="http://schemas.microsoft.com/office/powerpoint/2010/main" val="411364601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93</a:t>
            </a:fld>
            <a:endParaRPr/>
          </a:p>
        </p:txBody>
      </p:sp>
    </p:spTree>
    <p:extLst>
      <p:ext uri="{BB962C8B-B14F-4D97-AF65-F5344CB8AC3E}">
        <p14:creationId xmlns:p14="http://schemas.microsoft.com/office/powerpoint/2010/main" val="30478053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94</a:t>
            </a:fld>
            <a:endParaRPr/>
          </a:p>
        </p:txBody>
      </p:sp>
    </p:spTree>
    <p:extLst>
      <p:ext uri="{BB962C8B-B14F-4D97-AF65-F5344CB8AC3E}">
        <p14:creationId xmlns:p14="http://schemas.microsoft.com/office/powerpoint/2010/main" val="31753502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95</a:t>
            </a:fld>
            <a:endParaRPr/>
          </a:p>
        </p:txBody>
      </p:sp>
    </p:spTree>
    <p:extLst>
      <p:ext uri="{BB962C8B-B14F-4D97-AF65-F5344CB8AC3E}">
        <p14:creationId xmlns:p14="http://schemas.microsoft.com/office/powerpoint/2010/main" val="42522215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96</a:t>
            </a:fld>
            <a:endParaRPr/>
          </a:p>
        </p:txBody>
      </p:sp>
    </p:spTree>
    <p:extLst>
      <p:ext uri="{BB962C8B-B14F-4D97-AF65-F5344CB8AC3E}">
        <p14:creationId xmlns:p14="http://schemas.microsoft.com/office/powerpoint/2010/main" val="325585747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97</a:t>
            </a:fld>
            <a:endParaRPr/>
          </a:p>
        </p:txBody>
      </p:sp>
    </p:spTree>
    <p:extLst>
      <p:ext uri="{BB962C8B-B14F-4D97-AF65-F5344CB8AC3E}">
        <p14:creationId xmlns:p14="http://schemas.microsoft.com/office/powerpoint/2010/main" val="193038474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98</a:t>
            </a:fld>
            <a:endParaRPr/>
          </a:p>
        </p:txBody>
      </p:sp>
    </p:spTree>
    <p:extLst>
      <p:ext uri="{BB962C8B-B14F-4D97-AF65-F5344CB8AC3E}">
        <p14:creationId xmlns:p14="http://schemas.microsoft.com/office/powerpoint/2010/main" val="225369322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99</a:t>
            </a:fld>
            <a:endParaRPr/>
          </a:p>
        </p:txBody>
      </p:sp>
    </p:spTree>
    <p:extLst>
      <p:ext uri="{BB962C8B-B14F-4D97-AF65-F5344CB8AC3E}">
        <p14:creationId xmlns:p14="http://schemas.microsoft.com/office/powerpoint/2010/main" val="38154394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100</a:t>
            </a:fld>
            <a:endParaRPr/>
          </a:p>
        </p:txBody>
      </p:sp>
    </p:spTree>
    <p:extLst>
      <p:ext uri="{BB962C8B-B14F-4D97-AF65-F5344CB8AC3E}">
        <p14:creationId xmlns:p14="http://schemas.microsoft.com/office/powerpoint/2010/main" val="41663649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101</a:t>
            </a:fld>
            <a:endParaRPr/>
          </a:p>
        </p:txBody>
      </p:sp>
    </p:spTree>
    <p:extLst>
      <p:ext uri="{BB962C8B-B14F-4D97-AF65-F5344CB8AC3E}">
        <p14:creationId xmlns:p14="http://schemas.microsoft.com/office/powerpoint/2010/main" val="161515166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102</a:t>
            </a:fld>
            <a:endParaRPr/>
          </a:p>
        </p:txBody>
      </p:sp>
    </p:spTree>
    <p:extLst>
      <p:ext uri="{BB962C8B-B14F-4D97-AF65-F5344CB8AC3E}">
        <p14:creationId xmlns:p14="http://schemas.microsoft.com/office/powerpoint/2010/main" val="378031598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103</a:t>
            </a:fld>
            <a:endParaRPr/>
          </a:p>
        </p:txBody>
      </p:sp>
    </p:spTree>
    <p:extLst>
      <p:ext uri="{BB962C8B-B14F-4D97-AF65-F5344CB8AC3E}">
        <p14:creationId xmlns:p14="http://schemas.microsoft.com/office/powerpoint/2010/main" val="181450278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104</a:t>
            </a:fld>
            <a:endParaRPr/>
          </a:p>
        </p:txBody>
      </p:sp>
    </p:spTree>
    <p:extLst>
      <p:ext uri="{BB962C8B-B14F-4D97-AF65-F5344CB8AC3E}">
        <p14:creationId xmlns:p14="http://schemas.microsoft.com/office/powerpoint/2010/main" val="187287824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105</a:t>
            </a:fld>
            <a:endParaRPr/>
          </a:p>
        </p:txBody>
      </p:sp>
    </p:spTree>
    <p:extLst>
      <p:ext uri="{BB962C8B-B14F-4D97-AF65-F5344CB8AC3E}">
        <p14:creationId xmlns:p14="http://schemas.microsoft.com/office/powerpoint/2010/main" val="246934318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eff20282af_0_1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2eff20282af_0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E32FA-F928-3B61-EF7C-9C9D775AC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671296-9A0F-EB64-35D9-30EFACACFB7D}"/>
              </a:ext>
            </a:extLst>
          </p:cNvPr>
          <p:cNvSpPr>
            <a:spLocks noGrp="1"/>
          </p:cNvSpPr>
          <p:nvPr>
            <p:ph type="dt" idx="10"/>
          </p:nvPr>
        </p:nvSpPr>
        <p:spPr/>
        <p:txBody>
          <a:bodyPr/>
          <a:lstStyle/>
          <a:p>
            <a:endParaRPr lang="en-US"/>
          </a:p>
        </p:txBody>
      </p:sp>
      <p:sp>
        <p:nvSpPr>
          <p:cNvPr id="4" name="Footer Placeholder 3">
            <a:extLst>
              <a:ext uri="{FF2B5EF4-FFF2-40B4-BE49-F238E27FC236}">
                <a16:creationId xmlns:a16="http://schemas.microsoft.com/office/drawing/2014/main" id="{91EC2877-B2D0-9884-04BF-168464A0493C}"/>
              </a:ext>
            </a:extLst>
          </p:cNvPr>
          <p:cNvSpPr>
            <a:spLocks noGrp="1"/>
          </p:cNvSpPr>
          <p:nvPr>
            <p:ph type="ftr" idx="11"/>
          </p:nvPr>
        </p:nvSpPr>
        <p:spPr/>
        <p:txBody>
          <a:bodyPr/>
          <a:lstStyle/>
          <a:p>
            <a:endParaRPr lang="en-US"/>
          </a:p>
        </p:txBody>
      </p:sp>
      <p:sp>
        <p:nvSpPr>
          <p:cNvPr id="5" name="Slide Number Placeholder 4">
            <a:extLst>
              <a:ext uri="{FF2B5EF4-FFF2-40B4-BE49-F238E27FC236}">
                <a16:creationId xmlns:a16="http://schemas.microsoft.com/office/drawing/2014/main" id="{EA2FEB19-561A-46DD-4FFE-D82EBCA09A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50652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F440-A790-5E52-3D38-7F70A3768D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558A91-3E96-57A2-24FA-5214699ACE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C11C52-F168-783B-E729-4A9220CAA157}"/>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C90072B1-3421-A5E9-146C-F14BA74628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C547E-9091-ADBB-C5D9-F0DCEE7E9340}"/>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694108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27EA-5D72-A534-62D9-84835A4415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507AD7-B244-88A5-9EA8-7697B6489E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0CFBA5-F186-23C1-9F0A-B20C8A2AC225}"/>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7987732A-E841-7FBE-250B-C61B03DCF4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5AE74E-BD92-F8D0-F9A7-058014139D59}"/>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029973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56536-3E38-2F29-6701-8F00F25EE5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83F81B-2B6A-C294-5AD4-7043733842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BDFD89-C045-FEE0-F16C-E325C51BE61B}"/>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BF2668DE-57EF-72CE-1C65-F187D0F61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86343-E044-3648-2CBB-0BF3FCA7D58C}"/>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6167100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4A4E3-75F6-CB8A-8A45-898C402D8B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1B81A1-4D84-AD9C-5E09-C9C2EB2B17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991DC2-403C-87BD-835B-34A67FC029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48E20E-DDEE-519E-30CC-BEF074CA6C78}"/>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6" name="Footer Placeholder 5">
            <a:extLst>
              <a:ext uri="{FF2B5EF4-FFF2-40B4-BE49-F238E27FC236}">
                <a16:creationId xmlns:a16="http://schemas.microsoft.com/office/drawing/2014/main" id="{ADFC4A9F-DA5E-78D4-4B04-F426723C86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62F751-FEEE-F22F-8486-F7609D05248E}"/>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1238649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B57B-B3F7-C765-5AD8-27804AF57E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98614B-5D2E-91D4-254C-A80ACA2D3C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CD8B52-50C4-64C9-F438-1FC72CBAF0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4F047D-118C-CF6A-DB3C-DA4370A1C5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204070-9FEF-AFCE-52E2-4144EEC594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FD130-35B9-5279-332D-6524C23E8344}"/>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8" name="Footer Placeholder 7">
            <a:extLst>
              <a:ext uri="{FF2B5EF4-FFF2-40B4-BE49-F238E27FC236}">
                <a16:creationId xmlns:a16="http://schemas.microsoft.com/office/drawing/2014/main" id="{62346359-8858-BC53-AEDC-25E841341C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4AF35E-39F4-2888-C173-BF81A38B003D}"/>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429026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99B51-3E47-A2D7-5F63-797482BC81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B342A1-D83F-FD38-87A8-8F3BE01AA739}"/>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4" name="Footer Placeholder 3">
            <a:extLst>
              <a:ext uri="{FF2B5EF4-FFF2-40B4-BE49-F238E27FC236}">
                <a16:creationId xmlns:a16="http://schemas.microsoft.com/office/drawing/2014/main" id="{2FA13253-EA73-7320-B2B6-F9DDABD84B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2B699E-9BBE-B2A0-49B0-8F0A4712AFA9}"/>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81152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E3FDA6-158D-E7AD-9D86-27F1CDF485F2}"/>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3" name="Footer Placeholder 2">
            <a:extLst>
              <a:ext uri="{FF2B5EF4-FFF2-40B4-BE49-F238E27FC236}">
                <a16:creationId xmlns:a16="http://schemas.microsoft.com/office/drawing/2014/main" id="{0C966C46-32A8-26EB-ABEC-ACC7954669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0EB2A7-FE95-BB74-9E41-49EA9E8EAA84}"/>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29404418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8238B-2737-C6E8-83DC-048A6CBA69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D93FF1-8CCB-E484-3D59-5AD1247CB3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F4541E-8C02-82A3-E46D-A32CB4985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987AB-1271-5E00-5764-BF593E79F1CB}"/>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6" name="Footer Placeholder 5">
            <a:extLst>
              <a:ext uri="{FF2B5EF4-FFF2-40B4-BE49-F238E27FC236}">
                <a16:creationId xmlns:a16="http://schemas.microsoft.com/office/drawing/2014/main" id="{EF5809B6-C648-FEB4-9373-456AD2B3D7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F92D04-D25B-AA69-2BA3-379A6FC2241E}"/>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939624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09C83-A9C1-6C93-13F7-62B569676A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113125-5C29-2774-3C5F-4D182407B3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DD6BEB-34E2-6466-B721-02301E698D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804200-92C7-524E-DDCF-D5148FAE41EA}"/>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6" name="Footer Placeholder 5">
            <a:extLst>
              <a:ext uri="{FF2B5EF4-FFF2-40B4-BE49-F238E27FC236}">
                <a16:creationId xmlns:a16="http://schemas.microsoft.com/office/drawing/2014/main" id="{62C9CAC3-E63E-A96B-4FB1-45A864508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BD5B0F-5D3C-FAFD-2546-BA7C5B0D1058}"/>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0232282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E2FD-9A84-15E0-6AEB-C7F7F57EF5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A4BE25-CE94-DEB9-D42D-816E756BE7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35A4CF-8F3B-EF0A-605F-CE901E5E1E35}"/>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7ABF0C20-788B-728B-AB44-232EE87D7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F22FFE-1133-9D77-D2DB-BD68C98A158C}"/>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6051080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A77AFA-8329-2EA5-A7BC-3C9A90DCDC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A4AEAF-DF91-0307-1A7B-B45719294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FD8722-9E5E-F6F4-848F-C7B4BC003CBD}"/>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09197C3E-1EEA-1F05-573A-8DA4314A31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D60163-BEDD-9D40-B09B-3EBB17444F45}"/>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1268114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3592E-BDAD-C455-02FB-D11D0DAFAD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1C529A-B80A-F2F8-BA8A-DE71CD5EF508}"/>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4" name="Footer Placeholder 3">
            <a:extLst>
              <a:ext uri="{FF2B5EF4-FFF2-40B4-BE49-F238E27FC236}">
                <a16:creationId xmlns:a16="http://schemas.microsoft.com/office/drawing/2014/main" id="{3D8B0204-58AC-2C9C-5DB1-D9A607F84C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108000-A867-421A-DAAA-826355C3755F}"/>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95783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694819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E32FA-F928-3B61-EF7C-9C9D775AC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671296-9A0F-EB64-35D9-30EFACACFB7D}"/>
              </a:ext>
            </a:extLst>
          </p:cNvPr>
          <p:cNvSpPr>
            <a:spLocks noGrp="1"/>
          </p:cNvSpPr>
          <p:nvPr>
            <p:ph type="dt" idx="10"/>
          </p:nvPr>
        </p:nvSpPr>
        <p:spPr/>
        <p:txBody>
          <a:bodyPr/>
          <a:lstStyle/>
          <a:p>
            <a:endParaRPr lang="en-US"/>
          </a:p>
        </p:txBody>
      </p:sp>
      <p:sp>
        <p:nvSpPr>
          <p:cNvPr id="4" name="Footer Placeholder 3">
            <a:extLst>
              <a:ext uri="{FF2B5EF4-FFF2-40B4-BE49-F238E27FC236}">
                <a16:creationId xmlns:a16="http://schemas.microsoft.com/office/drawing/2014/main" id="{91EC2877-B2D0-9884-04BF-168464A0493C}"/>
              </a:ext>
            </a:extLst>
          </p:cNvPr>
          <p:cNvSpPr>
            <a:spLocks noGrp="1"/>
          </p:cNvSpPr>
          <p:nvPr>
            <p:ph type="ftr" idx="11"/>
          </p:nvPr>
        </p:nvSpPr>
        <p:spPr/>
        <p:txBody>
          <a:bodyPr/>
          <a:lstStyle/>
          <a:p>
            <a:endParaRPr lang="en-US"/>
          </a:p>
        </p:txBody>
      </p:sp>
      <p:sp>
        <p:nvSpPr>
          <p:cNvPr id="5" name="Slide Number Placeholder 4">
            <a:extLst>
              <a:ext uri="{FF2B5EF4-FFF2-40B4-BE49-F238E27FC236}">
                <a16:creationId xmlns:a16="http://schemas.microsoft.com/office/drawing/2014/main" id="{EA2FEB19-561A-46DD-4FFE-D82EBCA09A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46666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086391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605067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696582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35487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382303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89984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667349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34679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714761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3686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168560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59941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14668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632180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716737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015460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534903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988000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067665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5513B-EF9B-0716-08D8-0EA446B9EA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14E86F-82C6-31F7-67FD-ACD9B6AB2B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412191-1B7A-ECF5-1E4D-10234BF9BE48}"/>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C5895DE4-A923-80D2-00A0-49076135E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88DEE-74C8-DBB0-8066-8335DD9D3FC0}"/>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1359597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D2BED-DBB8-E9B8-37A0-BAA50F4631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D61B6A-AAD4-4204-FA31-361A308D2A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370BC-D09B-1232-6DA5-2F51101F1809}"/>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69A8349A-0FB3-C08D-81BD-8AAAC9798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560025-342E-8453-F829-ED1B79E12C29}"/>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3691558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42157-B572-E624-1997-8371D2563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F5FF4C-CBFB-F00A-0546-796AFDFEA7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FBC9D4-B69D-2B52-93C1-2BB0EE3BA759}"/>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70CA67EF-6323-DE2C-BF44-332E20A99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2EB5A-9D93-46E0-D7D8-014B34149B33}"/>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27447072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79EB-D269-4E80-6125-24451AE378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5C7802-AE20-966C-0B56-38A8FC8409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FA986F-0FA8-A1EF-0244-E24762909C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9C14F5-D24E-4B06-BAB7-2B698BFECDE0}"/>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6" name="Footer Placeholder 5">
            <a:extLst>
              <a:ext uri="{FF2B5EF4-FFF2-40B4-BE49-F238E27FC236}">
                <a16:creationId xmlns:a16="http://schemas.microsoft.com/office/drawing/2014/main" id="{70670A84-F010-0FF2-E4C6-599D5FB32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D17535-1357-130F-28C9-DEBD673DF428}"/>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1359091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F37D6-BC8F-FBA8-B485-2FDA3A1D39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930F82-A65E-D81A-7B66-04396F14B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C6A1D7-F774-19BB-0006-DC9F1959C2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D254DB-4D42-DE9C-0EB7-9210FEBCF6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944A9-1AAC-A220-F3DE-057AC0E7E6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B97D99-4272-475A-7015-CB85182261C5}"/>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8" name="Footer Placeholder 7">
            <a:extLst>
              <a:ext uri="{FF2B5EF4-FFF2-40B4-BE49-F238E27FC236}">
                <a16:creationId xmlns:a16="http://schemas.microsoft.com/office/drawing/2014/main" id="{72A4C391-0550-89CF-0F10-71EF0841A3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7D7ABF-19C0-135E-2AB8-82F67185DF3C}"/>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39504621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5F68-702B-2018-E205-4A852CD3A9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A27514-BEE2-5400-6CDA-786F97F4268B}"/>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4" name="Footer Placeholder 3">
            <a:extLst>
              <a:ext uri="{FF2B5EF4-FFF2-40B4-BE49-F238E27FC236}">
                <a16:creationId xmlns:a16="http://schemas.microsoft.com/office/drawing/2014/main" id="{F818411C-C72E-EBD8-13F9-2FEB551944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CDD70D-B474-8677-AF3E-041AEF07FD33}"/>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31863116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4D1278-2A82-CD56-FBA4-2686BB281406}"/>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3" name="Footer Placeholder 2">
            <a:extLst>
              <a:ext uri="{FF2B5EF4-FFF2-40B4-BE49-F238E27FC236}">
                <a16:creationId xmlns:a16="http://schemas.microsoft.com/office/drawing/2014/main" id="{20E53EF1-FA5F-08CA-41E0-92E719126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536256-A421-33D5-D6C6-2B036B331D59}"/>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6451121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B7B6-7900-0BC0-82A9-C4C902DC8B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127C42-F3FA-68E4-BA9E-9341727F3A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D04977-6E74-EAB6-96E4-A14E2AF05C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2BE56C-9359-D8A9-E4E5-C10B86B6DCEA}"/>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6" name="Footer Placeholder 5">
            <a:extLst>
              <a:ext uri="{FF2B5EF4-FFF2-40B4-BE49-F238E27FC236}">
                <a16:creationId xmlns:a16="http://schemas.microsoft.com/office/drawing/2014/main" id="{2A8F93C9-B873-B4F5-CA5F-DD90A0ED36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589CF1-3BAA-4118-82DF-D37FCEDC1955}"/>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10543713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F6E3-5EEF-42A5-A1BD-10A93BAFD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C61D33-8812-B8F6-5D57-CF7B7EC3FF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4A4FF5-5947-D0F7-B7A4-7ADC72AFB8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15F07B-A054-A485-EE23-7F94B0310508}"/>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6" name="Footer Placeholder 5">
            <a:extLst>
              <a:ext uri="{FF2B5EF4-FFF2-40B4-BE49-F238E27FC236}">
                <a16:creationId xmlns:a16="http://schemas.microsoft.com/office/drawing/2014/main" id="{8BE3A2EC-373F-9654-502C-DE1A18FEE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ADF4F8-B81B-E3B0-296F-37D29FABC1D1}"/>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2466489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64B8-2E97-9175-0C86-2A301D89E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A58E02-DCB1-C6EF-946E-604155728F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471C3-C476-7B6E-E919-6FAB9E5B5419}"/>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A2145D03-2AA0-6160-98DB-B355B1311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D5C76-265A-B3B3-287C-14A531659DBB}"/>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27025089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3D70E3-77B1-2CBD-C00C-5951AD18C8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8FCE4E-9AA8-3B5D-C5F9-9652306A5E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782C89-BDCD-5599-AFC2-C9FA245B278E}"/>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B9C6E435-19FD-0BED-6830-7D041D9B6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049E9-5D9E-5BDC-BC80-10EB0D903FCA}"/>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6881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theme" Target="../theme/theme4.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F4BC95-EA25-2792-CAE1-168DE99266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4E6512-3AD5-E528-952F-E15D701AD9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8EF7703-D6D7-FEB4-3330-EBFC86AC03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3B7F0A2D-ED99-3E24-35C3-8F7F6D5A6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BC45-B38B-D005-E40A-F4760FD8D8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696220-D115-49E9-84B9-64EE2B9D578B}" type="slidenum">
              <a:rPr lang="en-US" smtClean="0"/>
              <a:t>‹#›</a:t>
            </a:fld>
            <a:endParaRPr lang="en-US"/>
          </a:p>
        </p:txBody>
      </p:sp>
    </p:spTree>
    <p:extLst>
      <p:ext uri="{BB962C8B-B14F-4D97-AF65-F5344CB8AC3E}">
        <p14:creationId xmlns:p14="http://schemas.microsoft.com/office/powerpoint/2010/main" val="6339346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72669458"/>
      </p:ext>
    </p:extLst>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62643260"/>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F125C8-2C40-8095-FFAB-E6CBB4B409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F74CC4-EBBA-ED88-BF4A-C70698B17C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59931-D7EE-476A-9465-C2F50B2372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638127C2-B9A9-ABBA-ECF5-01C662C683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1F038B-F94F-22A7-BA26-9159FBA551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7F9FE5-9719-4651-AB69-815E61D611F7}" type="slidenum">
              <a:rPr lang="en-US" smtClean="0"/>
              <a:t>‹#›</a:t>
            </a:fld>
            <a:endParaRPr lang="en-US"/>
          </a:p>
        </p:txBody>
      </p:sp>
    </p:spTree>
    <p:extLst>
      <p:ext uri="{BB962C8B-B14F-4D97-AF65-F5344CB8AC3E}">
        <p14:creationId xmlns:p14="http://schemas.microsoft.com/office/powerpoint/2010/main" val="39503465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oleObject" Target="../embeddings/oleObject1.bin"/></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oleObject" Target="../embeddings/oleObject2.bin"/></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oleObject" Target="../embeddings/oleObject3.bin"/></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oleObject" Target="../embeddings/oleObject5.bin"/><Relationship Id="rId5" Type="http://schemas.openxmlformats.org/officeDocument/2006/relationships/image" Target="../media/image26.png"/><Relationship Id="rId4" Type="http://schemas.openxmlformats.org/officeDocument/2006/relationships/oleObject" Target="../embeddings/oleObject4.bin"/></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oleObject" Target="../embeddings/oleObject6.bin"/></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oleObject" Target="../embeddings/oleObject7.bin"/></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oleObject" Target="../embeddings/oleObject8.bin"/></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oleObject" Target="../embeddings/oleObject9.bin"/></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oleObject" Target="../embeddings/oleObject10.bin"/></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oleObject" Target="../embeddings/oleObject11.bin"/></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oleObject" Target="../embeddings/oleObject12.bin"/></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1.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32659"/>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pic>
        <p:nvPicPr>
          <p:cNvPr id="95" name="Google Shape;95;g2eff20282af_0_123" descr="Image"/>
          <p:cNvPicPr preferRelativeResize="0"/>
          <p:nvPr/>
        </p:nvPicPr>
        <p:blipFill rotWithShape="1">
          <a:blip r:embed="rId4">
            <a:alphaModFix/>
          </a:blip>
          <a:srcRect/>
          <a:stretch/>
        </p:blipFill>
        <p:spPr>
          <a:xfrm>
            <a:off x="5312383" y="632609"/>
            <a:ext cx="3006356" cy="2375991"/>
          </a:xfrm>
          <a:prstGeom prst="rect">
            <a:avLst/>
          </a:prstGeom>
          <a:noFill/>
          <a:ln>
            <a:noFill/>
          </a:ln>
        </p:spPr>
      </p:pic>
      <p:sp>
        <p:nvSpPr>
          <p:cNvPr id="96" name="Google Shape;96;g2eff20282af_0_123"/>
          <p:cNvSpPr txBox="1"/>
          <p:nvPr/>
        </p:nvSpPr>
        <p:spPr>
          <a:xfrm>
            <a:off x="2445475" y="3237200"/>
            <a:ext cx="9050400" cy="969466"/>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US" sz="3400" b="1" dirty="0">
                <a:solidFill>
                  <a:schemeClr val="dk1"/>
                </a:solidFill>
                <a:latin typeface="Times New Roman"/>
                <a:ea typeface="Times New Roman"/>
                <a:cs typeface="Times New Roman"/>
                <a:sym typeface="Times New Roman"/>
              </a:rPr>
              <a:t>Department of AIML -  CSE(DS)</a:t>
            </a:r>
            <a:endParaRPr sz="3400" b="1" dirty="0">
              <a:solidFill>
                <a:schemeClr val="dk1"/>
              </a:solidFill>
              <a:latin typeface="Times New Roman"/>
              <a:ea typeface="Times New Roman"/>
              <a:cs typeface="Times New Roman"/>
              <a:sym typeface="Times New Roman"/>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25;p1">
            <a:extLst>
              <a:ext uri="{FF2B5EF4-FFF2-40B4-BE49-F238E27FC236}">
                <a16:creationId xmlns:a16="http://schemas.microsoft.com/office/drawing/2014/main" id="{865090DB-0FD2-E5A4-5846-A8959053A68A}"/>
              </a:ext>
            </a:extLst>
          </p:cNvPr>
          <p:cNvSpPr txBox="1">
            <a:spLocks/>
          </p:cNvSpPr>
          <p:nvPr/>
        </p:nvSpPr>
        <p:spPr>
          <a:xfrm>
            <a:off x="2541083" y="2630404"/>
            <a:ext cx="9354900" cy="19168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ctr">
              <a:spcBef>
                <a:spcPts val="0"/>
              </a:spcBef>
              <a:buSzPts val="4400"/>
              <a:buFont typeface="Calibri"/>
              <a:buNone/>
            </a:pPr>
            <a:r>
              <a:rPr lang="en-US" sz="4000" dirty="0">
                <a:solidFill>
                  <a:srgbClr val="1581AA"/>
                </a:solidFill>
                <a:latin typeface="Times New Roman" panose="02020603050405020304" pitchFamily="18" charset="0"/>
                <a:cs typeface="Times New Roman" panose="02020603050405020304" pitchFamily="18" charset="0"/>
              </a:rPr>
              <a:t>Data Structure and Applications </a:t>
            </a:r>
          </a:p>
          <a:p>
            <a:pPr marL="0" indent="0" algn="ctr">
              <a:spcBef>
                <a:spcPts val="0"/>
              </a:spcBef>
              <a:buSzPts val="4400"/>
              <a:buFont typeface="Calibri"/>
              <a:buNone/>
            </a:pPr>
            <a:r>
              <a:rPr lang="en-US" sz="4000" dirty="0"/>
              <a:t>1BCS305 </a:t>
            </a:r>
            <a:endParaRPr lang="en-US" sz="4000" b="1" dirty="0">
              <a:solidFill>
                <a:srgbClr val="E88B3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321195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Google Shape;498;p27">
            <a:extLst>
              <a:ext uri="{FF2B5EF4-FFF2-40B4-BE49-F238E27FC236}">
                <a16:creationId xmlns:a16="http://schemas.microsoft.com/office/drawing/2014/main" id="{BC6292F5-4A74-9644-C704-5880211F0979}"/>
              </a:ext>
            </a:extLst>
          </p:cNvPr>
          <p:cNvGraphicFramePr/>
          <p:nvPr>
            <p:extLst>
              <p:ext uri="{D42A27DB-BD31-4B8C-83A1-F6EECF244321}">
                <p14:modId xmlns:p14="http://schemas.microsoft.com/office/powerpoint/2010/main" val="2074248332"/>
              </p:ext>
            </p:extLst>
          </p:nvPr>
        </p:nvGraphicFramePr>
        <p:xfrm>
          <a:off x="2855885" y="902666"/>
          <a:ext cx="8361542" cy="2782812"/>
        </p:xfrm>
        <a:graphic>
          <a:graphicData uri="http://schemas.openxmlformats.org/drawingml/2006/table">
            <a:tbl>
              <a:tblPr>
                <a:noFill/>
              </a:tblPr>
              <a:tblGrid>
                <a:gridCol w="8361542">
                  <a:extLst>
                    <a:ext uri="{9D8B030D-6E8A-4147-A177-3AD203B41FA5}">
                      <a16:colId xmlns:a16="http://schemas.microsoft.com/office/drawing/2014/main" val="20000"/>
                    </a:ext>
                  </a:extLst>
                </a:gridCol>
              </a:tblGrid>
              <a:tr h="269107">
                <a:tc>
                  <a:txBody>
                    <a:bodyPr/>
                    <a:lstStyle/>
                    <a:p>
                      <a:pPr marL="0" marR="0" lvl="0" indent="0" algn="l" rtl="0">
                        <a:lnSpc>
                          <a:spcPct val="100000"/>
                        </a:lnSpc>
                        <a:spcBef>
                          <a:spcPts val="0"/>
                        </a:spcBef>
                        <a:spcAft>
                          <a:spcPts val="0"/>
                        </a:spcAft>
                        <a:buClr>
                          <a:srgbClr val="000000"/>
                        </a:buClr>
                        <a:buSzPts val="1800"/>
                        <a:buFont typeface="Times New Roman"/>
                        <a:buNone/>
                      </a:pPr>
                      <a:r>
                        <a:rPr lang="en-US" sz="2400" b="1" i="1" u="none" strike="noStrike" cap="none" dirty="0">
                          <a:solidFill>
                            <a:srgbClr val="000000"/>
                          </a:solidFill>
                          <a:latin typeface="Times New Roman"/>
                          <a:ea typeface="Times New Roman"/>
                          <a:cs typeface="Times New Roman"/>
                          <a:sym typeface="Times New Roman"/>
                        </a:rPr>
                        <a:t>TOPICS</a:t>
                      </a:r>
                      <a:endParaRPr sz="2400" dirty="0"/>
                    </a:p>
                  </a:txBody>
                  <a:tcPr marL="51425" marR="5142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417052">
                <a:tc>
                  <a:txBody>
                    <a:bodyPr/>
                    <a:lstStyle/>
                    <a:p>
                      <a:pPr marL="0" marR="0" lvl="0" indent="0" algn="l" rtl="0">
                        <a:lnSpc>
                          <a:spcPct val="100000"/>
                        </a:lnSpc>
                        <a:spcBef>
                          <a:spcPts val="0"/>
                        </a:spcBef>
                        <a:spcAft>
                          <a:spcPts val="0"/>
                        </a:spcAft>
                        <a:buClr>
                          <a:srgbClr val="000000"/>
                        </a:buClr>
                        <a:buSzPts val="1800"/>
                        <a:buFont typeface="Times New Roman"/>
                        <a:buNone/>
                      </a:pPr>
                      <a:r>
                        <a:rPr lang="en-US" sz="2400" dirty="0"/>
                        <a:t>Stacks: Definition, Stack Operations, Array Representation of Stacks, Stacks using Dynamic Arrays, Stack Applications: Polish notation, Infix to Postfix Conversion, Evaluation of Postfix Expression. Queues: Definition, Array Representation, Queue Operations. </a:t>
                      </a:r>
                      <a:endParaRPr sz="2400" dirty="0"/>
                    </a:p>
                  </a:txBody>
                  <a:tcPr marL="51425" marR="5142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09646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03;p28">
            <a:extLst>
              <a:ext uri="{FF2B5EF4-FFF2-40B4-BE49-F238E27FC236}">
                <a16:creationId xmlns:a16="http://schemas.microsoft.com/office/drawing/2014/main" id="{EE90A35C-B021-5378-B65E-A3CF5C7E13C1}"/>
              </a:ext>
            </a:extLst>
          </p:cNvPr>
          <p:cNvSpPr txBox="1">
            <a:spLocks/>
          </p:cNvSpPr>
          <p:nvPr/>
        </p:nvSpPr>
        <p:spPr>
          <a:xfrm>
            <a:off x="2551566" y="307748"/>
            <a:ext cx="6858000" cy="61118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3600"/>
              <a:buFont typeface="Arial"/>
              <a:buNone/>
            </a:pPr>
            <a:r>
              <a:rPr lang="en-US" sz="3600">
                <a:solidFill>
                  <a:srgbClr val="1581AA"/>
                </a:solidFill>
                <a:latin typeface="Arial"/>
                <a:ea typeface="Arial"/>
                <a:cs typeface="Arial"/>
                <a:sym typeface="Arial"/>
              </a:rPr>
              <a:t>STACK</a:t>
            </a:r>
            <a:endParaRPr lang="en-US" dirty="0"/>
          </a:p>
        </p:txBody>
      </p:sp>
      <p:sp>
        <p:nvSpPr>
          <p:cNvPr id="3" name="Google Shape;504;p28">
            <a:extLst>
              <a:ext uri="{FF2B5EF4-FFF2-40B4-BE49-F238E27FC236}">
                <a16:creationId xmlns:a16="http://schemas.microsoft.com/office/drawing/2014/main" id="{C3E7C5D0-6A2C-84C6-F368-B16BCB415505}"/>
              </a:ext>
            </a:extLst>
          </p:cNvPr>
          <p:cNvSpPr txBox="1">
            <a:spLocks/>
          </p:cNvSpPr>
          <p:nvPr/>
        </p:nvSpPr>
        <p:spPr>
          <a:xfrm>
            <a:off x="2541083" y="898238"/>
            <a:ext cx="8815387" cy="16049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buFont typeface="Arial"/>
              <a:buNone/>
            </a:pPr>
            <a:r>
              <a:rPr lang="en-US" dirty="0">
                <a:solidFill>
                  <a:srgbClr val="404040"/>
                </a:solidFill>
                <a:latin typeface="Times New Roman" panose="02020603050405020304" pitchFamily="18" charset="0"/>
                <a:ea typeface="Arial"/>
                <a:cs typeface="Times New Roman" panose="02020603050405020304" pitchFamily="18" charset="0"/>
                <a:sym typeface="Arial"/>
              </a:rPr>
              <a:t>It is a simple data structure that allows adding and removing elements in a particular order. Every time an element is added, it goes on the top of the stack and the only element that can be removed is the element that is at the top of the stack</a:t>
            </a:r>
            <a:endParaRPr lang="en-US" dirty="0">
              <a:latin typeface="Times New Roman" panose="02020603050405020304" pitchFamily="18" charset="0"/>
              <a:cs typeface="Times New Roman" panose="02020603050405020304" pitchFamily="18" charset="0"/>
            </a:endParaRPr>
          </a:p>
        </p:txBody>
      </p:sp>
      <p:pic>
        <p:nvPicPr>
          <p:cNvPr id="4" name="Google Shape;505;p28">
            <a:extLst>
              <a:ext uri="{FF2B5EF4-FFF2-40B4-BE49-F238E27FC236}">
                <a16:creationId xmlns:a16="http://schemas.microsoft.com/office/drawing/2014/main" id="{95CC4082-D4F9-2599-F12F-B42012B4C761}"/>
              </a:ext>
            </a:extLst>
          </p:cNvPr>
          <p:cNvPicPr preferRelativeResize="0"/>
          <p:nvPr/>
        </p:nvPicPr>
        <p:blipFill rotWithShape="1">
          <a:blip r:embed="rId4">
            <a:alphaModFix/>
          </a:blip>
          <a:srcRect/>
          <a:stretch/>
        </p:blipFill>
        <p:spPr>
          <a:xfrm>
            <a:off x="4531804" y="2793312"/>
            <a:ext cx="5668110" cy="2344745"/>
          </a:xfrm>
          <a:prstGeom prst="rect">
            <a:avLst/>
          </a:prstGeom>
          <a:noFill/>
          <a:ln>
            <a:noFill/>
          </a:ln>
        </p:spPr>
      </p:pic>
    </p:spTree>
    <p:extLst>
      <p:ext uri="{BB962C8B-B14F-4D97-AF65-F5344CB8AC3E}">
        <p14:creationId xmlns:p14="http://schemas.microsoft.com/office/powerpoint/2010/main" val="1386608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511;p29">
            <a:extLst>
              <a:ext uri="{FF2B5EF4-FFF2-40B4-BE49-F238E27FC236}">
                <a16:creationId xmlns:a16="http://schemas.microsoft.com/office/drawing/2014/main" id="{405A6EF8-5B6D-6EC3-756A-B0C11C01F9DA}"/>
              </a:ext>
            </a:extLst>
          </p:cNvPr>
          <p:cNvPicPr preferRelativeResize="0">
            <a:picLocks noGrp="1"/>
          </p:cNvPicPr>
          <p:nvPr>
            <p:ph type="body" idx="1"/>
          </p:nvPr>
        </p:nvPicPr>
        <p:blipFill rotWithShape="1">
          <a:blip r:embed="rId4">
            <a:alphaModFix/>
          </a:blip>
          <a:srcRect/>
          <a:stretch/>
        </p:blipFill>
        <p:spPr>
          <a:xfrm>
            <a:off x="3357138" y="788670"/>
            <a:ext cx="7048500" cy="1447800"/>
          </a:xfrm>
          <a:prstGeom prst="rect">
            <a:avLst/>
          </a:prstGeom>
          <a:noFill/>
          <a:ln>
            <a:noFill/>
          </a:ln>
        </p:spPr>
      </p:pic>
      <p:sp>
        <p:nvSpPr>
          <p:cNvPr id="3" name="Google Shape;510;p29">
            <a:extLst>
              <a:ext uri="{FF2B5EF4-FFF2-40B4-BE49-F238E27FC236}">
                <a16:creationId xmlns:a16="http://schemas.microsoft.com/office/drawing/2014/main" id="{94D317DD-C0E5-1EC2-A668-2DDD01931A34}"/>
              </a:ext>
            </a:extLst>
          </p:cNvPr>
          <p:cNvSpPr txBox="1">
            <a:spLocks noGrp="1"/>
          </p:cNvSpPr>
          <p:nvPr>
            <p:ph type="title"/>
          </p:nvPr>
        </p:nvSpPr>
        <p:spPr>
          <a:xfrm>
            <a:off x="3609748" y="2780189"/>
            <a:ext cx="8229600" cy="436562"/>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rgbClr val="000000"/>
              </a:buClr>
              <a:buSzPts val="1800"/>
              <a:buFont typeface="Times New Roman"/>
              <a:buNone/>
            </a:pPr>
            <a:r>
              <a:rPr lang="en-US" sz="1800" b="0" i="0" u="none">
                <a:solidFill>
                  <a:srgbClr val="000000"/>
                </a:solidFill>
                <a:latin typeface="Times New Roman"/>
                <a:ea typeface="Times New Roman"/>
                <a:cs typeface="Times New Roman"/>
                <a:sym typeface="Times New Roman"/>
              </a:rPr>
              <a:t>Example:stack of cards and plates</a:t>
            </a:r>
            <a:endParaRPr/>
          </a:p>
        </p:txBody>
      </p:sp>
    </p:spTree>
    <p:extLst>
      <p:ext uri="{BB962C8B-B14F-4D97-AF65-F5344CB8AC3E}">
        <p14:creationId xmlns:p14="http://schemas.microsoft.com/office/powerpoint/2010/main" val="99455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17;p30">
            <a:extLst>
              <a:ext uri="{FF2B5EF4-FFF2-40B4-BE49-F238E27FC236}">
                <a16:creationId xmlns:a16="http://schemas.microsoft.com/office/drawing/2014/main" id="{2C5DF7A6-3C6B-FDEE-1126-5DF0C7650FBB}"/>
              </a:ext>
            </a:extLst>
          </p:cNvPr>
          <p:cNvSpPr txBox="1">
            <a:spLocks noGrp="1"/>
          </p:cNvSpPr>
          <p:nvPr>
            <p:ph type="body" idx="1"/>
          </p:nvPr>
        </p:nvSpPr>
        <p:spPr>
          <a:xfrm>
            <a:off x="2883370" y="762633"/>
            <a:ext cx="7856537" cy="452782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100"/>
              <a:buFont typeface="Arial"/>
              <a:buNone/>
            </a:pPr>
            <a:r>
              <a:rPr lang="en-US"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Basic features of Stack</a:t>
            </a:r>
            <a:endParaRPr b="1" dirty="0">
              <a:latin typeface="Times New Roman" panose="02020603050405020304" pitchFamily="18" charset="0"/>
              <a:cs typeface="Times New Roman" panose="02020603050405020304" pitchFamily="18" charset="0"/>
            </a:endParaRPr>
          </a:p>
          <a:p>
            <a:pPr marL="0" marR="0" lvl="0" indent="-95250" algn="l" rtl="0">
              <a:lnSpc>
                <a:spcPct val="100000"/>
              </a:lnSpc>
              <a:spcBef>
                <a:spcPts val="1000"/>
              </a:spcBef>
              <a:spcAft>
                <a:spcPts val="0"/>
              </a:spcAft>
              <a:buClr>
                <a:schemeClr val="dk1"/>
              </a:buClr>
              <a:buSzPts val="1500"/>
              <a:buFont typeface="Arial"/>
              <a:buChar char="•"/>
            </a:pPr>
            <a:r>
              <a:rPr lang="en-US"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Stack is an ordered list of similar data type.</a:t>
            </a:r>
            <a:endParaRPr dirty="0">
              <a:latin typeface="Times New Roman" panose="02020603050405020304" pitchFamily="18" charset="0"/>
              <a:cs typeface="Times New Roman" panose="02020603050405020304" pitchFamily="18" charset="0"/>
            </a:endParaRPr>
          </a:p>
          <a:p>
            <a:pPr marL="0" marR="0" lvl="0" indent="-95250" algn="l" rtl="0">
              <a:lnSpc>
                <a:spcPct val="100000"/>
              </a:lnSpc>
              <a:spcBef>
                <a:spcPts val="1000"/>
              </a:spcBef>
              <a:spcAft>
                <a:spcPts val="0"/>
              </a:spcAft>
              <a:buClr>
                <a:schemeClr val="dk1"/>
              </a:buClr>
              <a:buSzPts val="1500"/>
              <a:buFont typeface="Arial"/>
              <a:buChar char="•"/>
            </a:pPr>
            <a:r>
              <a:rPr lang="en-US"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Stack is a LIFO(Last in First out) structure or we can say FILO(First in Last out).</a:t>
            </a:r>
            <a:endParaRPr dirty="0">
              <a:latin typeface="Times New Roman" panose="02020603050405020304" pitchFamily="18" charset="0"/>
              <a:cs typeface="Times New Roman" panose="02020603050405020304" pitchFamily="18" charset="0"/>
            </a:endParaRPr>
          </a:p>
          <a:p>
            <a:pPr marL="0" marR="0" lvl="0" indent="-95250" algn="l" rtl="0">
              <a:lnSpc>
                <a:spcPct val="100000"/>
              </a:lnSpc>
              <a:spcBef>
                <a:spcPts val="1000"/>
              </a:spcBef>
              <a:spcAft>
                <a:spcPts val="0"/>
              </a:spcAft>
              <a:buClr>
                <a:schemeClr val="dk1"/>
              </a:buClr>
              <a:buSzPts val="1500"/>
              <a:buFont typeface="Arial"/>
              <a:buChar char="•"/>
            </a:pPr>
            <a:r>
              <a:rPr lang="en-US"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push() function is used to insert new elements into the Stack and pop() function is used to remove an element from the stack. Both insertion and removal are allowed at only one end of Stack called Top.</a:t>
            </a:r>
            <a:endParaRPr dirty="0">
              <a:latin typeface="Times New Roman" panose="02020603050405020304" pitchFamily="18" charset="0"/>
              <a:cs typeface="Times New Roman" panose="02020603050405020304" pitchFamily="18" charset="0"/>
            </a:endParaRPr>
          </a:p>
          <a:p>
            <a:pPr marL="0" marR="0" lvl="0" indent="-95250" algn="l" rtl="0">
              <a:lnSpc>
                <a:spcPct val="100000"/>
              </a:lnSpc>
              <a:spcBef>
                <a:spcPts val="1000"/>
              </a:spcBef>
              <a:spcAft>
                <a:spcPts val="0"/>
              </a:spcAft>
              <a:buClr>
                <a:schemeClr val="dk1"/>
              </a:buClr>
              <a:buSzPts val="1500"/>
              <a:buFont typeface="Arial"/>
              <a:buChar char="•"/>
            </a:pPr>
            <a:r>
              <a:rPr lang="en-US"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Stack is said to be in Overflow state when it is completely full and is said to be in Underflow state if it is completely empty.</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068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23;p31">
            <a:extLst>
              <a:ext uri="{FF2B5EF4-FFF2-40B4-BE49-F238E27FC236}">
                <a16:creationId xmlns:a16="http://schemas.microsoft.com/office/drawing/2014/main" id="{4AEB86EA-4880-ADFE-06AF-CC95F29B7FE9}"/>
              </a:ext>
            </a:extLst>
          </p:cNvPr>
          <p:cNvSpPr txBox="1">
            <a:spLocks noGrp="1"/>
          </p:cNvSpPr>
          <p:nvPr>
            <p:ph type="title"/>
          </p:nvPr>
        </p:nvSpPr>
        <p:spPr>
          <a:xfrm>
            <a:off x="2913743" y="514033"/>
            <a:ext cx="6589712" cy="960437"/>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000000"/>
              </a:buClr>
              <a:buSzPts val="2400"/>
              <a:buFont typeface="Arial"/>
              <a:buNone/>
            </a:pPr>
            <a:r>
              <a:rPr lang="en-US" sz="2400" b="1" i="0" u="none" dirty="0">
                <a:solidFill>
                  <a:srgbClr val="000000"/>
                </a:solidFill>
                <a:latin typeface="Arial"/>
                <a:ea typeface="Arial"/>
                <a:cs typeface="Arial"/>
                <a:sym typeface="Arial"/>
              </a:rPr>
              <a:t>Implementation of Stack Data Structure</a:t>
            </a:r>
            <a:endParaRPr dirty="0"/>
          </a:p>
        </p:txBody>
      </p:sp>
      <p:pic>
        <p:nvPicPr>
          <p:cNvPr id="3" name="Google Shape;525;p31">
            <a:extLst>
              <a:ext uri="{FF2B5EF4-FFF2-40B4-BE49-F238E27FC236}">
                <a16:creationId xmlns:a16="http://schemas.microsoft.com/office/drawing/2014/main" id="{01B920BE-E234-058B-22D0-FF78E4787194}"/>
              </a:ext>
            </a:extLst>
          </p:cNvPr>
          <p:cNvPicPr preferRelativeResize="0">
            <a:picLocks/>
          </p:cNvPicPr>
          <p:nvPr/>
        </p:nvPicPr>
        <p:blipFill rotWithShape="1">
          <a:blip r:embed="rId4">
            <a:alphaModFix/>
          </a:blip>
          <a:srcRect/>
          <a:stretch/>
        </p:blipFill>
        <p:spPr>
          <a:xfrm>
            <a:off x="4767036" y="994250"/>
            <a:ext cx="6327775" cy="5063649"/>
          </a:xfrm>
          <a:prstGeom prst="rect">
            <a:avLst/>
          </a:prstGeom>
          <a:noFill/>
          <a:ln>
            <a:noFill/>
          </a:ln>
        </p:spPr>
      </p:pic>
      <p:sp>
        <p:nvSpPr>
          <p:cNvPr id="4" name="Google Shape;524;p31">
            <a:extLst>
              <a:ext uri="{FF2B5EF4-FFF2-40B4-BE49-F238E27FC236}">
                <a16:creationId xmlns:a16="http://schemas.microsoft.com/office/drawing/2014/main" id="{65DDE333-9DA9-18DA-D13B-E6E2ADA5B772}"/>
              </a:ext>
            </a:extLst>
          </p:cNvPr>
          <p:cNvSpPr txBox="1">
            <a:spLocks noGrp="1"/>
          </p:cNvSpPr>
          <p:nvPr>
            <p:ph type="body" idx="1"/>
          </p:nvPr>
        </p:nvSpPr>
        <p:spPr>
          <a:xfrm>
            <a:off x="2660074" y="1582101"/>
            <a:ext cx="2011362" cy="3262312"/>
          </a:xfrm>
          <a:prstGeom prst="rect">
            <a:avLst/>
          </a:prstGeom>
          <a:noFill/>
          <a:ln>
            <a:noFill/>
          </a:ln>
        </p:spPr>
        <p:txBody>
          <a:bodyPr spcFirstLastPara="1" wrap="square" lIns="91425" tIns="91425" rIns="91425" bIns="91425" anchor="t" anchorCtr="0">
            <a:noAutofit/>
          </a:bodyPr>
          <a:lstStyle/>
          <a:p>
            <a:pPr marL="342900" marR="0" lvl="0" indent="-342900" algn="l" rtl="0">
              <a:lnSpc>
                <a:spcPct val="100000"/>
              </a:lnSpc>
              <a:spcBef>
                <a:spcPts val="0"/>
              </a:spcBef>
              <a:spcAft>
                <a:spcPts val="0"/>
              </a:spcAft>
              <a:buClr>
                <a:srgbClr val="000000"/>
              </a:buClr>
              <a:buSzPts val="1400"/>
              <a:buFont typeface="Arial"/>
              <a:buChar char="•"/>
            </a:pPr>
            <a:r>
              <a:rPr lang="en-US" sz="1400" b="0" i="0" u="none" dirty="0">
                <a:solidFill>
                  <a:srgbClr val="000000"/>
                </a:solidFill>
                <a:latin typeface="Arial"/>
                <a:ea typeface="Arial"/>
                <a:cs typeface="Arial"/>
                <a:sym typeface="Arial"/>
              </a:rPr>
              <a:t>Stack can be easily implemented using an Array </a:t>
            </a:r>
            <a:endParaRPr dirty="0"/>
          </a:p>
        </p:txBody>
      </p:sp>
    </p:spTree>
    <p:extLst>
      <p:ext uri="{BB962C8B-B14F-4D97-AF65-F5344CB8AC3E}">
        <p14:creationId xmlns:p14="http://schemas.microsoft.com/office/powerpoint/2010/main" val="382797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31;p32">
            <a:extLst>
              <a:ext uri="{FF2B5EF4-FFF2-40B4-BE49-F238E27FC236}">
                <a16:creationId xmlns:a16="http://schemas.microsoft.com/office/drawing/2014/main" id="{468709E4-0440-CCB6-3A4B-5366B1C7C17C}"/>
              </a:ext>
            </a:extLst>
          </p:cNvPr>
          <p:cNvSpPr txBox="1">
            <a:spLocks noGrp="1"/>
          </p:cNvSpPr>
          <p:nvPr>
            <p:ph type="body" idx="1"/>
          </p:nvPr>
        </p:nvSpPr>
        <p:spPr>
          <a:xfrm>
            <a:off x="2891604" y="608465"/>
            <a:ext cx="8158162" cy="4030662"/>
          </a:xfrm>
          <a:prstGeom prst="rect">
            <a:avLst/>
          </a:prstGeom>
          <a:noFill/>
          <a:ln>
            <a:noFill/>
          </a:ln>
        </p:spPr>
        <p:txBody>
          <a:bodyPr spcFirstLastPara="1" wrap="square" lIns="91425" tIns="91425" rIns="91425" bIns="91425" anchor="t" anchorCtr="0">
            <a:noAutofit/>
          </a:bodyPr>
          <a:lstStyle/>
          <a:p>
            <a:pPr marL="228600" marR="0" lvl="0" indent="-228600" algn="l" rtl="0">
              <a:lnSpc>
                <a:spcPct val="90000"/>
              </a:lnSpc>
              <a:spcBef>
                <a:spcPts val="0"/>
              </a:spcBef>
              <a:spcAft>
                <a:spcPts val="0"/>
              </a:spcAft>
              <a:buClr>
                <a:srgbClr val="000000"/>
              </a:buClr>
              <a:buSzPts val="2100"/>
              <a:buFont typeface="Noto Sans Symbols"/>
              <a:buChar char="⮚"/>
            </a:pPr>
            <a:r>
              <a:rPr lang="en-US" sz="2100" b="1" i="0" u="none" dirty="0">
                <a:solidFill>
                  <a:srgbClr val="000000"/>
                </a:solidFill>
                <a:latin typeface="Arial"/>
                <a:ea typeface="Arial"/>
                <a:cs typeface="Arial"/>
                <a:sym typeface="Arial"/>
              </a:rPr>
              <a:t>Algorithm for PUSH operation</a:t>
            </a:r>
            <a:endParaRPr dirty="0"/>
          </a:p>
          <a:p>
            <a:pPr marL="228600" marR="0" lvl="0" indent="-228600" algn="just" rtl="0">
              <a:lnSpc>
                <a:spcPct val="90000"/>
              </a:lnSpc>
              <a:spcBef>
                <a:spcPts val="1000"/>
              </a:spcBef>
              <a:spcAft>
                <a:spcPts val="0"/>
              </a:spcAft>
              <a:buClr>
                <a:schemeClr val="dk1"/>
              </a:buClr>
              <a:buSzPts val="2100"/>
              <a:buFont typeface="Arial"/>
              <a:buChar char="•"/>
            </a:pPr>
            <a:r>
              <a:rPr lang="en-US" sz="2100" b="0" i="0" u="none" dirty="0">
                <a:solidFill>
                  <a:schemeClr val="dk1"/>
                </a:solidFill>
                <a:latin typeface="Arial"/>
                <a:ea typeface="Arial"/>
                <a:cs typeface="Arial"/>
                <a:sym typeface="Arial"/>
              </a:rPr>
              <a:t>Check if the stack is full or not.</a:t>
            </a:r>
            <a:endParaRPr dirty="0"/>
          </a:p>
          <a:p>
            <a:pPr marL="228600" marR="0" lvl="0" indent="-228600" algn="just" rtl="0">
              <a:lnSpc>
                <a:spcPct val="90000"/>
              </a:lnSpc>
              <a:spcBef>
                <a:spcPts val="1000"/>
              </a:spcBef>
              <a:spcAft>
                <a:spcPts val="0"/>
              </a:spcAft>
              <a:buClr>
                <a:schemeClr val="dk1"/>
              </a:buClr>
              <a:buSzPts val="2100"/>
              <a:buFont typeface="Arial"/>
              <a:buChar char="•"/>
            </a:pPr>
            <a:r>
              <a:rPr lang="en-US" sz="2100" b="0" i="0" u="none" dirty="0">
                <a:solidFill>
                  <a:schemeClr val="dk1"/>
                </a:solidFill>
                <a:latin typeface="Arial"/>
                <a:ea typeface="Arial"/>
                <a:cs typeface="Arial"/>
                <a:sym typeface="Arial"/>
              </a:rPr>
              <a:t>If the stack is full, then print error of overflow and exit the program.</a:t>
            </a:r>
            <a:endParaRPr dirty="0"/>
          </a:p>
          <a:p>
            <a:pPr marL="228600" marR="0" lvl="0" indent="-228600" algn="just" rtl="0">
              <a:lnSpc>
                <a:spcPct val="90000"/>
              </a:lnSpc>
              <a:spcBef>
                <a:spcPts val="1000"/>
              </a:spcBef>
              <a:spcAft>
                <a:spcPts val="0"/>
              </a:spcAft>
              <a:buClr>
                <a:schemeClr val="dk1"/>
              </a:buClr>
              <a:buSzPts val="2100"/>
              <a:buFont typeface="Arial"/>
              <a:buChar char="•"/>
            </a:pPr>
            <a:r>
              <a:rPr lang="en-US" sz="2100" b="0" i="0" u="none" dirty="0">
                <a:solidFill>
                  <a:schemeClr val="dk1"/>
                </a:solidFill>
                <a:latin typeface="Arial"/>
                <a:ea typeface="Arial"/>
                <a:cs typeface="Arial"/>
                <a:sym typeface="Arial"/>
              </a:rPr>
              <a:t>If the stack is not full, then increment the top and add the element.</a:t>
            </a:r>
            <a:endParaRPr dirty="0"/>
          </a:p>
          <a:p>
            <a:pPr marL="228600" marR="0" lvl="0" indent="-228600" algn="just" rtl="0">
              <a:lnSpc>
                <a:spcPct val="90000"/>
              </a:lnSpc>
              <a:spcBef>
                <a:spcPts val="1000"/>
              </a:spcBef>
              <a:spcAft>
                <a:spcPts val="0"/>
              </a:spcAft>
              <a:buClr>
                <a:srgbClr val="000000"/>
              </a:buClr>
              <a:buSzPts val="2100"/>
              <a:buFont typeface="Noto Sans Symbols"/>
              <a:buChar char="⮚"/>
            </a:pPr>
            <a:r>
              <a:rPr lang="en-US" sz="2100" b="1" i="0" u="none" dirty="0">
                <a:solidFill>
                  <a:srgbClr val="000000"/>
                </a:solidFill>
                <a:latin typeface="Arial"/>
                <a:ea typeface="Arial"/>
                <a:cs typeface="Arial"/>
                <a:sym typeface="Arial"/>
              </a:rPr>
              <a:t>Algorithm for POP operation</a:t>
            </a:r>
            <a:endParaRPr dirty="0"/>
          </a:p>
          <a:p>
            <a:pPr marL="228600" marR="0" lvl="0" indent="-228600" algn="just" rtl="0">
              <a:lnSpc>
                <a:spcPct val="90000"/>
              </a:lnSpc>
              <a:spcBef>
                <a:spcPts val="1000"/>
              </a:spcBef>
              <a:spcAft>
                <a:spcPts val="0"/>
              </a:spcAft>
              <a:buClr>
                <a:schemeClr val="dk1"/>
              </a:buClr>
              <a:buSzPts val="2100"/>
              <a:buFont typeface="Arial"/>
              <a:buChar char="•"/>
            </a:pPr>
            <a:r>
              <a:rPr lang="en-US" sz="2100" b="0" i="0" u="none" dirty="0">
                <a:solidFill>
                  <a:schemeClr val="dk1"/>
                </a:solidFill>
                <a:latin typeface="Arial"/>
                <a:ea typeface="Arial"/>
                <a:cs typeface="Arial"/>
                <a:sym typeface="Arial"/>
              </a:rPr>
              <a:t>Check if the stack is empty or not.</a:t>
            </a:r>
            <a:endParaRPr dirty="0"/>
          </a:p>
          <a:p>
            <a:pPr marL="228600" marR="0" lvl="0" indent="-228600" algn="just" rtl="0">
              <a:lnSpc>
                <a:spcPct val="90000"/>
              </a:lnSpc>
              <a:spcBef>
                <a:spcPts val="1000"/>
              </a:spcBef>
              <a:spcAft>
                <a:spcPts val="0"/>
              </a:spcAft>
              <a:buClr>
                <a:schemeClr val="dk1"/>
              </a:buClr>
              <a:buSzPts val="2100"/>
              <a:buFont typeface="Arial"/>
              <a:buChar char="•"/>
            </a:pPr>
            <a:r>
              <a:rPr lang="en-US" sz="2100" b="0" i="0" u="none" dirty="0">
                <a:solidFill>
                  <a:schemeClr val="dk1"/>
                </a:solidFill>
                <a:latin typeface="Arial"/>
                <a:ea typeface="Arial"/>
                <a:cs typeface="Arial"/>
                <a:sym typeface="Arial"/>
              </a:rPr>
              <a:t>If the stack is empty, then print error of underflow and exit the program.</a:t>
            </a:r>
            <a:endParaRPr dirty="0"/>
          </a:p>
          <a:p>
            <a:pPr marL="228600" marR="0" lvl="0" indent="-228600" algn="just" rtl="0">
              <a:lnSpc>
                <a:spcPct val="90000"/>
              </a:lnSpc>
              <a:spcBef>
                <a:spcPts val="1000"/>
              </a:spcBef>
              <a:spcAft>
                <a:spcPts val="0"/>
              </a:spcAft>
              <a:buClr>
                <a:schemeClr val="dk1"/>
              </a:buClr>
              <a:buSzPts val="2100"/>
              <a:buFont typeface="Arial"/>
              <a:buChar char="•"/>
            </a:pPr>
            <a:r>
              <a:rPr lang="en-US" sz="2100" b="0" i="0" u="none" dirty="0">
                <a:solidFill>
                  <a:schemeClr val="dk1"/>
                </a:solidFill>
                <a:latin typeface="Arial"/>
                <a:ea typeface="Arial"/>
                <a:cs typeface="Arial"/>
                <a:sym typeface="Arial"/>
              </a:rPr>
              <a:t>If the stack is not empty, then print the element at the top and decrement the top.</a:t>
            </a:r>
            <a:endParaRPr dirty="0"/>
          </a:p>
        </p:txBody>
      </p:sp>
    </p:spTree>
    <p:extLst>
      <p:ext uri="{BB962C8B-B14F-4D97-AF65-F5344CB8AC3E}">
        <p14:creationId xmlns:p14="http://schemas.microsoft.com/office/powerpoint/2010/main" val="3803520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38;p33">
            <a:extLst>
              <a:ext uri="{FF2B5EF4-FFF2-40B4-BE49-F238E27FC236}">
                <a16:creationId xmlns:a16="http://schemas.microsoft.com/office/drawing/2014/main" id="{2FE7DE38-B386-E334-D298-F0FDD92A863C}"/>
              </a:ext>
            </a:extLst>
          </p:cNvPr>
          <p:cNvSpPr txBox="1">
            <a:spLocks noGrp="1"/>
          </p:cNvSpPr>
          <p:nvPr>
            <p:ph type="body" idx="1"/>
          </p:nvPr>
        </p:nvSpPr>
        <p:spPr>
          <a:xfrm>
            <a:off x="3380727" y="751637"/>
            <a:ext cx="6757683" cy="4523508"/>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void push()       //Inserting element into the stack</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int </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item,n</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endParaRPr sz="20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if(top==(max_size-1))</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15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printf</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nStack</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Overflow:");</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else</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printf</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("Enter the element to be inserted:\t"); </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scanf</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d",&amp;item</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endParaRPr sz="20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top=top+1;</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stack[top]=item;</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70000"/>
              </a:lnSpc>
              <a:spcBef>
                <a:spcPts val="0"/>
              </a:spcBef>
              <a:spcAft>
                <a:spcPts val="0"/>
              </a:spcAft>
              <a:buClr>
                <a:srgbClr val="000000"/>
              </a:buClr>
              <a:buSzPts val="1300"/>
              <a:buFont typeface="Arial"/>
              <a:buNone/>
            </a:pPr>
            <a:endParaRPr sz="20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70000"/>
              </a:lnSpc>
              <a:spcBef>
                <a:spcPts val="0"/>
              </a:spcBef>
              <a:spcAft>
                <a:spcPts val="0"/>
              </a:spcAft>
              <a:buClr>
                <a:srgbClr val="000000"/>
              </a:buClr>
              <a:buSzPts val="13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818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45;p34">
            <a:extLst>
              <a:ext uri="{FF2B5EF4-FFF2-40B4-BE49-F238E27FC236}">
                <a16:creationId xmlns:a16="http://schemas.microsoft.com/office/drawing/2014/main" id="{CF16E5E1-8D55-5765-8BB2-EB1F80A781B7}"/>
              </a:ext>
            </a:extLst>
          </p:cNvPr>
          <p:cNvSpPr txBox="1">
            <a:spLocks noGrp="1"/>
          </p:cNvSpPr>
          <p:nvPr>
            <p:ph type="body" idx="1"/>
          </p:nvPr>
        </p:nvSpPr>
        <p:spPr>
          <a:xfrm>
            <a:off x="3189740" y="655996"/>
            <a:ext cx="7643288" cy="4773253"/>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void pop()         //deleting an element from the stack</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int item;</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endParaRPr sz="20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if(top==-1)</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printf</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("Stack Underflow:");</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else</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item=stack[top]; </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top=top-1;</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printf</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nThe</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poped</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element: %d\</a:t>
            </a:r>
            <a:r>
              <a:rPr lang="en-US" sz="2000" b="0" i="0" u="none" dirty="0" err="1">
                <a:solidFill>
                  <a:srgbClr val="000000"/>
                </a:solidFill>
                <a:latin typeface="Times New Roman" panose="02020603050405020304" pitchFamily="18" charset="0"/>
                <a:ea typeface="Arial"/>
                <a:cs typeface="Times New Roman" panose="02020603050405020304" pitchFamily="18" charset="0"/>
                <a:sym typeface="Arial"/>
              </a:rPr>
              <a:t>t",item</a:t>
            </a: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20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657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52;p35">
            <a:extLst>
              <a:ext uri="{FF2B5EF4-FFF2-40B4-BE49-F238E27FC236}">
                <a16:creationId xmlns:a16="http://schemas.microsoft.com/office/drawing/2014/main" id="{E1466228-D5BC-8984-8BE6-80EA08E9921F}"/>
              </a:ext>
            </a:extLst>
          </p:cNvPr>
          <p:cNvSpPr txBox="1">
            <a:spLocks noGrp="1"/>
          </p:cNvSpPr>
          <p:nvPr>
            <p:ph type="body" idx="1"/>
          </p:nvPr>
        </p:nvSpPr>
        <p:spPr>
          <a:xfrm>
            <a:off x="2686107" y="1235074"/>
            <a:ext cx="9067800" cy="3394075"/>
          </a:xfrm>
          <a:prstGeom prst="rect">
            <a:avLst/>
          </a:prstGeom>
          <a:noFill/>
          <a:ln>
            <a:noFill/>
          </a:ln>
        </p:spPr>
        <p:txBody>
          <a:bodyPr spcFirstLastPara="1" wrap="square" lIns="91425" tIns="91425" rIns="91425" bIns="91425" anchor="t" anchorCtr="0">
            <a:noAutofit/>
          </a:bodyPr>
          <a:lstStyle/>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void display()</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endParaRPr sz="24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int </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i</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if(top==-1)</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endParaRPr sz="24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printf</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nStack</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is Empty:");</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endParaRPr sz="24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else</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printf</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nThe</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stack elements are:\n"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endParaRPr sz="24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for(</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i</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top;i</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&gt;=0;i--)</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printf</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("%d\</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n",stack</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r>
              <a:rPr lang="en-US" sz="2400" b="0" i="0" u="none" dirty="0" err="1">
                <a:solidFill>
                  <a:srgbClr val="000000"/>
                </a:solidFill>
                <a:latin typeface="Times New Roman" panose="02020603050405020304" pitchFamily="18" charset="0"/>
                <a:ea typeface="Arial"/>
                <a:cs typeface="Times New Roman" panose="02020603050405020304" pitchFamily="18" charset="0"/>
                <a:sym typeface="Arial"/>
              </a:rPr>
              <a:t>i</a:t>
            </a: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endParaRPr sz="24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	}</a:t>
            </a:r>
            <a:endParaRPr sz="2400" dirty="0">
              <a:latin typeface="Times New Roman" panose="02020603050405020304" pitchFamily="18" charset="0"/>
              <a:cs typeface="Times New Roman" panose="02020603050405020304" pitchFamily="18" charset="0"/>
            </a:endParaRPr>
          </a:p>
          <a:p>
            <a:pPr marL="0" marR="0" lvl="0" indent="0" algn="l" rtl="0">
              <a:lnSpc>
                <a:spcPct val="60000"/>
              </a:lnSpc>
              <a:spcBef>
                <a:spcPts val="0"/>
              </a:spcBef>
              <a:spcAft>
                <a:spcPts val="0"/>
              </a:spcAft>
              <a:buClr>
                <a:srgbClr val="000000"/>
              </a:buClr>
              <a:buSzPts val="1500"/>
              <a:buFont typeface="Arial"/>
              <a:buNone/>
            </a:pPr>
            <a:endParaRPr sz="2400" b="0" i="0" u="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60000"/>
              </a:lnSpc>
              <a:spcBef>
                <a:spcPts val="0"/>
              </a:spcBef>
              <a:spcAft>
                <a:spcPts val="0"/>
              </a:spcAft>
              <a:buClr>
                <a:srgbClr val="000000"/>
              </a:buClr>
              <a:buSzPts val="1500"/>
              <a:buFont typeface="Arial"/>
              <a:buNone/>
            </a:pPr>
            <a:r>
              <a:rPr lang="en-US" sz="2400" b="0" i="0" u="none" dirty="0">
                <a:solidFill>
                  <a:srgbClr val="000000"/>
                </a:solidFill>
                <a:latin typeface="Times New Roman" panose="02020603050405020304" pitchFamily="18" charset="0"/>
                <a:ea typeface="Arial"/>
                <a:cs typeface="Times New Roman" panose="02020603050405020304" pitchFamily="18" charset="0"/>
                <a:sym typeface="Arial"/>
              </a:rPr>
              <a:t>}</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2140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58;p36">
            <a:extLst>
              <a:ext uri="{FF2B5EF4-FFF2-40B4-BE49-F238E27FC236}">
                <a16:creationId xmlns:a16="http://schemas.microsoft.com/office/drawing/2014/main" id="{4F692F36-8027-BF06-80BF-E7646FDA19FD}"/>
              </a:ext>
            </a:extLst>
          </p:cNvPr>
          <p:cNvSpPr txBox="1">
            <a:spLocks noGrp="1"/>
          </p:cNvSpPr>
          <p:nvPr>
            <p:ph type="body" idx="1"/>
          </p:nvPr>
        </p:nvSpPr>
        <p:spPr>
          <a:xfrm>
            <a:off x="3009343" y="491170"/>
            <a:ext cx="8229600" cy="570280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400"/>
              <a:buNone/>
            </a:pPr>
            <a:r>
              <a:rPr lang="en-US" sz="2400" b="1" i="0" u="none" strike="noStrike" cap="none" dirty="0">
                <a:solidFill>
                  <a:schemeClr val="dk1"/>
                </a:solidFill>
                <a:latin typeface="Arial"/>
                <a:ea typeface="Arial"/>
                <a:cs typeface="Arial"/>
                <a:sym typeface="Arial"/>
              </a:rPr>
              <a:t>APPLICATIONS OF STACKS</a:t>
            </a:r>
            <a:endParaRPr dirty="0"/>
          </a:p>
          <a:p>
            <a:pPr marL="342900" marR="0" lvl="0" indent="-342900" algn="l" rtl="0">
              <a:lnSpc>
                <a:spcPct val="150000"/>
              </a:lnSpc>
              <a:spcBef>
                <a:spcPts val="36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342900" marR="0" lvl="0" indent="-342900" algn="l" rtl="0">
              <a:lnSpc>
                <a:spcPct val="150000"/>
              </a:lnSpc>
              <a:spcBef>
                <a:spcPts val="360"/>
              </a:spcBef>
              <a:spcAft>
                <a:spcPts val="0"/>
              </a:spcAft>
              <a:buClr>
                <a:schemeClr val="dk1"/>
              </a:buClr>
              <a:buSzPts val="1800"/>
              <a:buFont typeface="Arial"/>
              <a:buNone/>
            </a:pPr>
            <a:r>
              <a:rPr lang="en-US" sz="2000" b="0" i="0" u="none" strike="noStrike" cap="none" dirty="0">
                <a:solidFill>
                  <a:schemeClr val="dk1"/>
                </a:solidFill>
                <a:latin typeface="Arial"/>
                <a:ea typeface="Arial"/>
                <a:cs typeface="Arial"/>
                <a:sym typeface="Arial"/>
              </a:rPr>
              <a:t>1. Stack is used by compilers to check for balancing of parentheses, brackets and braces.</a:t>
            </a:r>
            <a:endParaRPr sz="2000" dirty="0"/>
          </a:p>
          <a:p>
            <a:pPr marL="342900" marR="0" lvl="0" indent="-342900" algn="l" rtl="0">
              <a:lnSpc>
                <a:spcPct val="150000"/>
              </a:lnSpc>
              <a:spcBef>
                <a:spcPts val="360"/>
              </a:spcBef>
              <a:spcAft>
                <a:spcPts val="0"/>
              </a:spcAft>
              <a:buClr>
                <a:schemeClr val="dk1"/>
              </a:buClr>
              <a:buSzPts val="1800"/>
              <a:buFont typeface="Arial"/>
              <a:buNone/>
            </a:pPr>
            <a:r>
              <a:rPr lang="en-US" sz="2000" b="0" i="0" u="none" strike="noStrike" cap="none" dirty="0">
                <a:solidFill>
                  <a:schemeClr val="dk1"/>
                </a:solidFill>
                <a:latin typeface="Arial"/>
                <a:ea typeface="Arial"/>
                <a:cs typeface="Arial"/>
                <a:sym typeface="Arial"/>
              </a:rPr>
              <a:t>2.Stack is used to evaluate a postfix expression.</a:t>
            </a:r>
            <a:endParaRPr sz="2000" dirty="0"/>
          </a:p>
          <a:p>
            <a:pPr marL="342900" marR="0" lvl="0" indent="-342900" algn="l" rtl="0">
              <a:lnSpc>
                <a:spcPct val="150000"/>
              </a:lnSpc>
              <a:spcBef>
                <a:spcPts val="360"/>
              </a:spcBef>
              <a:spcAft>
                <a:spcPts val="0"/>
              </a:spcAft>
              <a:buClr>
                <a:schemeClr val="dk1"/>
              </a:buClr>
              <a:buSzPts val="1800"/>
              <a:buFont typeface="Arial"/>
              <a:buNone/>
            </a:pPr>
            <a:r>
              <a:rPr lang="en-US" sz="2000" b="0" i="0" u="none" strike="noStrike" cap="none" dirty="0">
                <a:solidFill>
                  <a:schemeClr val="dk1"/>
                </a:solidFill>
                <a:latin typeface="Arial"/>
                <a:ea typeface="Arial"/>
                <a:cs typeface="Arial"/>
                <a:sym typeface="Arial"/>
              </a:rPr>
              <a:t>3.Stack is used to convert an infix expression into postfix/prefix form.</a:t>
            </a:r>
            <a:endParaRPr sz="2000" dirty="0"/>
          </a:p>
          <a:p>
            <a:pPr marL="342900" marR="0" lvl="0" indent="-342900" algn="l" rtl="0">
              <a:lnSpc>
                <a:spcPct val="150000"/>
              </a:lnSpc>
              <a:spcBef>
                <a:spcPts val="360"/>
              </a:spcBef>
              <a:spcAft>
                <a:spcPts val="0"/>
              </a:spcAft>
              <a:buClr>
                <a:schemeClr val="dk1"/>
              </a:buClr>
              <a:buSzPts val="1800"/>
              <a:buFont typeface="Arial"/>
              <a:buNone/>
            </a:pPr>
            <a:r>
              <a:rPr lang="en-US" sz="2000" b="0" i="0" u="none" strike="noStrike" cap="none" dirty="0">
                <a:solidFill>
                  <a:schemeClr val="dk1"/>
                </a:solidFill>
                <a:latin typeface="Arial"/>
                <a:ea typeface="Arial"/>
                <a:cs typeface="Arial"/>
                <a:sym typeface="Arial"/>
              </a:rPr>
              <a:t>4.In recursion, all intermediate arguments and return values are stored on the processor’s stack.</a:t>
            </a:r>
            <a:endParaRPr sz="2000" dirty="0"/>
          </a:p>
          <a:p>
            <a:pPr marL="342900" marR="0" lvl="0" indent="-342900" algn="l" rtl="0">
              <a:lnSpc>
                <a:spcPct val="150000"/>
              </a:lnSpc>
              <a:spcBef>
                <a:spcPts val="360"/>
              </a:spcBef>
              <a:spcAft>
                <a:spcPts val="0"/>
              </a:spcAft>
              <a:buClr>
                <a:schemeClr val="dk1"/>
              </a:buClr>
              <a:buSzPts val="1800"/>
              <a:buFont typeface="Arial"/>
              <a:buNone/>
            </a:pPr>
            <a:r>
              <a:rPr lang="en-US" sz="2000" b="0" i="0" u="none" strike="noStrike" cap="none" dirty="0">
                <a:solidFill>
                  <a:schemeClr val="dk1"/>
                </a:solidFill>
                <a:latin typeface="Arial"/>
                <a:ea typeface="Arial"/>
                <a:cs typeface="Arial"/>
                <a:sym typeface="Arial"/>
              </a:rPr>
              <a:t>5.During a function call the return address and arguments are pushed onto a stack and on return they are popped off.</a:t>
            </a:r>
            <a:endParaRPr sz="2000" dirty="0"/>
          </a:p>
        </p:txBody>
      </p:sp>
    </p:spTree>
    <p:extLst>
      <p:ext uri="{BB962C8B-B14F-4D97-AF65-F5344CB8AC3E}">
        <p14:creationId xmlns:p14="http://schemas.microsoft.com/office/powerpoint/2010/main" val="100815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63;p37">
            <a:extLst>
              <a:ext uri="{FF2B5EF4-FFF2-40B4-BE49-F238E27FC236}">
                <a16:creationId xmlns:a16="http://schemas.microsoft.com/office/drawing/2014/main" id="{E59A00A3-CAB3-7D92-C55D-8F8D86471DB5}"/>
              </a:ext>
            </a:extLst>
          </p:cNvPr>
          <p:cNvSpPr txBox="1">
            <a:spLocks/>
          </p:cNvSpPr>
          <p:nvPr/>
        </p:nvSpPr>
        <p:spPr>
          <a:xfrm>
            <a:off x="2716258" y="527050"/>
            <a:ext cx="8854984" cy="46872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000" b="1" dirty="0">
                <a:solidFill>
                  <a:srgbClr val="404040"/>
                </a:solidFill>
              </a:rPr>
              <a:t>Expressions</a:t>
            </a:r>
            <a:endParaRPr lang="en-US" sz="2000" dirty="0"/>
          </a:p>
          <a:p>
            <a:pPr marL="0" indent="0" algn="just">
              <a:lnSpc>
                <a:spcPct val="150000"/>
              </a:lnSpc>
              <a:buFont typeface="Arial"/>
              <a:buNone/>
            </a:pPr>
            <a:r>
              <a:rPr lang="en-US" sz="2000" dirty="0">
                <a:solidFill>
                  <a:srgbClr val="404040"/>
                </a:solidFill>
              </a:rPr>
              <a:t>An algebraic expression is a legal combination of operators and operands. Operand </a:t>
            </a:r>
            <a:r>
              <a:rPr lang="en-US" sz="2000" dirty="0" err="1">
                <a:solidFill>
                  <a:srgbClr val="404040"/>
                </a:solidFill>
              </a:rPr>
              <a:t>isthe</a:t>
            </a:r>
            <a:r>
              <a:rPr lang="en-US" sz="2000" dirty="0">
                <a:solidFill>
                  <a:srgbClr val="404040"/>
                </a:solidFill>
              </a:rPr>
              <a:t> quantity on which a mathematical operation is performed. Operand may be a variable like x, y, z or a constant like 5, 4, 6 etc. Operator is a symbol which signifies a mathematical or logical operation between the operands. Examples of familiar operators include +, -, *, /, ^ etc.</a:t>
            </a:r>
            <a:endParaRPr lang="en-US" sz="2000" dirty="0"/>
          </a:p>
        </p:txBody>
      </p:sp>
    </p:spTree>
    <p:extLst>
      <p:ext uri="{BB962C8B-B14F-4D97-AF65-F5344CB8AC3E}">
        <p14:creationId xmlns:p14="http://schemas.microsoft.com/office/powerpoint/2010/main" val="3056471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68;p38">
            <a:extLst>
              <a:ext uri="{FF2B5EF4-FFF2-40B4-BE49-F238E27FC236}">
                <a16:creationId xmlns:a16="http://schemas.microsoft.com/office/drawing/2014/main" id="{C6C1CAD6-61B7-25EE-6C03-7E90DB66AD64}"/>
              </a:ext>
            </a:extLst>
          </p:cNvPr>
          <p:cNvSpPr txBox="1">
            <a:spLocks/>
          </p:cNvSpPr>
          <p:nvPr/>
        </p:nvSpPr>
        <p:spPr>
          <a:xfrm>
            <a:off x="2703132" y="561020"/>
            <a:ext cx="7678737" cy="50372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000" b="1" dirty="0">
                <a:solidFill>
                  <a:srgbClr val="404040"/>
                </a:solidFill>
              </a:rPr>
              <a:t>Types of Expressions:</a:t>
            </a:r>
            <a:endParaRPr lang="en-US" sz="2000" dirty="0"/>
          </a:p>
          <a:p>
            <a:pPr marL="0" indent="0">
              <a:lnSpc>
                <a:spcPct val="100000"/>
              </a:lnSpc>
              <a:buFont typeface="Arial"/>
              <a:buNone/>
            </a:pPr>
            <a:r>
              <a:rPr lang="en-US" sz="2000" dirty="0">
                <a:solidFill>
                  <a:srgbClr val="404040"/>
                </a:solidFill>
              </a:rPr>
              <a:t>The different types of expressions are</a:t>
            </a:r>
            <a:endParaRPr lang="en-US" sz="2000" dirty="0"/>
          </a:p>
          <a:p>
            <a:pPr marL="0" indent="0">
              <a:lnSpc>
                <a:spcPct val="100000"/>
              </a:lnSpc>
              <a:buFont typeface="Arial"/>
              <a:buNone/>
            </a:pPr>
            <a:r>
              <a:rPr lang="en-US" sz="2000" b="1" dirty="0">
                <a:solidFill>
                  <a:srgbClr val="404040"/>
                </a:solidFill>
              </a:rPr>
              <a:t>Infix expression</a:t>
            </a:r>
            <a:r>
              <a:rPr lang="en-US" sz="2000" dirty="0">
                <a:solidFill>
                  <a:srgbClr val="404040"/>
                </a:solidFill>
              </a:rPr>
              <a:t> – Here an operator is in between 2 operands </a:t>
            </a:r>
            <a:endParaRPr lang="en-US" sz="2000" dirty="0"/>
          </a:p>
          <a:p>
            <a:pPr marL="0" indent="0">
              <a:lnSpc>
                <a:spcPct val="100000"/>
              </a:lnSpc>
              <a:buFont typeface="Arial"/>
              <a:buNone/>
            </a:pPr>
            <a:r>
              <a:rPr lang="en-US" sz="2000" dirty="0">
                <a:solidFill>
                  <a:srgbClr val="404040"/>
                </a:solidFill>
              </a:rPr>
              <a:t>	EX: (</a:t>
            </a:r>
            <a:r>
              <a:rPr lang="en-US" sz="2000" dirty="0" err="1">
                <a:solidFill>
                  <a:srgbClr val="404040"/>
                </a:solidFill>
              </a:rPr>
              <a:t>a+b</a:t>
            </a:r>
            <a:r>
              <a:rPr lang="en-US" sz="2000" dirty="0">
                <a:solidFill>
                  <a:srgbClr val="404040"/>
                </a:solidFill>
              </a:rPr>
              <a:t>) / (c-d)</a:t>
            </a:r>
            <a:endParaRPr lang="en-US" sz="2000" dirty="0"/>
          </a:p>
          <a:p>
            <a:pPr marL="0" indent="0">
              <a:lnSpc>
                <a:spcPct val="100000"/>
              </a:lnSpc>
              <a:buFont typeface="Arial"/>
              <a:buNone/>
            </a:pPr>
            <a:r>
              <a:rPr lang="en-US" sz="2000" b="1" dirty="0">
                <a:solidFill>
                  <a:srgbClr val="404040"/>
                </a:solidFill>
              </a:rPr>
              <a:t>Postfix (Suffix or Reverse Polish) expression</a:t>
            </a:r>
            <a:r>
              <a:rPr lang="en-US" sz="2000" dirty="0">
                <a:solidFill>
                  <a:srgbClr val="404040"/>
                </a:solidFill>
              </a:rPr>
              <a:t> – Here an operator follows the 2 operands. </a:t>
            </a:r>
            <a:endParaRPr lang="en-US" sz="2000" dirty="0"/>
          </a:p>
          <a:p>
            <a:pPr marL="0" indent="0">
              <a:lnSpc>
                <a:spcPct val="100000"/>
              </a:lnSpc>
              <a:buFont typeface="Arial"/>
              <a:buNone/>
            </a:pPr>
            <a:r>
              <a:rPr lang="en-US" sz="2000" dirty="0">
                <a:solidFill>
                  <a:srgbClr val="404040"/>
                </a:solidFill>
              </a:rPr>
              <a:t>	EX: </a:t>
            </a:r>
            <a:r>
              <a:rPr lang="en-US" sz="2000" dirty="0" err="1">
                <a:solidFill>
                  <a:srgbClr val="404040"/>
                </a:solidFill>
              </a:rPr>
              <a:t>ab+cd</a:t>
            </a:r>
            <a:r>
              <a:rPr lang="en-US" sz="2000" dirty="0">
                <a:solidFill>
                  <a:srgbClr val="404040"/>
                </a:solidFill>
              </a:rPr>
              <a:t>-/</a:t>
            </a:r>
            <a:endParaRPr lang="en-US" sz="2000" dirty="0"/>
          </a:p>
          <a:p>
            <a:pPr marL="0" indent="0">
              <a:lnSpc>
                <a:spcPct val="100000"/>
              </a:lnSpc>
              <a:buFont typeface="Arial"/>
              <a:buNone/>
            </a:pPr>
            <a:r>
              <a:rPr lang="en-US" sz="2000" b="1" dirty="0">
                <a:solidFill>
                  <a:srgbClr val="404040"/>
                </a:solidFill>
              </a:rPr>
              <a:t>Prefix (Polish) expression</a:t>
            </a:r>
            <a:r>
              <a:rPr lang="en-US" sz="2000" dirty="0">
                <a:solidFill>
                  <a:srgbClr val="404040"/>
                </a:solidFill>
              </a:rPr>
              <a:t> – Here an operator precedes the 2 operands. </a:t>
            </a:r>
            <a:endParaRPr lang="en-US" sz="2000" dirty="0"/>
          </a:p>
          <a:p>
            <a:pPr marL="0" indent="0">
              <a:lnSpc>
                <a:spcPct val="100000"/>
              </a:lnSpc>
              <a:buFont typeface="Arial"/>
              <a:buNone/>
            </a:pPr>
            <a:r>
              <a:rPr lang="en-US" sz="2000" dirty="0">
                <a:solidFill>
                  <a:srgbClr val="404040"/>
                </a:solidFill>
              </a:rPr>
              <a:t>	EX: /+ab-cd</a:t>
            </a:r>
            <a:endParaRPr lang="en-US" sz="2000" dirty="0"/>
          </a:p>
          <a:p>
            <a:pPr marL="0" indent="0">
              <a:lnSpc>
                <a:spcPct val="100000"/>
              </a:lnSpc>
              <a:buFont typeface="Arial"/>
              <a:buNone/>
            </a:pPr>
            <a:r>
              <a:rPr lang="en-US" sz="2000" dirty="0">
                <a:solidFill>
                  <a:srgbClr val="404040"/>
                </a:solidFill>
              </a:rPr>
              <a:t>In both postfix and prefix expression operator and operands define correctly the order of operation.</a:t>
            </a:r>
            <a:endParaRPr lang="en-US" sz="2000" dirty="0"/>
          </a:p>
        </p:txBody>
      </p:sp>
    </p:spTree>
    <p:extLst>
      <p:ext uri="{BB962C8B-B14F-4D97-AF65-F5344CB8AC3E}">
        <p14:creationId xmlns:p14="http://schemas.microsoft.com/office/powerpoint/2010/main" val="221326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73;p39">
            <a:extLst>
              <a:ext uri="{FF2B5EF4-FFF2-40B4-BE49-F238E27FC236}">
                <a16:creationId xmlns:a16="http://schemas.microsoft.com/office/drawing/2014/main" id="{595B12D2-068B-7768-7769-1676CAEF10B7}"/>
              </a:ext>
            </a:extLst>
          </p:cNvPr>
          <p:cNvSpPr txBox="1">
            <a:spLocks/>
          </p:cNvSpPr>
          <p:nvPr/>
        </p:nvSpPr>
        <p:spPr>
          <a:xfrm>
            <a:off x="2913743" y="382361"/>
            <a:ext cx="7521575" cy="43910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rgbClr val="404040"/>
                </a:solidFill>
                <a:latin typeface="Times New Roman" panose="02020603050405020304" pitchFamily="18" charset="0"/>
                <a:cs typeface="Times New Roman" panose="02020603050405020304" pitchFamily="18" charset="0"/>
              </a:rPr>
              <a:t>In both postfix and prefix expression operator and operands define correctly the order of operation.</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b="1" dirty="0">
                <a:solidFill>
                  <a:srgbClr val="404040"/>
                </a:solidFill>
                <a:latin typeface="Times New Roman" panose="02020603050405020304" pitchFamily="18" charset="0"/>
                <a:cs typeface="Times New Roman" panose="02020603050405020304" pitchFamily="18" charset="0"/>
              </a:rPr>
              <a:t>The three important features of postfix expression are:</a:t>
            </a:r>
            <a:endParaRPr lang="en-US" sz="2400" dirty="0">
              <a:latin typeface="Times New Roman" panose="02020603050405020304" pitchFamily="18" charset="0"/>
              <a:cs typeface="Times New Roman" panose="02020603050405020304" pitchFamily="18" charset="0"/>
            </a:endParaRPr>
          </a:p>
          <a:p>
            <a:pPr marL="0" indent="-114300">
              <a:lnSpc>
                <a:spcPct val="100000"/>
              </a:lnSpc>
              <a:buClr>
                <a:srgbClr val="353535"/>
              </a:buClr>
            </a:pPr>
            <a:r>
              <a:rPr lang="en-US" sz="2400" dirty="0">
                <a:solidFill>
                  <a:srgbClr val="404040"/>
                </a:solidFill>
                <a:latin typeface="Times New Roman" panose="02020603050405020304" pitchFamily="18" charset="0"/>
                <a:cs typeface="Times New Roman" panose="02020603050405020304" pitchFamily="18" charset="0"/>
              </a:rPr>
              <a:t>The operands maintain the same order as in the equivalent infix expression.</a:t>
            </a:r>
            <a:endParaRPr lang="en-US" sz="2400" dirty="0">
              <a:latin typeface="Times New Roman" panose="02020603050405020304" pitchFamily="18" charset="0"/>
              <a:cs typeface="Times New Roman" panose="02020603050405020304" pitchFamily="18" charset="0"/>
            </a:endParaRPr>
          </a:p>
          <a:p>
            <a:pPr marL="0" indent="-114300">
              <a:lnSpc>
                <a:spcPct val="100000"/>
              </a:lnSpc>
              <a:buClr>
                <a:srgbClr val="353535"/>
              </a:buClr>
            </a:pPr>
            <a:r>
              <a:rPr lang="en-US" sz="2400" dirty="0">
                <a:solidFill>
                  <a:srgbClr val="404040"/>
                </a:solidFill>
                <a:latin typeface="Times New Roman" panose="02020603050405020304" pitchFamily="18" charset="0"/>
                <a:cs typeface="Times New Roman" panose="02020603050405020304" pitchFamily="18" charset="0"/>
              </a:rPr>
              <a:t>The parentheses are not needed to designate the expression unambiguously.</a:t>
            </a:r>
            <a:endParaRPr lang="en-US" sz="2400" dirty="0">
              <a:latin typeface="Times New Roman" panose="02020603050405020304" pitchFamily="18" charset="0"/>
              <a:cs typeface="Times New Roman" panose="02020603050405020304" pitchFamily="18" charset="0"/>
            </a:endParaRPr>
          </a:p>
          <a:p>
            <a:pPr marL="0" indent="-114300">
              <a:lnSpc>
                <a:spcPct val="100000"/>
              </a:lnSpc>
              <a:buClr>
                <a:srgbClr val="353535"/>
              </a:buClr>
            </a:pPr>
            <a:r>
              <a:rPr lang="en-US" sz="2400" dirty="0">
                <a:solidFill>
                  <a:srgbClr val="404040"/>
                </a:solidFill>
                <a:latin typeface="Times New Roman" panose="02020603050405020304" pitchFamily="18" charset="0"/>
                <a:cs typeface="Times New Roman" panose="02020603050405020304" pitchFamily="18" charset="0"/>
              </a:rPr>
              <a:t>While evaluating the postfix expression the priority of the operators is no longer relevant.</a:t>
            </a:r>
            <a:endParaRPr lang="en-US" sz="2400" dirty="0">
              <a:latin typeface="Times New Roman" panose="02020603050405020304" pitchFamily="18" charset="0"/>
              <a:cs typeface="Times New Roman" panose="02020603050405020304" pitchFamily="18" charset="0"/>
            </a:endParaRPr>
          </a:p>
          <a:p>
            <a:pPr marL="0" indent="0" algn="ctr">
              <a:buClr>
                <a:srgbClr val="353535"/>
              </a:buClr>
              <a:buFont typeface="Noto Sans Symbols"/>
              <a:buNone/>
            </a:pPr>
            <a:endParaRPr lang="en-US" sz="1800" dirty="0">
              <a:solidFill>
                <a:srgbClr val="404040"/>
              </a:solidFill>
            </a:endParaRPr>
          </a:p>
        </p:txBody>
      </p:sp>
    </p:spTree>
    <p:extLst>
      <p:ext uri="{BB962C8B-B14F-4D97-AF65-F5344CB8AC3E}">
        <p14:creationId xmlns:p14="http://schemas.microsoft.com/office/powerpoint/2010/main" val="269297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78;p40">
            <a:extLst>
              <a:ext uri="{FF2B5EF4-FFF2-40B4-BE49-F238E27FC236}">
                <a16:creationId xmlns:a16="http://schemas.microsoft.com/office/drawing/2014/main" id="{B04C6EE6-6AC0-BE02-3A90-6623B3AC7289}"/>
              </a:ext>
            </a:extLst>
          </p:cNvPr>
          <p:cNvSpPr txBox="1">
            <a:spLocks/>
          </p:cNvSpPr>
          <p:nvPr/>
        </p:nvSpPr>
        <p:spPr>
          <a:xfrm>
            <a:off x="2913743" y="382109"/>
            <a:ext cx="7485062" cy="41878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a:solidFill>
                  <a:srgbClr val="404040"/>
                </a:solidFill>
              </a:rPr>
              <a:t>We consider five binary operations: +, -, *, / and $ or ↑ (exponentiation). For these binary operations, the following in the order of precedence (highest to lowest):</a:t>
            </a:r>
            <a:endParaRPr lang="en-US"/>
          </a:p>
          <a:p>
            <a:pPr marL="0" indent="0" algn="ctr">
              <a:buClr>
                <a:srgbClr val="353535"/>
              </a:buClr>
              <a:buFont typeface="Noto Sans Symbols"/>
              <a:buNone/>
            </a:pPr>
            <a:endParaRPr lang="en-US" sz="1800" dirty="0">
              <a:solidFill>
                <a:srgbClr val="404040"/>
              </a:solidFill>
            </a:endParaRPr>
          </a:p>
        </p:txBody>
      </p:sp>
      <p:pic>
        <p:nvPicPr>
          <p:cNvPr id="3" name="Google Shape;579;p40">
            <a:extLst>
              <a:ext uri="{FF2B5EF4-FFF2-40B4-BE49-F238E27FC236}">
                <a16:creationId xmlns:a16="http://schemas.microsoft.com/office/drawing/2014/main" id="{C6E88297-2827-2A9A-AF18-59C8A49E52D1}"/>
              </a:ext>
            </a:extLst>
          </p:cNvPr>
          <p:cNvPicPr preferRelativeResize="0"/>
          <p:nvPr/>
        </p:nvPicPr>
        <p:blipFill rotWithShape="1">
          <a:blip r:embed="rId4">
            <a:alphaModFix/>
          </a:blip>
          <a:srcRect/>
          <a:stretch/>
        </p:blipFill>
        <p:spPr>
          <a:xfrm>
            <a:off x="4560844" y="2161694"/>
            <a:ext cx="5138327" cy="2486506"/>
          </a:xfrm>
          <a:prstGeom prst="rect">
            <a:avLst/>
          </a:prstGeom>
          <a:noFill/>
          <a:ln>
            <a:noFill/>
          </a:ln>
        </p:spPr>
      </p:pic>
    </p:spTree>
    <p:extLst>
      <p:ext uri="{BB962C8B-B14F-4D97-AF65-F5344CB8AC3E}">
        <p14:creationId xmlns:p14="http://schemas.microsoft.com/office/powerpoint/2010/main" val="4090834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4" name="Google Shape;584;p41">
            <a:extLst>
              <a:ext uri="{FF2B5EF4-FFF2-40B4-BE49-F238E27FC236}">
                <a16:creationId xmlns:a16="http://schemas.microsoft.com/office/drawing/2014/main" id="{43882256-A6DE-B69F-2199-1862264EB358}"/>
              </a:ext>
            </a:extLst>
          </p:cNvPr>
          <p:cNvSpPr txBox="1">
            <a:spLocks/>
          </p:cNvSpPr>
          <p:nvPr/>
        </p:nvSpPr>
        <p:spPr>
          <a:xfrm>
            <a:off x="2777464" y="555171"/>
            <a:ext cx="4748212" cy="4489450"/>
          </a:xfrm>
          <a:prstGeom prst="rect">
            <a:avLst/>
          </a:prstGeom>
          <a:solidFill>
            <a:srgbClr val="FFC000"/>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fr-FR" sz="1800" b="1" dirty="0" err="1">
                <a:solidFill>
                  <a:srgbClr val="404040"/>
                </a:solidFill>
              </a:rPr>
              <a:t>Problem</a:t>
            </a:r>
            <a:r>
              <a:rPr lang="fr-FR" sz="1800" b="1" dirty="0">
                <a:solidFill>
                  <a:srgbClr val="404040"/>
                </a:solidFill>
              </a:rPr>
              <a:t> 1</a:t>
            </a:r>
            <a:endParaRPr lang="fr-FR" dirty="0"/>
          </a:p>
          <a:p>
            <a:pPr marL="0" indent="0">
              <a:lnSpc>
                <a:spcPct val="100000"/>
              </a:lnSpc>
              <a:buFont typeface="Arial"/>
              <a:buNone/>
            </a:pPr>
            <a:r>
              <a:rPr lang="fr-FR" sz="1800" b="1" dirty="0" err="1">
                <a:solidFill>
                  <a:srgbClr val="404040"/>
                </a:solidFill>
              </a:rPr>
              <a:t>Convert</a:t>
            </a:r>
            <a:r>
              <a:rPr lang="fr-FR" sz="1800" b="1" dirty="0">
                <a:solidFill>
                  <a:srgbClr val="404040"/>
                </a:solidFill>
              </a:rPr>
              <a:t> the </a:t>
            </a:r>
            <a:r>
              <a:rPr lang="fr-FR" sz="1800" b="1" dirty="0" err="1">
                <a:solidFill>
                  <a:srgbClr val="404040"/>
                </a:solidFill>
              </a:rPr>
              <a:t>following</a:t>
            </a:r>
            <a:r>
              <a:rPr lang="fr-FR" sz="1800" b="1" dirty="0">
                <a:solidFill>
                  <a:srgbClr val="404040"/>
                </a:solidFill>
              </a:rPr>
              <a:t> </a:t>
            </a:r>
            <a:r>
              <a:rPr lang="fr-FR" sz="1800" b="1" dirty="0" err="1">
                <a:solidFill>
                  <a:srgbClr val="404040"/>
                </a:solidFill>
              </a:rPr>
              <a:t>infix</a:t>
            </a:r>
            <a:r>
              <a:rPr lang="fr-FR" sz="1800" b="1" dirty="0">
                <a:solidFill>
                  <a:srgbClr val="404040"/>
                </a:solidFill>
              </a:rPr>
              <a:t> expression to </a:t>
            </a:r>
            <a:r>
              <a:rPr lang="fr-FR" sz="1800" b="1" dirty="0" err="1">
                <a:solidFill>
                  <a:srgbClr val="404040"/>
                </a:solidFill>
              </a:rPr>
              <a:t>postfix</a:t>
            </a:r>
            <a:r>
              <a:rPr lang="fr-FR" sz="1800" b="1" dirty="0">
                <a:solidFill>
                  <a:srgbClr val="404040"/>
                </a:solidFill>
              </a:rPr>
              <a:t> and </a:t>
            </a:r>
            <a:r>
              <a:rPr lang="fr-FR" sz="1800" b="1" dirty="0" err="1">
                <a:solidFill>
                  <a:srgbClr val="404040"/>
                </a:solidFill>
              </a:rPr>
              <a:t>prefix</a:t>
            </a:r>
            <a:endParaRPr lang="fr-FR" dirty="0"/>
          </a:p>
          <a:p>
            <a:pPr marL="0" indent="0">
              <a:lnSpc>
                <a:spcPct val="100000"/>
              </a:lnSpc>
              <a:buFont typeface="Arial"/>
              <a:buNone/>
            </a:pPr>
            <a:r>
              <a:rPr lang="fr-FR" sz="1800" b="1" dirty="0">
                <a:solidFill>
                  <a:srgbClr val="404040"/>
                </a:solidFill>
              </a:rPr>
              <a:t>( ( 6 + ( 3 – 2 ) * 4 ) ^ 5 + 7 )</a:t>
            </a:r>
            <a:endParaRPr lang="fr-FR" dirty="0"/>
          </a:p>
          <a:p>
            <a:pPr marL="0" indent="0">
              <a:lnSpc>
                <a:spcPct val="100000"/>
              </a:lnSpc>
              <a:buFont typeface="Arial"/>
              <a:buNone/>
            </a:pPr>
            <a:r>
              <a:rPr lang="fr-FR" sz="1800" dirty="0" err="1">
                <a:solidFill>
                  <a:srgbClr val="404040"/>
                </a:solidFill>
              </a:rPr>
              <a:t>Postfix</a:t>
            </a:r>
            <a:r>
              <a:rPr lang="fr-FR" sz="1800" dirty="0">
                <a:solidFill>
                  <a:srgbClr val="404040"/>
                </a:solidFill>
              </a:rPr>
              <a:t> Conversion	</a:t>
            </a:r>
            <a:endParaRPr lang="fr-FR" dirty="0"/>
          </a:p>
          <a:p>
            <a:pPr marL="0" indent="0">
              <a:lnSpc>
                <a:spcPct val="100000"/>
              </a:lnSpc>
              <a:buFont typeface="Arial"/>
              <a:buNone/>
            </a:pPr>
            <a:r>
              <a:rPr lang="fr-FR" sz="1800" dirty="0">
                <a:solidFill>
                  <a:srgbClr val="404040"/>
                </a:solidFill>
              </a:rPr>
              <a:t>( ( 6 + ( 3 – 2 ) * 4 ) ^ 5 + 7 )	// T1 = 3 2 -</a:t>
            </a:r>
            <a:endParaRPr lang="fr-FR" dirty="0"/>
          </a:p>
          <a:p>
            <a:pPr marL="0" indent="0">
              <a:lnSpc>
                <a:spcPct val="100000"/>
              </a:lnSpc>
              <a:buFont typeface="Arial"/>
              <a:buNone/>
            </a:pPr>
            <a:r>
              <a:rPr lang="fr-FR" sz="1800" dirty="0">
                <a:solidFill>
                  <a:srgbClr val="404040"/>
                </a:solidFill>
              </a:rPr>
              <a:t>( ( 6 + T1 * 4 ) ^ 5 + 7 )	// T2 = T1 4 *</a:t>
            </a:r>
            <a:endParaRPr lang="fr-FR" dirty="0"/>
          </a:p>
          <a:p>
            <a:pPr marL="0" indent="0">
              <a:lnSpc>
                <a:spcPct val="100000"/>
              </a:lnSpc>
              <a:buFont typeface="Arial"/>
              <a:buNone/>
            </a:pPr>
            <a:r>
              <a:rPr lang="fr-FR" sz="1800" dirty="0">
                <a:solidFill>
                  <a:srgbClr val="404040"/>
                </a:solidFill>
              </a:rPr>
              <a:t>( ( 6 + T2 ) ^ 5 + 7 )		// T3 = 6 T2 +</a:t>
            </a:r>
            <a:endParaRPr lang="fr-FR" dirty="0"/>
          </a:p>
          <a:p>
            <a:pPr marL="0" indent="0">
              <a:lnSpc>
                <a:spcPct val="100000"/>
              </a:lnSpc>
              <a:buFont typeface="Arial"/>
              <a:buNone/>
            </a:pPr>
            <a:r>
              <a:rPr lang="fr-FR" sz="1800" dirty="0">
                <a:solidFill>
                  <a:srgbClr val="404040"/>
                </a:solidFill>
              </a:rPr>
              <a:t>( T3 ^ 5 + 7 )		// T4 = T3 5 ^</a:t>
            </a:r>
            <a:endParaRPr lang="fr-FR" dirty="0"/>
          </a:p>
          <a:p>
            <a:pPr marL="0" indent="0">
              <a:lnSpc>
                <a:spcPct val="100000"/>
              </a:lnSpc>
              <a:buFont typeface="Arial"/>
              <a:buNone/>
            </a:pPr>
            <a:r>
              <a:rPr lang="fr-FR" sz="1800" dirty="0">
                <a:solidFill>
                  <a:srgbClr val="404040"/>
                </a:solidFill>
              </a:rPr>
              <a:t>( T4 + 7 )			// T5 = T4 7 +</a:t>
            </a:r>
            <a:endParaRPr lang="fr-FR" dirty="0"/>
          </a:p>
          <a:p>
            <a:pPr marL="0" indent="0">
              <a:lnSpc>
                <a:spcPct val="100000"/>
              </a:lnSpc>
              <a:buFont typeface="Arial"/>
              <a:buNone/>
            </a:pPr>
            <a:r>
              <a:rPr lang="fr-FR" sz="1800" dirty="0">
                <a:solidFill>
                  <a:srgbClr val="404040"/>
                </a:solidFill>
              </a:rPr>
              <a:t>T5</a:t>
            </a:r>
            <a:endParaRPr lang="fr-FR" dirty="0"/>
          </a:p>
        </p:txBody>
      </p:sp>
      <p:sp>
        <p:nvSpPr>
          <p:cNvPr id="5" name="Google Shape;585;p41">
            <a:extLst>
              <a:ext uri="{FF2B5EF4-FFF2-40B4-BE49-F238E27FC236}">
                <a16:creationId xmlns:a16="http://schemas.microsoft.com/office/drawing/2014/main" id="{6B3AF92A-3897-17A3-3FD3-95D279E95873}"/>
              </a:ext>
            </a:extLst>
          </p:cNvPr>
          <p:cNvSpPr txBox="1"/>
          <p:nvPr/>
        </p:nvSpPr>
        <p:spPr>
          <a:xfrm>
            <a:off x="7793507" y="1598928"/>
            <a:ext cx="2946400" cy="1754187"/>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T4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T3 5 ^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6 T2 + 5 ^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6 T1 4 * + 5 ^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6 3 2 - 4 * + 5 ^ 7 +		(Postfix Expression)</a:t>
            </a:r>
            <a:endParaRPr dirty="0"/>
          </a:p>
        </p:txBody>
      </p:sp>
    </p:spTree>
    <p:extLst>
      <p:ext uri="{BB962C8B-B14F-4D97-AF65-F5344CB8AC3E}">
        <p14:creationId xmlns:p14="http://schemas.microsoft.com/office/powerpoint/2010/main" val="128901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590;p42">
            <a:extLst>
              <a:ext uri="{FF2B5EF4-FFF2-40B4-BE49-F238E27FC236}">
                <a16:creationId xmlns:a16="http://schemas.microsoft.com/office/drawing/2014/main" id="{79685B17-85BD-8348-DA79-2065F08CDE87}"/>
              </a:ext>
            </a:extLst>
          </p:cNvPr>
          <p:cNvSpPr txBox="1">
            <a:spLocks/>
          </p:cNvSpPr>
          <p:nvPr/>
        </p:nvSpPr>
        <p:spPr>
          <a:xfrm>
            <a:off x="2541083" y="462595"/>
            <a:ext cx="4748212" cy="4489450"/>
          </a:xfrm>
          <a:prstGeom prst="rect">
            <a:avLst/>
          </a:prstGeom>
          <a:solidFill>
            <a:srgbClr val="FFC000"/>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fr-FR" sz="1800" b="1">
                <a:solidFill>
                  <a:srgbClr val="404040"/>
                </a:solidFill>
              </a:rPr>
              <a:t>Problem 1</a:t>
            </a:r>
            <a:endParaRPr lang="fr-FR"/>
          </a:p>
          <a:p>
            <a:pPr marL="0" indent="0">
              <a:lnSpc>
                <a:spcPct val="100000"/>
              </a:lnSpc>
              <a:buFont typeface="Arial"/>
              <a:buNone/>
            </a:pPr>
            <a:r>
              <a:rPr lang="fr-FR" sz="1800" b="1">
                <a:solidFill>
                  <a:srgbClr val="404040"/>
                </a:solidFill>
              </a:rPr>
              <a:t>Convert the following infix expression to postfix and prefix</a:t>
            </a:r>
            <a:endParaRPr lang="fr-FR"/>
          </a:p>
          <a:p>
            <a:pPr marL="0" indent="0">
              <a:lnSpc>
                <a:spcPct val="100000"/>
              </a:lnSpc>
              <a:buFont typeface="Arial"/>
              <a:buNone/>
            </a:pPr>
            <a:r>
              <a:rPr lang="fr-FR" sz="1800" b="1">
                <a:solidFill>
                  <a:srgbClr val="404040"/>
                </a:solidFill>
              </a:rPr>
              <a:t>( ( 6 + ( 3 – 2 ) * 4 ) ^ 5 + 7 )</a:t>
            </a:r>
            <a:endParaRPr lang="fr-FR"/>
          </a:p>
          <a:p>
            <a:pPr marL="0" indent="0">
              <a:lnSpc>
                <a:spcPct val="100000"/>
              </a:lnSpc>
              <a:buFont typeface="Arial"/>
              <a:buNone/>
            </a:pPr>
            <a:r>
              <a:rPr lang="fr-FR" sz="1800">
                <a:solidFill>
                  <a:srgbClr val="404040"/>
                </a:solidFill>
              </a:rPr>
              <a:t>Prefix Conversion</a:t>
            </a:r>
            <a:endParaRPr lang="fr-FR"/>
          </a:p>
          <a:p>
            <a:pPr marL="0" indent="0">
              <a:lnSpc>
                <a:spcPct val="100000"/>
              </a:lnSpc>
              <a:buFont typeface="Arial"/>
              <a:buNone/>
            </a:pPr>
            <a:r>
              <a:rPr lang="fr-FR" sz="1800">
                <a:solidFill>
                  <a:srgbClr val="404040"/>
                </a:solidFill>
              </a:rPr>
              <a:t>( ( 6 + ( 3 – 2 ) * 4 ) ^ 5 + 7 )	// T1 = - 3 2 </a:t>
            </a:r>
            <a:endParaRPr lang="fr-FR"/>
          </a:p>
          <a:p>
            <a:pPr marL="0" indent="0">
              <a:lnSpc>
                <a:spcPct val="100000"/>
              </a:lnSpc>
              <a:buFont typeface="Arial"/>
              <a:buNone/>
            </a:pPr>
            <a:r>
              <a:rPr lang="fr-FR" sz="1800">
                <a:solidFill>
                  <a:srgbClr val="404040"/>
                </a:solidFill>
              </a:rPr>
              <a:t>( ( 6 + T1 * 4 ) ^ 5 + 7 )	// T2 = * T1 4 </a:t>
            </a:r>
            <a:endParaRPr lang="fr-FR"/>
          </a:p>
          <a:p>
            <a:pPr marL="0" indent="0">
              <a:lnSpc>
                <a:spcPct val="100000"/>
              </a:lnSpc>
              <a:buFont typeface="Arial"/>
              <a:buNone/>
            </a:pPr>
            <a:r>
              <a:rPr lang="fr-FR" sz="1800">
                <a:solidFill>
                  <a:srgbClr val="404040"/>
                </a:solidFill>
              </a:rPr>
              <a:t>( ( 6 + T2 ) ^ 5 + 7 )		// T3 = + 6 T2 </a:t>
            </a:r>
            <a:endParaRPr lang="fr-FR"/>
          </a:p>
          <a:p>
            <a:pPr marL="0" indent="0">
              <a:lnSpc>
                <a:spcPct val="100000"/>
              </a:lnSpc>
              <a:buFont typeface="Arial"/>
              <a:buNone/>
            </a:pPr>
            <a:r>
              <a:rPr lang="fr-FR" sz="1800">
                <a:solidFill>
                  <a:srgbClr val="404040"/>
                </a:solidFill>
              </a:rPr>
              <a:t>( T3 ^ 5 + 7 )		// T4 = ^ T3 5 </a:t>
            </a:r>
            <a:endParaRPr lang="fr-FR"/>
          </a:p>
          <a:p>
            <a:pPr marL="0" indent="0">
              <a:lnSpc>
                <a:spcPct val="100000"/>
              </a:lnSpc>
              <a:buFont typeface="Arial"/>
              <a:buNone/>
            </a:pPr>
            <a:r>
              <a:rPr lang="fr-FR" sz="1800">
                <a:solidFill>
                  <a:srgbClr val="404040"/>
                </a:solidFill>
              </a:rPr>
              <a:t>( T4 + 7 )			// T5 = + T4 7 </a:t>
            </a:r>
            <a:endParaRPr lang="fr-FR"/>
          </a:p>
          <a:p>
            <a:pPr marL="0" indent="0">
              <a:lnSpc>
                <a:spcPct val="100000"/>
              </a:lnSpc>
              <a:buFont typeface="Arial"/>
              <a:buNone/>
            </a:pPr>
            <a:r>
              <a:rPr lang="fr-FR" sz="1800">
                <a:solidFill>
                  <a:srgbClr val="404040"/>
                </a:solidFill>
              </a:rPr>
              <a:t>T5</a:t>
            </a:r>
            <a:endParaRPr lang="fr-FR" dirty="0"/>
          </a:p>
        </p:txBody>
      </p:sp>
      <p:sp>
        <p:nvSpPr>
          <p:cNvPr id="3" name="Google Shape;591;p42">
            <a:extLst>
              <a:ext uri="{FF2B5EF4-FFF2-40B4-BE49-F238E27FC236}">
                <a16:creationId xmlns:a16="http://schemas.microsoft.com/office/drawing/2014/main" id="{D533843B-A77A-5253-B81B-F2A379FA571E}"/>
              </a:ext>
            </a:extLst>
          </p:cNvPr>
          <p:cNvSpPr txBox="1"/>
          <p:nvPr/>
        </p:nvSpPr>
        <p:spPr>
          <a:xfrm>
            <a:off x="7793507" y="1359376"/>
            <a:ext cx="2946400" cy="1754187"/>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+T4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 ^ T3 5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 ^ + 6 T2 5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 ^ + 6 * T1 4 5 7 </a:t>
            </a:r>
            <a:endParaRPr dirty="0"/>
          </a:p>
          <a:p>
            <a:pPr marL="0" marR="0" lvl="0" indent="0" algn="l" rtl="0">
              <a:lnSpc>
                <a:spcPct val="100000"/>
              </a:lnSpc>
              <a:spcBef>
                <a:spcPts val="0"/>
              </a:spcBef>
              <a:spcAft>
                <a:spcPts val="0"/>
              </a:spcAft>
              <a:buClr>
                <a:srgbClr val="000000"/>
              </a:buClr>
              <a:buSzPts val="1800"/>
              <a:buFont typeface="Calibri"/>
              <a:buNone/>
            </a:pPr>
            <a:r>
              <a:rPr lang="en-US" sz="1800" b="0" i="0" u="none" dirty="0">
                <a:solidFill>
                  <a:srgbClr val="000000"/>
                </a:solidFill>
                <a:latin typeface="Calibri"/>
                <a:ea typeface="Calibri"/>
                <a:cs typeface="Calibri"/>
                <a:sym typeface="Calibri"/>
              </a:rPr>
              <a:t>+ ^ + 6 * - 3 2 4 5 7 		(Prefix Expression)</a:t>
            </a:r>
            <a:endParaRPr dirty="0"/>
          </a:p>
        </p:txBody>
      </p:sp>
    </p:spTree>
    <p:extLst>
      <p:ext uri="{BB962C8B-B14F-4D97-AF65-F5344CB8AC3E}">
        <p14:creationId xmlns:p14="http://schemas.microsoft.com/office/powerpoint/2010/main" val="311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07;p45">
            <a:extLst>
              <a:ext uri="{FF2B5EF4-FFF2-40B4-BE49-F238E27FC236}">
                <a16:creationId xmlns:a16="http://schemas.microsoft.com/office/drawing/2014/main" id="{33301A2E-1772-3D6B-E57C-00E6E7CC069C}"/>
              </a:ext>
            </a:extLst>
          </p:cNvPr>
          <p:cNvSpPr txBox="1">
            <a:spLocks/>
          </p:cNvSpPr>
          <p:nvPr/>
        </p:nvSpPr>
        <p:spPr>
          <a:xfrm>
            <a:off x="3145207" y="753268"/>
            <a:ext cx="7472362" cy="43576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b="1" dirty="0">
                <a:solidFill>
                  <a:srgbClr val="404040"/>
                </a:solidFill>
                <a:latin typeface="Times New Roman" panose="02020603050405020304" pitchFamily="18" charset="0"/>
                <a:cs typeface="Times New Roman" panose="02020603050405020304" pitchFamily="18" charset="0"/>
              </a:rPr>
              <a:t>Converting expressions using Stack:</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Let us convert the expressions from one type to another. These can be done as follows(Refer class notes)</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1. Infix to postfix</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2. Infix to prefix</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3. Postfix to infix</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4. Postfix to prefix</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5. Prefix to infix</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6. Prefix to postfix</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300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12;p46">
            <a:extLst>
              <a:ext uri="{FF2B5EF4-FFF2-40B4-BE49-F238E27FC236}">
                <a16:creationId xmlns:a16="http://schemas.microsoft.com/office/drawing/2014/main" id="{E037E9E2-1042-7C3F-5886-401F41BD340E}"/>
              </a:ext>
            </a:extLst>
          </p:cNvPr>
          <p:cNvSpPr txBox="1">
            <a:spLocks/>
          </p:cNvSpPr>
          <p:nvPr/>
        </p:nvSpPr>
        <p:spPr>
          <a:xfrm>
            <a:off x="2716258" y="774699"/>
            <a:ext cx="8116770" cy="55499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Clr>
                <a:srgbClr val="353535"/>
              </a:buClr>
              <a:buSzPts val="1800"/>
              <a:buFont typeface="Noto Sans Symbols"/>
              <a:buNone/>
            </a:pPr>
            <a:r>
              <a:rPr lang="en-US" sz="2000" b="1" dirty="0">
                <a:solidFill>
                  <a:srgbClr val="404040"/>
                </a:solidFill>
                <a:latin typeface="Times New Roman" panose="02020603050405020304" pitchFamily="18" charset="0"/>
                <a:cs typeface="Times New Roman" panose="02020603050405020304" pitchFamily="18" charset="0"/>
              </a:rPr>
              <a:t>CONVERSION FROM INFIX TO POSTFIX</a:t>
            </a:r>
            <a:endParaRPr lang="en-US" sz="2000" dirty="0">
              <a:latin typeface="Times New Roman" panose="02020603050405020304" pitchFamily="18" charset="0"/>
              <a:cs typeface="Times New Roman" panose="02020603050405020304" pitchFamily="18" charset="0"/>
            </a:endParaRPr>
          </a:p>
          <a:p>
            <a:pPr marL="0" indent="0">
              <a:lnSpc>
                <a:spcPct val="100000"/>
              </a:lnSpc>
              <a:buClr>
                <a:srgbClr val="353535"/>
              </a:buClr>
              <a:buSzPts val="1800"/>
              <a:buFont typeface="Noto Sans Symbols"/>
              <a:buNone/>
            </a:pPr>
            <a:r>
              <a:rPr lang="en-US" sz="2000" dirty="0">
                <a:solidFill>
                  <a:srgbClr val="404040"/>
                </a:solidFill>
                <a:latin typeface="Times New Roman" panose="02020603050405020304" pitchFamily="18" charset="0"/>
                <a:cs typeface="Times New Roman" panose="02020603050405020304" pitchFamily="18" charset="0"/>
              </a:rPr>
              <a:t>Procedure to convert from infix expression to postfix expression is as follows:</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Clr>
                <a:srgbClr val="353535"/>
              </a:buClr>
              <a:buSzPts val="1600"/>
              <a:buFont typeface="Noto Sans Symbols"/>
              <a:buNone/>
            </a:pPr>
            <a:r>
              <a:rPr lang="en-US" sz="2000" dirty="0">
                <a:solidFill>
                  <a:srgbClr val="404040"/>
                </a:solidFill>
                <a:latin typeface="Times New Roman" panose="02020603050405020304" pitchFamily="18" charset="0"/>
                <a:cs typeface="Times New Roman" panose="02020603050405020304" pitchFamily="18" charset="0"/>
              </a:rPr>
              <a:t>1.Scan the infix expression from left to right.</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Clr>
                <a:srgbClr val="353535"/>
              </a:buClr>
              <a:buSzPts val="1600"/>
              <a:buFont typeface="Noto Sans Symbols"/>
              <a:buNone/>
            </a:pPr>
            <a:r>
              <a:rPr lang="en-US" sz="2000" dirty="0">
                <a:solidFill>
                  <a:srgbClr val="404040"/>
                </a:solidFill>
                <a:latin typeface="Times New Roman" panose="02020603050405020304" pitchFamily="18" charset="0"/>
                <a:cs typeface="Times New Roman" panose="02020603050405020304" pitchFamily="18" charset="0"/>
              </a:rPr>
              <a:t>2.a) If the scanned symbol is left parenthesis, push it onto the stack.</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Clr>
                <a:srgbClr val="353535"/>
              </a:buClr>
              <a:buSzPts val="1600"/>
              <a:buFont typeface="Noto Sans Symbols"/>
              <a:buNone/>
            </a:pPr>
            <a:r>
              <a:rPr lang="en-US" sz="2000" dirty="0">
                <a:solidFill>
                  <a:srgbClr val="404040"/>
                </a:solidFill>
                <a:latin typeface="Times New Roman" panose="02020603050405020304" pitchFamily="18" charset="0"/>
                <a:cs typeface="Times New Roman" panose="02020603050405020304" pitchFamily="18" charset="0"/>
              </a:rPr>
              <a:t>b) If the scanned symbol is an operand, then place directly in the postfix  expression (output).</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Clr>
                <a:srgbClr val="353535"/>
              </a:buClr>
              <a:buSzPts val="1600"/>
              <a:buFont typeface="Noto Sans Symbols"/>
              <a:buNone/>
            </a:pPr>
            <a:r>
              <a:rPr lang="en-US" sz="2000" dirty="0">
                <a:solidFill>
                  <a:srgbClr val="404040"/>
                </a:solidFill>
                <a:latin typeface="Times New Roman" panose="02020603050405020304" pitchFamily="18" charset="0"/>
                <a:cs typeface="Times New Roman" panose="02020603050405020304" pitchFamily="18" charset="0"/>
              </a:rPr>
              <a:t>c) If the symbol scanned is a right parenthesis, then go on popping all the items from the stack and place them in the postfix expression till we get the matching left parenthesis.</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Clr>
                <a:srgbClr val="353535"/>
              </a:buClr>
              <a:buSzPts val="1600"/>
              <a:buFont typeface="Noto Sans Symbols"/>
              <a:buNone/>
            </a:pPr>
            <a:r>
              <a:rPr lang="en-US" sz="2000" dirty="0">
                <a:solidFill>
                  <a:srgbClr val="404040"/>
                </a:solidFill>
                <a:latin typeface="Times New Roman" panose="02020603050405020304" pitchFamily="18" charset="0"/>
                <a:cs typeface="Times New Roman" panose="02020603050405020304" pitchFamily="18" charset="0"/>
              </a:rPr>
              <a:t>d)</a:t>
            </a:r>
            <a:r>
              <a:rPr lang="en-US" sz="2000" dirty="0">
                <a:solidFill>
                  <a:srgbClr val="92D050"/>
                </a:solidFill>
                <a:latin typeface="Times New Roman" panose="02020603050405020304" pitchFamily="18" charset="0"/>
                <a:cs typeface="Times New Roman" panose="02020603050405020304" pitchFamily="18" charset="0"/>
              </a:rPr>
              <a:t> </a:t>
            </a:r>
            <a:r>
              <a:rPr lang="en-US" sz="2000" dirty="0">
                <a:solidFill>
                  <a:srgbClr val="14CD68"/>
                </a:solidFill>
                <a:latin typeface="Times New Roman" panose="02020603050405020304" pitchFamily="18" charset="0"/>
                <a:cs typeface="Times New Roman" panose="02020603050405020304" pitchFamily="18" charset="0"/>
              </a:rPr>
              <a:t>If the scanned symbol is an operator, then go on removing all the operators from the stack and place them in the postfix expression,</a:t>
            </a:r>
            <a:r>
              <a:rPr lang="en-US" sz="2000" dirty="0">
                <a:solidFill>
                  <a:srgbClr val="404040"/>
                </a:solidFill>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if and only if the precedence of the operator which is on the top of the stack is greater than (or greater than or equal) to the precedence of the scanned operator </a:t>
            </a:r>
            <a:r>
              <a:rPr lang="en-US" sz="2000" dirty="0">
                <a:solidFill>
                  <a:srgbClr val="FF0000"/>
                </a:solidFill>
                <a:latin typeface="Times New Roman" panose="02020603050405020304" pitchFamily="18" charset="0"/>
                <a:cs typeface="Times New Roman" panose="02020603050405020304" pitchFamily="18" charset="0"/>
              </a:rPr>
              <a:t>and push the scanned operator onto the stack otherwise.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754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17;p47">
            <a:extLst>
              <a:ext uri="{FF2B5EF4-FFF2-40B4-BE49-F238E27FC236}">
                <a16:creationId xmlns:a16="http://schemas.microsoft.com/office/drawing/2014/main" id="{AB895538-5FC2-C864-EC8B-E56F8D1B7F24}"/>
              </a:ext>
            </a:extLst>
          </p:cNvPr>
          <p:cNvSpPr txBox="1">
            <a:spLocks/>
          </p:cNvSpPr>
          <p:nvPr/>
        </p:nvSpPr>
        <p:spPr>
          <a:xfrm>
            <a:off x="2633208" y="440644"/>
            <a:ext cx="7735887" cy="43021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buFont typeface="Arial"/>
              <a:buNone/>
            </a:pPr>
            <a:r>
              <a:rPr lang="en-US" sz="2000" dirty="0">
                <a:solidFill>
                  <a:srgbClr val="404040"/>
                </a:solidFill>
              </a:rPr>
              <a:t>Example 1:</a:t>
            </a:r>
            <a:endParaRPr lang="en-US" dirty="0"/>
          </a:p>
          <a:p>
            <a:pPr marL="0" indent="0">
              <a:lnSpc>
                <a:spcPct val="100000"/>
              </a:lnSpc>
              <a:buSzPts val="2000"/>
              <a:buFont typeface="Arial"/>
              <a:buNone/>
            </a:pPr>
            <a:r>
              <a:rPr lang="en-US" sz="2000" dirty="0">
                <a:solidFill>
                  <a:srgbClr val="404040"/>
                </a:solidFill>
              </a:rPr>
              <a:t>Convert ((A – (B + C)) * D) ↑ (E + F) infix expression to postfix form:</a:t>
            </a:r>
            <a:endParaRPr lang="en-US" dirty="0"/>
          </a:p>
          <a:p>
            <a:pPr marL="0" indent="0" algn="ctr">
              <a:buClr>
                <a:srgbClr val="353535"/>
              </a:buClr>
              <a:buSzPts val="2000"/>
              <a:buFont typeface="Noto Sans Symbols"/>
              <a:buNone/>
            </a:pPr>
            <a:endParaRPr lang="en-US" sz="2000" dirty="0">
              <a:solidFill>
                <a:srgbClr val="404040"/>
              </a:solidFill>
            </a:endParaRPr>
          </a:p>
        </p:txBody>
      </p:sp>
      <p:pic>
        <p:nvPicPr>
          <p:cNvPr id="3" name="Google Shape;618;p47">
            <a:extLst>
              <a:ext uri="{FF2B5EF4-FFF2-40B4-BE49-F238E27FC236}">
                <a16:creationId xmlns:a16="http://schemas.microsoft.com/office/drawing/2014/main" id="{CA351AB1-0B7D-C82A-0394-FDF4391DCB3F}"/>
              </a:ext>
            </a:extLst>
          </p:cNvPr>
          <p:cNvPicPr preferRelativeResize="0"/>
          <p:nvPr/>
        </p:nvPicPr>
        <p:blipFill rotWithShape="1">
          <a:blip r:embed="rId4">
            <a:alphaModFix/>
          </a:blip>
          <a:srcRect/>
          <a:stretch/>
        </p:blipFill>
        <p:spPr>
          <a:xfrm>
            <a:off x="3572275" y="1585703"/>
            <a:ext cx="7260753" cy="5000153"/>
          </a:xfrm>
          <a:prstGeom prst="rect">
            <a:avLst/>
          </a:prstGeom>
          <a:noFill/>
          <a:ln>
            <a:noFill/>
          </a:ln>
        </p:spPr>
      </p:pic>
    </p:spTree>
    <p:extLst>
      <p:ext uri="{BB962C8B-B14F-4D97-AF65-F5344CB8AC3E}">
        <p14:creationId xmlns:p14="http://schemas.microsoft.com/office/powerpoint/2010/main" val="422452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23;p48">
            <a:extLst>
              <a:ext uri="{FF2B5EF4-FFF2-40B4-BE49-F238E27FC236}">
                <a16:creationId xmlns:a16="http://schemas.microsoft.com/office/drawing/2014/main" id="{14E3EB77-1E2E-0517-43EB-14BE7BC36745}"/>
              </a:ext>
            </a:extLst>
          </p:cNvPr>
          <p:cNvSpPr txBox="1">
            <a:spLocks/>
          </p:cNvSpPr>
          <p:nvPr/>
        </p:nvSpPr>
        <p:spPr>
          <a:xfrm>
            <a:off x="2460068" y="634637"/>
            <a:ext cx="7645400" cy="45688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600"/>
              <a:buFont typeface="Arial"/>
              <a:buNone/>
            </a:pPr>
            <a:r>
              <a:rPr lang="en-US" sz="1600" b="1">
                <a:solidFill>
                  <a:srgbClr val="404040"/>
                </a:solidFill>
              </a:rPr>
              <a:t>Example 2:</a:t>
            </a:r>
            <a:endParaRPr lang="en-US"/>
          </a:p>
          <a:p>
            <a:pPr marL="0" indent="0">
              <a:lnSpc>
                <a:spcPct val="100000"/>
              </a:lnSpc>
              <a:buSzPts val="1600"/>
              <a:buFont typeface="Arial"/>
              <a:buNone/>
            </a:pPr>
            <a:r>
              <a:rPr lang="en-US" sz="1600" b="1">
                <a:solidFill>
                  <a:srgbClr val="404040"/>
                </a:solidFill>
              </a:rPr>
              <a:t>Convert the following infix expression A + B * C – D / E * H into its equivalent postfix</a:t>
            </a:r>
            <a:endParaRPr lang="en-US"/>
          </a:p>
          <a:p>
            <a:pPr marL="0" indent="0">
              <a:lnSpc>
                <a:spcPct val="100000"/>
              </a:lnSpc>
              <a:buSzPts val="1600"/>
              <a:buFont typeface="Arial"/>
              <a:buNone/>
            </a:pPr>
            <a:r>
              <a:rPr lang="en-US" sz="1600" b="1">
                <a:solidFill>
                  <a:srgbClr val="404040"/>
                </a:solidFill>
              </a:rPr>
              <a:t>Expression</a:t>
            </a:r>
            <a:endParaRPr lang="en-US" dirty="0"/>
          </a:p>
        </p:txBody>
      </p:sp>
      <p:pic>
        <p:nvPicPr>
          <p:cNvPr id="3" name="Google Shape;624;p48">
            <a:extLst>
              <a:ext uri="{FF2B5EF4-FFF2-40B4-BE49-F238E27FC236}">
                <a16:creationId xmlns:a16="http://schemas.microsoft.com/office/drawing/2014/main" id="{4B2EED3C-6988-6042-6D47-AF28DE25D099}"/>
              </a:ext>
            </a:extLst>
          </p:cNvPr>
          <p:cNvPicPr preferRelativeResize="0"/>
          <p:nvPr/>
        </p:nvPicPr>
        <p:blipFill rotWithShape="1">
          <a:blip r:embed="rId4">
            <a:alphaModFix/>
          </a:blip>
          <a:srcRect/>
          <a:stretch/>
        </p:blipFill>
        <p:spPr>
          <a:xfrm>
            <a:off x="3104963" y="2030606"/>
            <a:ext cx="7056437" cy="3424237"/>
          </a:xfrm>
          <a:prstGeom prst="rect">
            <a:avLst/>
          </a:prstGeom>
          <a:noFill/>
          <a:ln>
            <a:noFill/>
          </a:ln>
        </p:spPr>
      </p:pic>
    </p:spTree>
    <p:extLst>
      <p:ext uri="{BB962C8B-B14F-4D97-AF65-F5344CB8AC3E}">
        <p14:creationId xmlns:p14="http://schemas.microsoft.com/office/powerpoint/2010/main" val="298873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29;p49">
            <a:extLst>
              <a:ext uri="{FF2B5EF4-FFF2-40B4-BE49-F238E27FC236}">
                <a16:creationId xmlns:a16="http://schemas.microsoft.com/office/drawing/2014/main" id="{14341D0C-9F9B-000A-CFD7-1D1B20CA58E5}"/>
              </a:ext>
            </a:extLst>
          </p:cNvPr>
          <p:cNvSpPr txBox="1">
            <a:spLocks/>
          </p:cNvSpPr>
          <p:nvPr/>
        </p:nvSpPr>
        <p:spPr>
          <a:xfrm>
            <a:off x="2730863" y="360815"/>
            <a:ext cx="7724775" cy="43926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600"/>
              <a:buFont typeface="Arial"/>
              <a:buNone/>
            </a:pPr>
            <a:r>
              <a:rPr lang="en-US" sz="1600" b="1">
                <a:solidFill>
                  <a:srgbClr val="404040"/>
                </a:solidFill>
              </a:rPr>
              <a:t>Convert the expression ( 6 + ( 5 – 3 ) * 4 ) to postfix</a:t>
            </a:r>
            <a:endParaRPr lang="en-US"/>
          </a:p>
          <a:p>
            <a:pPr marL="0" indent="0" algn="ctr">
              <a:buClr>
                <a:srgbClr val="353535"/>
              </a:buClr>
              <a:buSzPts val="1600"/>
              <a:buFont typeface="Noto Sans Symbols"/>
              <a:buNone/>
            </a:pPr>
            <a:endParaRPr lang="en-US" sz="1600" b="1" dirty="0">
              <a:solidFill>
                <a:srgbClr val="404040"/>
              </a:solidFill>
            </a:endParaRPr>
          </a:p>
        </p:txBody>
      </p:sp>
      <p:pic>
        <p:nvPicPr>
          <p:cNvPr id="3" name="Google Shape;630;p49">
            <a:extLst>
              <a:ext uri="{FF2B5EF4-FFF2-40B4-BE49-F238E27FC236}">
                <a16:creationId xmlns:a16="http://schemas.microsoft.com/office/drawing/2014/main" id="{BD775129-094B-522E-BC07-C0B2CF2EBE1D}"/>
              </a:ext>
            </a:extLst>
          </p:cNvPr>
          <p:cNvPicPr preferRelativeResize="0"/>
          <p:nvPr/>
        </p:nvPicPr>
        <p:blipFill rotWithShape="1">
          <a:blip r:embed="rId4">
            <a:alphaModFix/>
          </a:blip>
          <a:srcRect/>
          <a:stretch/>
        </p:blipFill>
        <p:spPr>
          <a:xfrm>
            <a:off x="3338081" y="1028700"/>
            <a:ext cx="6510337" cy="4435475"/>
          </a:xfrm>
          <a:prstGeom prst="rect">
            <a:avLst/>
          </a:prstGeom>
          <a:noFill/>
          <a:ln>
            <a:noFill/>
          </a:ln>
        </p:spPr>
      </p:pic>
    </p:spTree>
    <p:extLst>
      <p:ext uri="{BB962C8B-B14F-4D97-AF65-F5344CB8AC3E}">
        <p14:creationId xmlns:p14="http://schemas.microsoft.com/office/powerpoint/2010/main" val="265018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35;p50">
            <a:extLst>
              <a:ext uri="{FF2B5EF4-FFF2-40B4-BE49-F238E27FC236}">
                <a16:creationId xmlns:a16="http://schemas.microsoft.com/office/drawing/2014/main" id="{9890F6E8-41EC-2430-1DFF-04877C713DFF}"/>
              </a:ext>
            </a:extLst>
          </p:cNvPr>
          <p:cNvSpPr txBox="1">
            <a:spLocks/>
          </p:cNvSpPr>
          <p:nvPr/>
        </p:nvSpPr>
        <p:spPr>
          <a:xfrm>
            <a:off x="3233666" y="417740"/>
            <a:ext cx="7599362" cy="44370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600"/>
              <a:buFont typeface="Arial"/>
              <a:buNone/>
            </a:pPr>
            <a:r>
              <a:rPr lang="en-US" sz="1600" b="1">
                <a:solidFill>
                  <a:srgbClr val="404040"/>
                </a:solidFill>
              </a:rPr>
              <a:t>Convert the expression 6 + 4 * 3 to postfix</a:t>
            </a:r>
            <a:endParaRPr lang="en-US"/>
          </a:p>
          <a:p>
            <a:pPr marL="0" indent="0" algn="ctr">
              <a:buClr>
                <a:srgbClr val="353535"/>
              </a:buClr>
              <a:buSzPts val="1600"/>
              <a:buFont typeface="Noto Sans Symbols"/>
              <a:buNone/>
            </a:pPr>
            <a:endParaRPr lang="en-US" sz="1600" b="1" dirty="0">
              <a:solidFill>
                <a:srgbClr val="404040"/>
              </a:solidFill>
            </a:endParaRPr>
          </a:p>
        </p:txBody>
      </p:sp>
      <p:pic>
        <p:nvPicPr>
          <p:cNvPr id="3" name="Google Shape;636;p50">
            <a:extLst>
              <a:ext uri="{FF2B5EF4-FFF2-40B4-BE49-F238E27FC236}">
                <a16:creationId xmlns:a16="http://schemas.microsoft.com/office/drawing/2014/main" id="{36EC0B63-F977-E133-BDD3-01509D0E8EC2}"/>
              </a:ext>
            </a:extLst>
          </p:cNvPr>
          <p:cNvPicPr preferRelativeResize="0"/>
          <p:nvPr/>
        </p:nvPicPr>
        <p:blipFill rotWithShape="1">
          <a:blip r:embed="rId4">
            <a:alphaModFix/>
          </a:blip>
          <a:srcRect/>
          <a:stretch/>
        </p:blipFill>
        <p:spPr>
          <a:xfrm>
            <a:off x="4043291" y="1112837"/>
            <a:ext cx="5980112" cy="3638550"/>
          </a:xfrm>
          <a:prstGeom prst="rect">
            <a:avLst/>
          </a:prstGeom>
          <a:noFill/>
          <a:ln>
            <a:noFill/>
          </a:ln>
        </p:spPr>
      </p:pic>
    </p:spTree>
    <p:extLst>
      <p:ext uri="{BB962C8B-B14F-4D97-AF65-F5344CB8AC3E}">
        <p14:creationId xmlns:p14="http://schemas.microsoft.com/office/powerpoint/2010/main" val="605208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41;p51">
            <a:extLst>
              <a:ext uri="{FF2B5EF4-FFF2-40B4-BE49-F238E27FC236}">
                <a16:creationId xmlns:a16="http://schemas.microsoft.com/office/drawing/2014/main" id="{376C6614-B0D6-4553-D380-0F689E35239D}"/>
              </a:ext>
            </a:extLst>
          </p:cNvPr>
          <p:cNvSpPr txBox="1">
            <a:spLocks/>
          </p:cNvSpPr>
          <p:nvPr/>
        </p:nvSpPr>
        <p:spPr>
          <a:xfrm>
            <a:off x="2673803" y="208643"/>
            <a:ext cx="8048626" cy="869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pPr>
            <a:r>
              <a:rPr lang="en-US" sz="2400" dirty="0">
                <a:solidFill>
                  <a:srgbClr val="1581AA"/>
                </a:solidFill>
                <a:latin typeface="Times New Roman" panose="02020603050405020304" pitchFamily="18" charset="0"/>
                <a:cs typeface="Times New Roman" panose="02020603050405020304" pitchFamily="18" charset="0"/>
              </a:rPr>
              <a:t>EVALUATION OF POSTFIX EXPRESSION</a:t>
            </a:r>
            <a:endParaRPr lang="en-US" sz="2400" dirty="0">
              <a:latin typeface="Times New Roman" panose="02020603050405020304" pitchFamily="18" charset="0"/>
              <a:cs typeface="Times New Roman" panose="02020603050405020304" pitchFamily="18" charset="0"/>
            </a:endParaRPr>
          </a:p>
        </p:txBody>
      </p:sp>
      <p:sp>
        <p:nvSpPr>
          <p:cNvPr id="3" name="Google Shape;642;p51">
            <a:extLst>
              <a:ext uri="{FF2B5EF4-FFF2-40B4-BE49-F238E27FC236}">
                <a16:creationId xmlns:a16="http://schemas.microsoft.com/office/drawing/2014/main" id="{83F39C89-4FC8-C423-7848-086D430CE745}"/>
              </a:ext>
            </a:extLst>
          </p:cNvPr>
          <p:cNvSpPr txBox="1">
            <a:spLocks/>
          </p:cNvSpPr>
          <p:nvPr/>
        </p:nvSpPr>
        <p:spPr>
          <a:xfrm>
            <a:off x="2673802" y="926169"/>
            <a:ext cx="8364311" cy="48541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50000"/>
              </a:lnSpc>
              <a:spcBef>
                <a:spcPts val="0"/>
              </a:spcBef>
              <a:buSzPts val="2000"/>
              <a:buFont typeface="Arial"/>
              <a:buNone/>
            </a:pPr>
            <a:r>
              <a:rPr lang="en-US" sz="2400" dirty="0">
                <a:solidFill>
                  <a:srgbClr val="404040"/>
                </a:solidFill>
                <a:latin typeface="Times New Roman" panose="02020603050405020304" pitchFamily="18" charset="0"/>
                <a:cs typeface="Times New Roman" panose="02020603050405020304" pitchFamily="18" charset="0"/>
              </a:rPr>
              <a:t>The evaluation of infix expression is not recommended because of the following reasons:</a:t>
            </a:r>
            <a:endParaRPr lang="en-US" sz="2400" dirty="0">
              <a:latin typeface="Times New Roman" panose="02020603050405020304" pitchFamily="18" charset="0"/>
              <a:cs typeface="Times New Roman" panose="02020603050405020304" pitchFamily="18" charset="0"/>
            </a:endParaRPr>
          </a:p>
          <a:p>
            <a:pPr marL="0" indent="-127000" algn="just">
              <a:lnSpc>
                <a:spcPct val="150000"/>
              </a:lnSpc>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Evaluation of infix expression requires the knowledge of precedence of operators and the associativity of operators.</a:t>
            </a:r>
            <a:endParaRPr lang="en-US" sz="2400" dirty="0">
              <a:latin typeface="Times New Roman" panose="02020603050405020304" pitchFamily="18" charset="0"/>
              <a:cs typeface="Times New Roman" panose="02020603050405020304" pitchFamily="18" charset="0"/>
            </a:endParaRPr>
          </a:p>
          <a:p>
            <a:pPr marL="0" indent="-127000" algn="just">
              <a:lnSpc>
                <a:spcPct val="150000"/>
              </a:lnSpc>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The problem becomes complex, if there are </a:t>
            </a:r>
            <a:r>
              <a:rPr lang="en-US" sz="2400" dirty="0" err="1">
                <a:solidFill>
                  <a:srgbClr val="404040"/>
                </a:solidFill>
                <a:latin typeface="Times New Roman" panose="02020603050405020304" pitchFamily="18" charset="0"/>
                <a:cs typeface="Times New Roman" panose="02020603050405020304" pitchFamily="18" charset="0"/>
              </a:rPr>
              <a:t>parantheses</a:t>
            </a:r>
            <a:r>
              <a:rPr lang="en-US" sz="2400" dirty="0">
                <a:solidFill>
                  <a:srgbClr val="404040"/>
                </a:solidFill>
                <a:latin typeface="Times New Roman" panose="02020603050405020304" pitchFamily="18" charset="0"/>
                <a:cs typeface="Times New Roman" panose="02020603050405020304" pitchFamily="18" charset="0"/>
              </a:rPr>
              <a:t> in the expression because they change the order of precedence.</a:t>
            </a:r>
            <a:endParaRPr lang="en-US" sz="2400" dirty="0">
              <a:latin typeface="Times New Roman" panose="02020603050405020304" pitchFamily="18" charset="0"/>
              <a:cs typeface="Times New Roman" panose="02020603050405020304" pitchFamily="18" charset="0"/>
            </a:endParaRPr>
          </a:p>
          <a:p>
            <a:pPr marL="0" indent="-127000" algn="just">
              <a:lnSpc>
                <a:spcPct val="150000"/>
              </a:lnSpc>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During evaluation, we may have to scan from left to right and right to left repeatedly </a:t>
            </a:r>
            <a:r>
              <a:rPr lang="en-US" sz="2400" dirty="0" err="1">
                <a:solidFill>
                  <a:srgbClr val="404040"/>
                </a:solidFill>
                <a:latin typeface="Times New Roman" panose="02020603050405020304" pitchFamily="18" charset="0"/>
                <a:cs typeface="Times New Roman" panose="02020603050405020304" pitchFamily="18" charset="0"/>
              </a:rPr>
              <a:t>therby</a:t>
            </a:r>
            <a:r>
              <a:rPr lang="en-US" sz="2400" dirty="0">
                <a:solidFill>
                  <a:srgbClr val="404040"/>
                </a:solidFill>
                <a:latin typeface="Times New Roman" panose="02020603050405020304" pitchFamily="18" charset="0"/>
                <a:cs typeface="Times New Roman" panose="02020603050405020304" pitchFamily="18" charset="0"/>
              </a:rPr>
              <a:t> complexity of the program increases.</a:t>
            </a:r>
            <a:endParaRPr lang="en-US" sz="2400" dirty="0">
              <a:latin typeface="Times New Roman" panose="02020603050405020304" pitchFamily="18" charset="0"/>
              <a:cs typeface="Times New Roman" panose="02020603050405020304" pitchFamily="18" charset="0"/>
            </a:endParaRPr>
          </a:p>
          <a:p>
            <a:pPr marL="0" indent="0" algn="ctr">
              <a:buClr>
                <a:srgbClr val="353535"/>
              </a:buClr>
              <a:buSzPts val="2000"/>
              <a:buFont typeface="Noto Sans Symbols"/>
              <a:buNone/>
            </a:pPr>
            <a:endParaRPr lang="en-US" sz="2000" dirty="0">
              <a:solidFill>
                <a:srgbClr val="404040"/>
              </a:solidFill>
            </a:endParaRPr>
          </a:p>
        </p:txBody>
      </p:sp>
    </p:spTree>
    <p:extLst>
      <p:ext uri="{BB962C8B-B14F-4D97-AF65-F5344CB8AC3E}">
        <p14:creationId xmlns:p14="http://schemas.microsoft.com/office/powerpoint/2010/main" val="284552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47;p52">
            <a:extLst>
              <a:ext uri="{FF2B5EF4-FFF2-40B4-BE49-F238E27FC236}">
                <a16:creationId xmlns:a16="http://schemas.microsoft.com/office/drawing/2014/main" id="{5A1CEA0C-4E64-2517-730C-8D539EEFDEA8}"/>
              </a:ext>
            </a:extLst>
          </p:cNvPr>
          <p:cNvSpPr txBox="1">
            <a:spLocks/>
          </p:cNvSpPr>
          <p:nvPr/>
        </p:nvSpPr>
        <p:spPr>
          <a:xfrm>
            <a:off x="2994738" y="394154"/>
            <a:ext cx="8141348" cy="55603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00000"/>
              </a:lnSpc>
              <a:spcBef>
                <a:spcPts val="0"/>
              </a:spcBef>
              <a:buFont typeface="Arial"/>
              <a:buNone/>
            </a:pPr>
            <a:r>
              <a:rPr lang="en-US" sz="2000" dirty="0">
                <a:solidFill>
                  <a:srgbClr val="404040"/>
                </a:solidFill>
                <a:latin typeface="Times New Roman" panose="02020603050405020304" pitchFamily="18" charset="0"/>
                <a:cs typeface="Times New Roman" panose="02020603050405020304" pitchFamily="18" charset="0"/>
              </a:rPr>
              <a:t>All these problems can be avoided if the infix expression is converted to its corresponding postfix or prefix expression and then evaluate.</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Evaluation of a postfix expression or prefix expression is very simple.</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Font typeface="Arial"/>
              <a:buNone/>
            </a:pPr>
            <a:r>
              <a:rPr lang="en-US" sz="2000" b="1" dirty="0">
                <a:solidFill>
                  <a:srgbClr val="404040"/>
                </a:solidFill>
                <a:latin typeface="Times New Roman" panose="02020603050405020304" pitchFamily="18" charset="0"/>
                <a:cs typeface="Times New Roman" panose="02020603050405020304" pitchFamily="18" charset="0"/>
              </a:rPr>
              <a:t>Steps for evaluating postfix expression </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1) Scan the symbol from left to right.</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2) If the scanned-symbol is an operand, push it on to the stack.</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3) If the scanned-symbol is an operator, pop 2 elements from the stack. The first popped element is operand2 and the second popped element is operand1.this can be achieved using the </a:t>
            </a:r>
            <a:r>
              <a:rPr lang="en-US" sz="2000" dirty="0" err="1">
                <a:solidFill>
                  <a:srgbClr val="404040"/>
                </a:solidFill>
                <a:latin typeface="Times New Roman" panose="02020603050405020304" pitchFamily="18" charset="0"/>
                <a:cs typeface="Times New Roman" panose="02020603050405020304" pitchFamily="18" charset="0"/>
              </a:rPr>
              <a:t>statements.And</a:t>
            </a:r>
            <a:r>
              <a:rPr lang="en-US" sz="2000" dirty="0">
                <a:solidFill>
                  <a:srgbClr val="404040"/>
                </a:solidFill>
                <a:latin typeface="Times New Roman" panose="02020603050405020304" pitchFamily="18" charset="0"/>
                <a:cs typeface="Times New Roman" panose="02020603050405020304" pitchFamily="18" charset="0"/>
              </a:rPr>
              <a:t> perform the indicated operation.</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4) Push the result on to the stack.</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5) Repeat the above procedure till the end of input is encountered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088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52;p53">
            <a:extLst>
              <a:ext uri="{FF2B5EF4-FFF2-40B4-BE49-F238E27FC236}">
                <a16:creationId xmlns:a16="http://schemas.microsoft.com/office/drawing/2014/main" id="{981C4DD6-1818-D9E0-6010-B0FC6CE716F0}"/>
              </a:ext>
            </a:extLst>
          </p:cNvPr>
          <p:cNvSpPr txBox="1">
            <a:spLocks/>
          </p:cNvSpPr>
          <p:nvPr/>
        </p:nvSpPr>
        <p:spPr>
          <a:xfrm>
            <a:off x="3313041" y="824389"/>
            <a:ext cx="7519987" cy="43481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b="1" dirty="0">
                <a:solidFill>
                  <a:srgbClr val="404040"/>
                </a:solidFill>
              </a:rPr>
              <a:t>Pseudocode for Evaluation of Postfix Expression</a:t>
            </a:r>
            <a:endParaRPr lang="en-US" sz="2400" dirty="0"/>
          </a:p>
          <a:p>
            <a:pPr marL="0" indent="0">
              <a:lnSpc>
                <a:spcPct val="40000"/>
              </a:lnSpc>
              <a:buFont typeface="Arial"/>
              <a:buNone/>
            </a:pPr>
            <a:r>
              <a:rPr lang="en-US" sz="2400" dirty="0">
                <a:solidFill>
                  <a:srgbClr val="404040"/>
                </a:solidFill>
              </a:rPr>
              <a:t>While( not end of input)</a:t>
            </a:r>
            <a:endParaRPr lang="en-US" sz="2400" dirty="0"/>
          </a:p>
          <a:p>
            <a:pPr marL="0" indent="0">
              <a:lnSpc>
                <a:spcPct val="40000"/>
              </a:lnSpc>
              <a:buFont typeface="Arial"/>
              <a:buNone/>
            </a:pPr>
            <a:r>
              <a:rPr lang="en-US" sz="2400" dirty="0">
                <a:solidFill>
                  <a:srgbClr val="404040"/>
                </a:solidFill>
              </a:rPr>
              <a:t>{</a:t>
            </a:r>
            <a:endParaRPr lang="en-US" sz="2400" dirty="0"/>
          </a:p>
          <a:p>
            <a:pPr marL="0" indent="0">
              <a:lnSpc>
                <a:spcPct val="40000"/>
              </a:lnSpc>
              <a:buFont typeface="Arial"/>
              <a:buNone/>
            </a:pPr>
            <a:r>
              <a:rPr lang="en-US" sz="2400" dirty="0">
                <a:solidFill>
                  <a:srgbClr val="404040"/>
                </a:solidFill>
              </a:rPr>
              <a:t>	Obtain the next input symbol</a:t>
            </a:r>
            <a:endParaRPr lang="en-US" sz="2400" dirty="0"/>
          </a:p>
          <a:p>
            <a:pPr marL="0" indent="0">
              <a:lnSpc>
                <a:spcPct val="40000"/>
              </a:lnSpc>
              <a:buFont typeface="Arial"/>
              <a:buNone/>
            </a:pPr>
            <a:r>
              <a:rPr lang="en-US" sz="2400" dirty="0">
                <a:solidFill>
                  <a:srgbClr val="404040"/>
                </a:solidFill>
              </a:rPr>
              <a:t>	if(symbol is an operand)</a:t>
            </a:r>
            <a:endParaRPr lang="en-US" sz="2400" dirty="0"/>
          </a:p>
          <a:p>
            <a:pPr marL="0" indent="0">
              <a:lnSpc>
                <a:spcPct val="40000"/>
              </a:lnSpc>
              <a:buFont typeface="Arial"/>
              <a:buNone/>
            </a:pPr>
            <a:r>
              <a:rPr lang="en-US" sz="2400" dirty="0">
                <a:solidFill>
                  <a:srgbClr val="404040"/>
                </a:solidFill>
              </a:rPr>
              <a:t>		push(symbol, top, s)</a:t>
            </a:r>
            <a:endParaRPr lang="en-US" sz="2400" dirty="0"/>
          </a:p>
          <a:p>
            <a:pPr marL="0" indent="0">
              <a:lnSpc>
                <a:spcPct val="40000"/>
              </a:lnSpc>
              <a:buFont typeface="Arial"/>
              <a:buNone/>
            </a:pPr>
            <a:r>
              <a:rPr lang="en-US" sz="2400" dirty="0">
                <a:solidFill>
                  <a:srgbClr val="404040"/>
                </a:solidFill>
              </a:rPr>
              <a:t>	else</a:t>
            </a:r>
            <a:endParaRPr lang="en-US" sz="2400" dirty="0"/>
          </a:p>
          <a:p>
            <a:pPr marL="0" indent="0">
              <a:lnSpc>
                <a:spcPct val="40000"/>
              </a:lnSpc>
              <a:buFont typeface="Arial"/>
              <a:buNone/>
            </a:pPr>
            <a:r>
              <a:rPr lang="en-US" sz="2400" dirty="0">
                <a:solidFill>
                  <a:srgbClr val="404040"/>
                </a:solidFill>
              </a:rPr>
              <a:t>	{</a:t>
            </a:r>
            <a:endParaRPr lang="en-US" sz="2400" dirty="0"/>
          </a:p>
          <a:p>
            <a:pPr marL="0" indent="0">
              <a:lnSpc>
                <a:spcPct val="40000"/>
              </a:lnSpc>
              <a:buFont typeface="Arial"/>
              <a:buNone/>
            </a:pPr>
            <a:r>
              <a:rPr lang="en-US" sz="2400" dirty="0">
                <a:solidFill>
                  <a:srgbClr val="404040"/>
                </a:solidFill>
              </a:rPr>
              <a:t>		op2 = pop(top, s);</a:t>
            </a:r>
            <a:endParaRPr lang="en-US" sz="2400" dirty="0"/>
          </a:p>
          <a:p>
            <a:pPr marL="0" indent="0">
              <a:lnSpc>
                <a:spcPct val="40000"/>
              </a:lnSpc>
              <a:buFont typeface="Arial"/>
              <a:buNone/>
            </a:pPr>
            <a:r>
              <a:rPr lang="en-US" sz="2400" dirty="0">
                <a:solidFill>
                  <a:srgbClr val="404040"/>
                </a:solidFill>
              </a:rPr>
              <a:t>		op1 = pop(top, s);</a:t>
            </a:r>
            <a:endParaRPr lang="en-US" sz="2400" dirty="0"/>
          </a:p>
          <a:p>
            <a:pPr marL="0" indent="0">
              <a:lnSpc>
                <a:spcPct val="40000"/>
              </a:lnSpc>
              <a:buFont typeface="Arial"/>
              <a:buNone/>
            </a:pPr>
            <a:r>
              <a:rPr lang="en-US" sz="2400" dirty="0">
                <a:solidFill>
                  <a:srgbClr val="404040"/>
                </a:solidFill>
              </a:rPr>
              <a:t>		res = op1 op op2;</a:t>
            </a:r>
            <a:endParaRPr lang="en-US" sz="2400" dirty="0"/>
          </a:p>
          <a:p>
            <a:pPr marL="0" indent="0">
              <a:lnSpc>
                <a:spcPct val="40000"/>
              </a:lnSpc>
              <a:buFont typeface="Arial"/>
              <a:buNone/>
            </a:pPr>
            <a:r>
              <a:rPr lang="en-US" sz="2400" dirty="0">
                <a:solidFill>
                  <a:srgbClr val="404040"/>
                </a:solidFill>
              </a:rPr>
              <a:t>		push(res, top, s);</a:t>
            </a:r>
            <a:endParaRPr lang="en-US" sz="2400" dirty="0"/>
          </a:p>
          <a:p>
            <a:pPr marL="0" indent="0">
              <a:lnSpc>
                <a:spcPct val="40000"/>
              </a:lnSpc>
              <a:buFont typeface="Arial"/>
              <a:buNone/>
            </a:pPr>
            <a:r>
              <a:rPr lang="en-US" sz="2400" dirty="0">
                <a:solidFill>
                  <a:srgbClr val="404040"/>
                </a:solidFill>
              </a:rPr>
              <a:t>	}</a:t>
            </a:r>
            <a:endParaRPr lang="en-US" sz="2400" dirty="0"/>
          </a:p>
          <a:p>
            <a:pPr marL="0" indent="0">
              <a:lnSpc>
                <a:spcPct val="40000"/>
              </a:lnSpc>
              <a:buFont typeface="Arial"/>
              <a:buNone/>
            </a:pPr>
            <a:r>
              <a:rPr lang="en-US" sz="2400" dirty="0">
                <a:solidFill>
                  <a:srgbClr val="404040"/>
                </a:solidFill>
              </a:rPr>
              <a:t>}</a:t>
            </a:r>
            <a:endParaRPr lang="en-US" sz="2400" dirty="0"/>
          </a:p>
          <a:p>
            <a:pPr marL="0" indent="0">
              <a:lnSpc>
                <a:spcPct val="40000"/>
              </a:lnSpc>
              <a:buFont typeface="Arial"/>
              <a:buNone/>
            </a:pPr>
            <a:r>
              <a:rPr lang="en-US" sz="2400" dirty="0">
                <a:solidFill>
                  <a:srgbClr val="404040"/>
                </a:solidFill>
              </a:rPr>
              <a:t>return( pop(top, s));</a:t>
            </a:r>
            <a:endParaRPr lang="en-US" sz="2400" dirty="0"/>
          </a:p>
        </p:txBody>
      </p:sp>
    </p:spTree>
    <p:extLst>
      <p:ext uri="{BB962C8B-B14F-4D97-AF65-F5344CB8AC3E}">
        <p14:creationId xmlns:p14="http://schemas.microsoft.com/office/powerpoint/2010/main" val="415569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2" end="1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xEl>
                                              <p:pRg st="13" end="1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166983" y="5060430"/>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57;p54">
            <a:extLst>
              <a:ext uri="{FF2B5EF4-FFF2-40B4-BE49-F238E27FC236}">
                <a16:creationId xmlns:a16="http://schemas.microsoft.com/office/drawing/2014/main" id="{177E0FA2-3900-B16E-B272-F3114AAC4DD6}"/>
              </a:ext>
            </a:extLst>
          </p:cNvPr>
          <p:cNvSpPr txBox="1">
            <a:spLocks/>
          </p:cNvSpPr>
          <p:nvPr/>
        </p:nvSpPr>
        <p:spPr>
          <a:xfrm>
            <a:off x="3176560" y="492579"/>
            <a:ext cx="7588250" cy="4279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b="1" dirty="0">
                <a:solidFill>
                  <a:srgbClr val="404040"/>
                </a:solidFill>
              </a:rPr>
              <a:t>Example: Consider the postfix expression 6 3 2 – 5 * + for the infix expression                         ( 6 + ( 3 – 2 ) * 5 ). It is evaluated as shown below.</a:t>
            </a:r>
            <a:endParaRPr lang="en-US" dirty="0"/>
          </a:p>
          <a:p>
            <a:pPr marL="0" indent="0">
              <a:lnSpc>
                <a:spcPct val="100000"/>
              </a:lnSpc>
              <a:buFont typeface="Arial"/>
              <a:buNone/>
            </a:pPr>
            <a:endParaRPr lang="en-US" sz="1800" b="1" dirty="0">
              <a:solidFill>
                <a:srgbClr val="404040"/>
              </a:solidFill>
            </a:endParaRPr>
          </a:p>
          <a:p>
            <a:pPr marL="0" indent="0">
              <a:lnSpc>
                <a:spcPct val="10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6 3 2 – 5 * +		3 – 2 = 1</a:t>
            </a:r>
            <a:endParaRPr lang="en-US" sz="20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6 1 5 * +		              1 * 5 = 5</a:t>
            </a:r>
            <a:endParaRPr lang="en-US" sz="20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6 5 +			6 + 5 = 11</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150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62;p55">
            <a:extLst>
              <a:ext uri="{FF2B5EF4-FFF2-40B4-BE49-F238E27FC236}">
                <a16:creationId xmlns:a16="http://schemas.microsoft.com/office/drawing/2014/main" id="{06D914DA-F951-3284-C8BC-0E072CD1854C}"/>
              </a:ext>
            </a:extLst>
          </p:cNvPr>
          <p:cNvSpPr txBox="1">
            <a:spLocks/>
          </p:cNvSpPr>
          <p:nvPr/>
        </p:nvSpPr>
        <p:spPr>
          <a:xfrm>
            <a:off x="2730863" y="308291"/>
            <a:ext cx="7770812" cy="43354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b="1">
                <a:solidFill>
                  <a:srgbClr val="404040"/>
                </a:solidFill>
              </a:rPr>
              <a:t>Example 1: Tracing the Evaluation of the postfix expression 6 3 2 – 5 * + is as shown below</a:t>
            </a:r>
            <a:endParaRPr lang="en-US"/>
          </a:p>
          <a:p>
            <a:pPr marL="0" indent="0" algn="ctr">
              <a:buClr>
                <a:srgbClr val="353535"/>
              </a:buClr>
              <a:buFont typeface="Noto Sans Symbols"/>
              <a:buNone/>
            </a:pPr>
            <a:endParaRPr lang="en-US" sz="1800" b="1" dirty="0">
              <a:solidFill>
                <a:srgbClr val="404040"/>
              </a:solidFill>
            </a:endParaRPr>
          </a:p>
        </p:txBody>
      </p:sp>
      <p:pic>
        <p:nvPicPr>
          <p:cNvPr id="3" name="Google Shape;663;p55">
            <a:extLst>
              <a:ext uri="{FF2B5EF4-FFF2-40B4-BE49-F238E27FC236}">
                <a16:creationId xmlns:a16="http://schemas.microsoft.com/office/drawing/2014/main" id="{7E2FFA99-9F87-2BD4-7144-6E216AE591A5}"/>
              </a:ext>
            </a:extLst>
          </p:cNvPr>
          <p:cNvPicPr preferRelativeResize="0"/>
          <p:nvPr/>
        </p:nvPicPr>
        <p:blipFill rotWithShape="1">
          <a:blip r:embed="rId4">
            <a:alphaModFix/>
          </a:blip>
          <a:srcRect/>
          <a:stretch/>
        </p:blipFill>
        <p:spPr>
          <a:xfrm>
            <a:off x="3244486" y="1529395"/>
            <a:ext cx="7770811" cy="4068850"/>
          </a:xfrm>
          <a:prstGeom prst="rect">
            <a:avLst/>
          </a:prstGeom>
          <a:noFill/>
          <a:ln>
            <a:noFill/>
          </a:ln>
        </p:spPr>
      </p:pic>
    </p:spTree>
    <p:extLst>
      <p:ext uri="{BB962C8B-B14F-4D97-AF65-F5344CB8AC3E}">
        <p14:creationId xmlns:p14="http://schemas.microsoft.com/office/powerpoint/2010/main" val="3205617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68;p56">
            <a:extLst>
              <a:ext uri="{FF2B5EF4-FFF2-40B4-BE49-F238E27FC236}">
                <a16:creationId xmlns:a16="http://schemas.microsoft.com/office/drawing/2014/main" id="{E4A2A79B-4CAB-2ACD-9C75-48C43B3637A1}"/>
              </a:ext>
            </a:extLst>
          </p:cNvPr>
          <p:cNvSpPr txBox="1">
            <a:spLocks/>
          </p:cNvSpPr>
          <p:nvPr/>
        </p:nvSpPr>
        <p:spPr>
          <a:xfrm>
            <a:off x="3357715" y="527730"/>
            <a:ext cx="7859712" cy="42560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b="1">
                <a:solidFill>
                  <a:srgbClr val="404040"/>
                </a:solidFill>
              </a:rPr>
              <a:t>Example 2: Tracing the Evaluation of the postfix expression: 6 5 2 3 + 8 * + 3 + *</a:t>
            </a:r>
            <a:endParaRPr lang="en-US"/>
          </a:p>
          <a:p>
            <a:pPr marL="0" indent="0" algn="ctr">
              <a:buClr>
                <a:srgbClr val="353535"/>
              </a:buClr>
              <a:buFont typeface="Noto Sans Symbols"/>
              <a:buNone/>
            </a:pPr>
            <a:endParaRPr lang="en-US" sz="1800" b="1" dirty="0">
              <a:solidFill>
                <a:srgbClr val="404040"/>
              </a:solidFill>
            </a:endParaRPr>
          </a:p>
        </p:txBody>
      </p:sp>
      <p:pic>
        <p:nvPicPr>
          <p:cNvPr id="3" name="Google Shape;669;p56">
            <a:extLst>
              <a:ext uri="{FF2B5EF4-FFF2-40B4-BE49-F238E27FC236}">
                <a16:creationId xmlns:a16="http://schemas.microsoft.com/office/drawing/2014/main" id="{97E4AA14-C8A8-6D22-7376-2E5EE27E7599}"/>
              </a:ext>
            </a:extLst>
          </p:cNvPr>
          <p:cNvPicPr preferRelativeResize="0"/>
          <p:nvPr/>
        </p:nvPicPr>
        <p:blipFill rotWithShape="1">
          <a:blip r:embed="rId4">
            <a:alphaModFix/>
          </a:blip>
          <a:srcRect/>
          <a:stretch/>
        </p:blipFill>
        <p:spPr>
          <a:xfrm>
            <a:off x="3104963" y="1087437"/>
            <a:ext cx="8112464" cy="2604852"/>
          </a:xfrm>
          <a:prstGeom prst="rect">
            <a:avLst/>
          </a:prstGeom>
          <a:noFill/>
          <a:ln>
            <a:noFill/>
          </a:ln>
        </p:spPr>
      </p:pic>
      <p:pic>
        <p:nvPicPr>
          <p:cNvPr id="4" name="Google Shape;670;p56">
            <a:extLst>
              <a:ext uri="{FF2B5EF4-FFF2-40B4-BE49-F238E27FC236}">
                <a16:creationId xmlns:a16="http://schemas.microsoft.com/office/drawing/2014/main" id="{3911BD96-2F90-3E93-5C35-32A9BF59878D}"/>
              </a:ext>
            </a:extLst>
          </p:cNvPr>
          <p:cNvPicPr preferRelativeResize="0"/>
          <p:nvPr/>
        </p:nvPicPr>
        <p:blipFill rotWithShape="1">
          <a:blip r:embed="rId5">
            <a:alphaModFix/>
          </a:blip>
          <a:srcRect/>
          <a:stretch/>
        </p:blipFill>
        <p:spPr>
          <a:xfrm>
            <a:off x="3162646" y="3598756"/>
            <a:ext cx="8028742" cy="2404381"/>
          </a:xfrm>
          <a:prstGeom prst="rect">
            <a:avLst/>
          </a:prstGeom>
          <a:noFill/>
          <a:ln>
            <a:noFill/>
          </a:ln>
        </p:spPr>
      </p:pic>
    </p:spTree>
    <p:extLst>
      <p:ext uri="{BB962C8B-B14F-4D97-AF65-F5344CB8AC3E}">
        <p14:creationId xmlns:p14="http://schemas.microsoft.com/office/powerpoint/2010/main" val="210008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75;p57">
            <a:extLst>
              <a:ext uri="{FF2B5EF4-FFF2-40B4-BE49-F238E27FC236}">
                <a16:creationId xmlns:a16="http://schemas.microsoft.com/office/drawing/2014/main" id="{B9398781-3C5C-8FE8-3E5D-CA66DCDB8AF5}"/>
              </a:ext>
            </a:extLst>
          </p:cNvPr>
          <p:cNvSpPr txBox="1">
            <a:spLocks/>
          </p:cNvSpPr>
          <p:nvPr/>
        </p:nvSpPr>
        <p:spPr>
          <a:xfrm>
            <a:off x="2826483" y="573720"/>
            <a:ext cx="7778750" cy="4378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dirty="0">
                <a:solidFill>
                  <a:srgbClr val="404040"/>
                </a:solidFill>
              </a:rPr>
              <a:t>Evaluate the postfix expression 632-5*+1^7+</a:t>
            </a:r>
            <a:endParaRPr lang="en-US" dirty="0"/>
          </a:p>
          <a:p>
            <a:pPr marL="0" indent="0">
              <a:lnSpc>
                <a:spcPct val="100000"/>
              </a:lnSpc>
              <a:buFont typeface="Arial"/>
              <a:buNone/>
            </a:pPr>
            <a:endParaRPr lang="en-US" sz="1800" dirty="0">
              <a:solidFill>
                <a:srgbClr val="404040"/>
              </a:solidFill>
            </a:endParaRPr>
          </a:p>
          <a:p>
            <a:pPr marL="0" indent="0">
              <a:lnSpc>
                <a:spcPct val="100000"/>
              </a:lnSpc>
              <a:buFont typeface="Arial"/>
              <a:buNone/>
            </a:pPr>
            <a:endParaRPr lang="en-US" sz="1800" dirty="0">
              <a:solidFill>
                <a:srgbClr val="404040"/>
              </a:solidFill>
            </a:endParaRPr>
          </a:p>
          <a:p>
            <a:pPr marL="0" indent="0">
              <a:lnSpc>
                <a:spcPct val="100000"/>
              </a:lnSpc>
              <a:buFont typeface="Arial"/>
              <a:buNone/>
            </a:pPr>
            <a:endParaRPr lang="en-US" sz="1800" dirty="0">
              <a:solidFill>
                <a:srgbClr val="404040"/>
              </a:solidFill>
            </a:endParaRPr>
          </a:p>
          <a:p>
            <a:pPr marL="0" indent="0">
              <a:lnSpc>
                <a:spcPct val="100000"/>
              </a:lnSpc>
              <a:buFont typeface="Arial"/>
              <a:buNone/>
            </a:pPr>
            <a:r>
              <a:rPr lang="en-US" sz="1800" dirty="0">
                <a:solidFill>
                  <a:srgbClr val="404040"/>
                </a:solidFill>
              </a:rPr>
              <a:t>Result:18</a:t>
            </a:r>
            <a:endParaRPr lang="en-US" dirty="0"/>
          </a:p>
        </p:txBody>
      </p:sp>
    </p:spTree>
    <p:extLst>
      <p:ext uri="{BB962C8B-B14F-4D97-AF65-F5344CB8AC3E}">
        <p14:creationId xmlns:p14="http://schemas.microsoft.com/office/powerpoint/2010/main" val="3962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80;p58">
            <a:extLst>
              <a:ext uri="{FF2B5EF4-FFF2-40B4-BE49-F238E27FC236}">
                <a16:creationId xmlns:a16="http://schemas.microsoft.com/office/drawing/2014/main" id="{8A4C99C3-A92E-02B9-689F-C4D378B60E88}"/>
              </a:ext>
            </a:extLst>
          </p:cNvPr>
          <p:cNvSpPr txBox="1">
            <a:spLocks/>
          </p:cNvSpPr>
          <p:nvPr/>
        </p:nvSpPr>
        <p:spPr>
          <a:xfrm>
            <a:off x="3009343" y="466247"/>
            <a:ext cx="6400800" cy="40195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buFont typeface="Arial"/>
              <a:buNone/>
            </a:pPr>
            <a:r>
              <a:rPr lang="en-US" sz="2000" dirty="0">
                <a:solidFill>
                  <a:srgbClr val="FF0000"/>
                </a:solidFill>
              </a:rPr>
              <a:t>1.POSTFIX TO INFIX</a:t>
            </a:r>
            <a:endParaRPr lang="en-US" dirty="0"/>
          </a:p>
          <a:p>
            <a:pPr marL="0" indent="0">
              <a:lnSpc>
                <a:spcPct val="100000"/>
              </a:lnSpc>
              <a:buSzPts val="2000"/>
              <a:buFont typeface="Arial"/>
              <a:buNone/>
            </a:pPr>
            <a:r>
              <a:rPr lang="en-US" sz="2000" dirty="0">
                <a:solidFill>
                  <a:srgbClr val="FF0000"/>
                </a:solidFill>
              </a:rPr>
              <a:t>2.POSTFIX TO PREFIX</a:t>
            </a:r>
            <a:endParaRPr lang="en-US" dirty="0"/>
          </a:p>
          <a:p>
            <a:pPr marL="0" indent="-127000">
              <a:lnSpc>
                <a:spcPct val="100000"/>
              </a:lnSpc>
              <a:buClr>
                <a:srgbClr val="353535"/>
              </a:buClr>
              <a:buSzPts val="2000"/>
            </a:pPr>
            <a:r>
              <a:rPr lang="en-US" sz="2000" dirty="0">
                <a:solidFill>
                  <a:srgbClr val="404040"/>
                </a:solidFill>
              </a:rPr>
              <a:t>Scan the expression from L to R</a:t>
            </a:r>
            <a:endParaRPr lang="en-US" dirty="0"/>
          </a:p>
          <a:p>
            <a:pPr marL="0" indent="-127000">
              <a:lnSpc>
                <a:spcPct val="100000"/>
              </a:lnSpc>
              <a:buClr>
                <a:srgbClr val="353535"/>
              </a:buClr>
              <a:buSzPts val="2000"/>
            </a:pPr>
            <a:r>
              <a:rPr lang="en-US" sz="2000" dirty="0">
                <a:solidFill>
                  <a:srgbClr val="404040"/>
                </a:solidFill>
              </a:rPr>
              <a:t>top of the stack is always op2.</a:t>
            </a:r>
            <a:endParaRPr lang="en-US" dirty="0"/>
          </a:p>
          <a:p>
            <a:pPr marL="0" indent="0">
              <a:lnSpc>
                <a:spcPct val="100000"/>
              </a:lnSpc>
              <a:buSzPts val="2000"/>
              <a:buFont typeface="Arial"/>
              <a:buNone/>
            </a:pPr>
            <a:r>
              <a:rPr lang="en-US" sz="2000" dirty="0">
                <a:solidFill>
                  <a:srgbClr val="FF0000"/>
                </a:solidFill>
              </a:rPr>
              <a:t>3.PREFIX TO INFIX</a:t>
            </a:r>
            <a:endParaRPr lang="en-US" dirty="0"/>
          </a:p>
          <a:p>
            <a:pPr marL="0" indent="0">
              <a:lnSpc>
                <a:spcPct val="100000"/>
              </a:lnSpc>
              <a:buSzPts val="2000"/>
              <a:buFont typeface="Arial"/>
              <a:buNone/>
            </a:pPr>
            <a:r>
              <a:rPr lang="en-US" sz="2000" dirty="0">
                <a:solidFill>
                  <a:srgbClr val="FF0000"/>
                </a:solidFill>
              </a:rPr>
              <a:t>4.PREFIX TO POSTFIX</a:t>
            </a:r>
            <a:endParaRPr lang="en-US" dirty="0"/>
          </a:p>
          <a:p>
            <a:pPr marL="0" indent="-127000">
              <a:lnSpc>
                <a:spcPct val="100000"/>
              </a:lnSpc>
              <a:buClr>
                <a:srgbClr val="353535"/>
              </a:buClr>
              <a:buSzPts val="2000"/>
            </a:pPr>
            <a:r>
              <a:rPr lang="en-US" sz="2000" dirty="0">
                <a:solidFill>
                  <a:srgbClr val="404040"/>
                </a:solidFill>
              </a:rPr>
              <a:t>Scan the expression from R to L</a:t>
            </a:r>
            <a:endParaRPr lang="en-US" dirty="0"/>
          </a:p>
          <a:p>
            <a:pPr marL="0" indent="-127000">
              <a:lnSpc>
                <a:spcPct val="100000"/>
              </a:lnSpc>
              <a:buClr>
                <a:srgbClr val="353535"/>
              </a:buClr>
              <a:buSzPts val="2000"/>
            </a:pPr>
            <a:r>
              <a:rPr lang="en-US" sz="2000" dirty="0">
                <a:solidFill>
                  <a:srgbClr val="404040"/>
                </a:solidFill>
              </a:rPr>
              <a:t>top of the stack is always op1</a:t>
            </a:r>
            <a:endParaRPr lang="en-US" dirty="0"/>
          </a:p>
        </p:txBody>
      </p:sp>
    </p:spTree>
    <p:extLst>
      <p:ext uri="{BB962C8B-B14F-4D97-AF65-F5344CB8AC3E}">
        <p14:creationId xmlns:p14="http://schemas.microsoft.com/office/powerpoint/2010/main" val="271774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85;p59">
            <a:extLst>
              <a:ext uri="{FF2B5EF4-FFF2-40B4-BE49-F238E27FC236}">
                <a16:creationId xmlns:a16="http://schemas.microsoft.com/office/drawing/2014/main" id="{7E85FE12-2CE9-ED1C-27E1-19EB29CA489F}"/>
              </a:ext>
            </a:extLst>
          </p:cNvPr>
          <p:cNvSpPr txBox="1">
            <a:spLocks/>
          </p:cNvSpPr>
          <p:nvPr/>
        </p:nvSpPr>
        <p:spPr>
          <a:xfrm>
            <a:off x="2634343" y="350837"/>
            <a:ext cx="7772400" cy="5937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3600"/>
            </a:pPr>
            <a:endParaRPr lang="en-US" dirty="0"/>
          </a:p>
        </p:txBody>
      </p:sp>
      <p:sp>
        <p:nvSpPr>
          <p:cNvPr id="3" name="Google Shape;686;p59">
            <a:extLst>
              <a:ext uri="{FF2B5EF4-FFF2-40B4-BE49-F238E27FC236}">
                <a16:creationId xmlns:a16="http://schemas.microsoft.com/office/drawing/2014/main" id="{5154424E-B180-DE7E-2EED-13D6EC4C39E2}"/>
              </a:ext>
            </a:extLst>
          </p:cNvPr>
          <p:cNvSpPr txBox="1">
            <a:spLocks/>
          </p:cNvSpPr>
          <p:nvPr/>
        </p:nvSpPr>
        <p:spPr>
          <a:xfrm>
            <a:off x="2634343" y="350837"/>
            <a:ext cx="8372747" cy="6632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US" b="1" dirty="0"/>
              <a:t>STACK USING DYNAMIC ARRAYS</a:t>
            </a:r>
            <a:endParaRPr lang="en-US" dirty="0"/>
          </a:p>
          <a:p>
            <a:r>
              <a:rPr lang="en-US" dirty="0"/>
              <a:t>Shortcoming of static stack implementation: is the need to know at compile-time, a good	bound (MAX_STACK_SIZE) on how large the stack will become.</a:t>
            </a:r>
          </a:p>
          <a:p>
            <a:r>
              <a:rPr lang="en-US" dirty="0"/>
              <a:t> This shortcoming can be overcome by using a dynamically allocated array for the elements &amp; then increasing the size of the array as needed Initially, capacity=1 where capacity=maximum no. of stack-elements that may be stored in array.</a:t>
            </a:r>
          </a:p>
          <a:p>
            <a:r>
              <a:rPr lang="en-US" dirty="0"/>
              <a:t>Once the stack is full, </a:t>
            </a:r>
            <a:r>
              <a:rPr lang="en-US" dirty="0" err="1"/>
              <a:t>realloc</a:t>
            </a:r>
            <a:r>
              <a:rPr lang="en-US" dirty="0"/>
              <a:t>() function is used to increase the size of array. In array-doubling, we double array-capacity whenever it becomes necessary to increase the capacity of an array.</a:t>
            </a:r>
          </a:p>
          <a:p>
            <a:pPr marL="0" indent="0" algn="just">
              <a:lnSpc>
                <a:spcPct val="180000"/>
              </a:lnSpc>
              <a:spcBef>
                <a:spcPts val="0"/>
              </a:spcBef>
              <a:buFont typeface="Arial"/>
              <a:buNone/>
            </a:pPr>
            <a:r>
              <a:rPr lang="en-US" sz="2400" dirty="0">
                <a:solidFill>
                  <a:srgbClr val="FF0000"/>
                </a:solidFill>
              </a:rPr>
              <a:t>REFER NOTES FOR PROGRAMS</a:t>
            </a:r>
          </a:p>
        </p:txBody>
      </p:sp>
    </p:spTree>
    <p:extLst>
      <p:ext uri="{BB962C8B-B14F-4D97-AF65-F5344CB8AC3E}">
        <p14:creationId xmlns:p14="http://schemas.microsoft.com/office/powerpoint/2010/main" val="209511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18945443-0D42-861B-EC4F-DD8B6F5B4714}"/>
            </a:ext>
          </a:extLst>
        </p:cNvPr>
        <p:cNvGrpSpPr/>
        <p:nvPr/>
      </p:nvGrpSpPr>
      <p:grpSpPr>
        <a:xfrm>
          <a:off x="0" y="0"/>
          <a:ext cx="0" cy="0"/>
          <a:chOff x="0" y="0"/>
          <a:chExt cx="0" cy="0"/>
        </a:xfrm>
      </p:grpSpPr>
      <p:sp>
        <p:nvSpPr>
          <p:cNvPr id="89" name="Google Shape;89;g2eff20282af_0_123">
            <a:extLst>
              <a:ext uri="{FF2B5EF4-FFF2-40B4-BE49-F238E27FC236}">
                <a16:creationId xmlns:a16="http://schemas.microsoft.com/office/drawing/2014/main" id="{B7064D91-5D00-63F3-BA6F-408A5CEB1E0F}"/>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a:extLst>
              <a:ext uri="{FF2B5EF4-FFF2-40B4-BE49-F238E27FC236}">
                <a16:creationId xmlns:a16="http://schemas.microsoft.com/office/drawing/2014/main" id="{C8A63C21-713F-D043-FDCC-C335393CAE3C}"/>
              </a:ext>
            </a:extLst>
          </p:cNvPr>
          <p:cNvGrpSpPr/>
          <p:nvPr/>
        </p:nvGrpSpPr>
        <p:grpSpPr>
          <a:xfrm>
            <a:off x="71483" y="1474470"/>
            <a:ext cx="2278380" cy="3049270"/>
            <a:chOff x="122" y="2322"/>
            <a:chExt cx="3588" cy="4802"/>
          </a:xfrm>
        </p:grpSpPr>
        <p:sp>
          <p:nvSpPr>
            <p:cNvPr id="91" name="Google Shape;91;g2eff20282af_0_123">
              <a:extLst>
                <a:ext uri="{FF2B5EF4-FFF2-40B4-BE49-F238E27FC236}">
                  <a16:creationId xmlns:a16="http://schemas.microsoft.com/office/drawing/2014/main" id="{2E5DF548-D164-6E84-5747-764F312F9ECC}"/>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a:extLst>
                <a:ext uri="{FF2B5EF4-FFF2-40B4-BE49-F238E27FC236}">
                  <a16:creationId xmlns:a16="http://schemas.microsoft.com/office/drawing/2014/main" id="{BD41029D-DC0B-4F7C-FEC0-A857C04FAF2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a:extLst>
                <a:ext uri="{FF2B5EF4-FFF2-40B4-BE49-F238E27FC236}">
                  <a16:creationId xmlns:a16="http://schemas.microsoft.com/office/drawing/2014/main" id="{006B2530-F321-5332-4B0E-9EEF9B83C41A}"/>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a:extLst>
              <a:ext uri="{FF2B5EF4-FFF2-40B4-BE49-F238E27FC236}">
                <a16:creationId xmlns:a16="http://schemas.microsoft.com/office/drawing/2014/main" id="{F84BB993-ECB7-98E7-3BFA-F0CB82CF886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a:extLst>
              <a:ext uri="{FF2B5EF4-FFF2-40B4-BE49-F238E27FC236}">
                <a16:creationId xmlns:a16="http://schemas.microsoft.com/office/drawing/2014/main" id="{048778D8-39C4-C358-28C4-BA9B0D403E11}"/>
              </a:ext>
            </a:extLst>
          </p:cNvPr>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a:extLst>
              <a:ext uri="{FF2B5EF4-FFF2-40B4-BE49-F238E27FC236}">
                <a16:creationId xmlns:a16="http://schemas.microsoft.com/office/drawing/2014/main" id="{F5FAB395-8F16-60E8-0236-14DB5821394D}"/>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85;p59">
            <a:extLst>
              <a:ext uri="{FF2B5EF4-FFF2-40B4-BE49-F238E27FC236}">
                <a16:creationId xmlns:a16="http://schemas.microsoft.com/office/drawing/2014/main" id="{584195D3-F7BD-4600-9DCF-BEF22F7E2728}"/>
              </a:ext>
            </a:extLst>
          </p:cNvPr>
          <p:cNvSpPr txBox="1">
            <a:spLocks/>
          </p:cNvSpPr>
          <p:nvPr/>
        </p:nvSpPr>
        <p:spPr>
          <a:xfrm>
            <a:off x="2634343" y="271689"/>
            <a:ext cx="7772400" cy="5937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3600"/>
            </a:pPr>
            <a:r>
              <a:rPr lang="en-US" sz="3600">
                <a:solidFill>
                  <a:srgbClr val="1581AA"/>
                </a:solidFill>
              </a:rPr>
              <a:t>RECURSION</a:t>
            </a:r>
            <a:endParaRPr lang="en-US" dirty="0"/>
          </a:p>
        </p:txBody>
      </p:sp>
      <p:sp>
        <p:nvSpPr>
          <p:cNvPr id="3" name="Google Shape;686;p59">
            <a:extLst>
              <a:ext uri="{FF2B5EF4-FFF2-40B4-BE49-F238E27FC236}">
                <a16:creationId xmlns:a16="http://schemas.microsoft.com/office/drawing/2014/main" id="{52C0A28D-AFAA-36D5-FFD2-7E6E3A293762}"/>
              </a:ext>
            </a:extLst>
          </p:cNvPr>
          <p:cNvSpPr txBox="1">
            <a:spLocks/>
          </p:cNvSpPr>
          <p:nvPr/>
        </p:nvSpPr>
        <p:spPr>
          <a:xfrm>
            <a:off x="2777464" y="1286969"/>
            <a:ext cx="8315079" cy="49505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80000"/>
              </a:lnSpc>
              <a:spcBef>
                <a:spcPts val="0"/>
              </a:spcBef>
              <a:buFont typeface="Arial"/>
              <a:buNone/>
            </a:pPr>
            <a:r>
              <a:rPr lang="en-US" sz="2000" dirty="0">
                <a:solidFill>
                  <a:srgbClr val="404040"/>
                </a:solidFill>
                <a:latin typeface="Times New Roman" panose="02020603050405020304" pitchFamily="18" charset="0"/>
                <a:cs typeface="Times New Roman" panose="02020603050405020304" pitchFamily="18" charset="0"/>
              </a:rPr>
              <a:t>Recursion is the process of repeating items in a self-similar way. In programming languages, if a program allows you to call a function inside the same function, then it is called a recursive call of the function.</a:t>
            </a:r>
            <a:endParaRPr lang="en-US" sz="2000" dirty="0">
              <a:latin typeface="Times New Roman" panose="02020603050405020304" pitchFamily="18" charset="0"/>
              <a:cs typeface="Times New Roman" panose="02020603050405020304" pitchFamily="18" charset="0"/>
            </a:endParaRPr>
          </a:p>
          <a:p>
            <a:pPr marL="0" indent="0" algn="just">
              <a:lnSpc>
                <a:spcPct val="40000"/>
              </a:lnSpc>
              <a:buFont typeface="Arial"/>
              <a:buNone/>
            </a:pPr>
            <a:r>
              <a:rPr lang="en-US" sz="2400" dirty="0">
                <a:solidFill>
                  <a:srgbClr val="FF0000"/>
                </a:solidFill>
              </a:rPr>
              <a:t>void recursion()</a:t>
            </a:r>
            <a:endParaRPr lang="en-US" sz="2400" dirty="0"/>
          </a:p>
          <a:p>
            <a:pPr marL="0" indent="0" algn="just">
              <a:lnSpc>
                <a:spcPct val="40000"/>
              </a:lnSpc>
              <a:buFont typeface="Arial"/>
              <a:buNone/>
            </a:pPr>
            <a:r>
              <a:rPr lang="en-US" sz="2400" dirty="0">
                <a:solidFill>
                  <a:srgbClr val="FF0000"/>
                </a:solidFill>
              </a:rPr>
              <a:t>{</a:t>
            </a:r>
            <a:endParaRPr lang="en-US" sz="2400" dirty="0"/>
          </a:p>
          <a:p>
            <a:pPr marL="0" indent="0" algn="just">
              <a:lnSpc>
                <a:spcPct val="40000"/>
              </a:lnSpc>
              <a:buFont typeface="Arial"/>
              <a:buNone/>
            </a:pPr>
            <a:r>
              <a:rPr lang="en-US" sz="2400" dirty="0">
                <a:solidFill>
                  <a:srgbClr val="FF0000"/>
                </a:solidFill>
              </a:rPr>
              <a:t>recursion(); /* function calls itself */</a:t>
            </a:r>
            <a:endParaRPr lang="en-US" sz="2400" dirty="0"/>
          </a:p>
          <a:p>
            <a:pPr marL="0" indent="0" algn="just">
              <a:lnSpc>
                <a:spcPct val="40000"/>
              </a:lnSpc>
              <a:buFont typeface="Arial"/>
              <a:buNone/>
            </a:pPr>
            <a:r>
              <a:rPr lang="en-US" sz="2400" dirty="0">
                <a:solidFill>
                  <a:srgbClr val="FF0000"/>
                </a:solidFill>
              </a:rPr>
              <a:t>}</a:t>
            </a:r>
            <a:endParaRPr lang="en-US" sz="2400" dirty="0"/>
          </a:p>
          <a:p>
            <a:pPr marL="0" indent="0" algn="just">
              <a:lnSpc>
                <a:spcPct val="40000"/>
              </a:lnSpc>
              <a:buFont typeface="Arial"/>
              <a:buNone/>
            </a:pPr>
            <a:r>
              <a:rPr lang="en-US" sz="2400" dirty="0">
                <a:solidFill>
                  <a:srgbClr val="FF0000"/>
                </a:solidFill>
              </a:rPr>
              <a:t>void main()</a:t>
            </a:r>
            <a:endParaRPr lang="en-US" sz="2400" dirty="0"/>
          </a:p>
          <a:p>
            <a:pPr marL="0" indent="0" algn="just">
              <a:lnSpc>
                <a:spcPct val="40000"/>
              </a:lnSpc>
              <a:buFont typeface="Arial"/>
              <a:buNone/>
            </a:pPr>
            <a:r>
              <a:rPr lang="en-US" sz="2400" dirty="0">
                <a:solidFill>
                  <a:srgbClr val="FF0000"/>
                </a:solidFill>
              </a:rPr>
              <a:t>{</a:t>
            </a:r>
            <a:endParaRPr lang="en-US" sz="2400" dirty="0"/>
          </a:p>
          <a:p>
            <a:pPr marL="0" indent="0" algn="just">
              <a:lnSpc>
                <a:spcPct val="40000"/>
              </a:lnSpc>
              <a:buFont typeface="Arial"/>
              <a:buNone/>
            </a:pPr>
            <a:r>
              <a:rPr lang="en-US" sz="2400" dirty="0">
                <a:solidFill>
                  <a:srgbClr val="FF0000"/>
                </a:solidFill>
              </a:rPr>
              <a:t>recursion();</a:t>
            </a:r>
            <a:endParaRPr lang="en-US" sz="2400" dirty="0"/>
          </a:p>
          <a:p>
            <a:pPr marL="0" indent="0" algn="just">
              <a:lnSpc>
                <a:spcPct val="40000"/>
              </a:lnSpc>
              <a:buFont typeface="Arial"/>
              <a:buNone/>
            </a:pPr>
            <a:r>
              <a:rPr lang="en-US" sz="2400" dirty="0">
                <a:solidFill>
                  <a:srgbClr val="FF0000"/>
                </a:solidFill>
              </a:rPr>
              <a:t>}</a:t>
            </a:r>
            <a:endParaRPr lang="en-US" sz="2400" dirty="0"/>
          </a:p>
        </p:txBody>
      </p:sp>
    </p:spTree>
    <p:extLst>
      <p:ext uri="{BB962C8B-B14F-4D97-AF65-F5344CB8AC3E}">
        <p14:creationId xmlns:p14="http://schemas.microsoft.com/office/powerpoint/2010/main" val="921967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91;p60">
            <a:extLst>
              <a:ext uri="{FF2B5EF4-FFF2-40B4-BE49-F238E27FC236}">
                <a16:creationId xmlns:a16="http://schemas.microsoft.com/office/drawing/2014/main" id="{EBFE283D-5E8E-D0D6-74BF-9E430DE9BE71}"/>
              </a:ext>
            </a:extLst>
          </p:cNvPr>
          <p:cNvSpPr txBox="1">
            <a:spLocks/>
          </p:cNvSpPr>
          <p:nvPr/>
        </p:nvSpPr>
        <p:spPr>
          <a:xfrm>
            <a:off x="2826483" y="547007"/>
            <a:ext cx="7566025" cy="43021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90000"/>
              </a:lnSpc>
              <a:spcBef>
                <a:spcPts val="0"/>
              </a:spcBef>
              <a:buFont typeface="Arial"/>
              <a:buNone/>
            </a:pPr>
            <a:r>
              <a:rPr lang="en-US" sz="2400" dirty="0">
                <a:solidFill>
                  <a:srgbClr val="404040"/>
                </a:solidFill>
                <a:latin typeface="Times New Roman" panose="02020603050405020304" pitchFamily="18" charset="0"/>
                <a:cs typeface="Times New Roman" panose="02020603050405020304" pitchFamily="18" charset="0"/>
              </a:rPr>
              <a:t>The C programming language supports recursion, i.e., a function to call itself. But while using recursion, programmers need to be careful to define an exit condition from the function; otherwise it will go into an infinite loop.</a:t>
            </a:r>
            <a:endParaRPr lang="en-US" sz="2400" dirty="0">
              <a:latin typeface="Times New Roman" panose="02020603050405020304" pitchFamily="18" charset="0"/>
              <a:cs typeface="Times New Roman" panose="02020603050405020304" pitchFamily="18" charset="0"/>
            </a:endParaRPr>
          </a:p>
          <a:p>
            <a:pPr marL="0" indent="0" algn="just">
              <a:lnSpc>
                <a:spcPct val="19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Recursive functions are very useful to solve many mathematical problems, such as calculating the factorial of a number, generating Fibonacci series, etc.</a:t>
            </a:r>
            <a:endParaRPr lang="en-US" sz="2400" dirty="0">
              <a:latin typeface="Times New Roman" panose="02020603050405020304" pitchFamily="18" charset="0"/>
              <a:cs typeface="Times New Roman" panose="02020603050405020304" pitchFamily="18" charset="0"/>
            </a:endParaRPr>
          </a:p>
          <a:p>
            <a:pPr marL="0" indent="0" algn="ctr">
              <a:buClr>
                <a:srgbClr val="353535"/>
              </a:buClr>
              <a:buFont typeface="Noto Sans Symbols"/>
              <a:buNone/>
            </a:pPr>
            <a:endParaRPr lang="en-US" sz="1800" dirty="0">
              <a:solidFill>
                <a:srgbClr val="404040"/>
              </a:solidFill>
            </a:endParaRPr>
          </a:p>
        </p:txBody>
      </p:sp>
    </p:spTree>
    <p:extLst>
      <p:ext uri="{BB962C8B-B14F-4D97-AF65-F5344CB8AC3E}">
        <p14:creationId xmlns:p14="http://schemas.microsoft.com/office/powerpoint/2010/main" val="3433773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96;p61">
            <a:extLst>
              <a:ext uri="{FF2B5EF4-FFF2-40B4-BE49-F238E27FC236}">
                <a16:creationId xmlns:a16="http://schemas.microsoft.com/office/drawing/2014/main" id="{27827A43-7CE6-F6B0-A2A7-EB8364E402F9}"/>
              </a:ext>
            </a:extLst>
          </p:cNvPr>
          <p:cNvSpPr txBox="1">
            <a:spLocks/>
          </p:cNvSpPr>
          <p:nvPr/>
        </p:nvSpPr>
        <p:spPr>
          <a:xfrm>
            <a:off x="2498984" y="548320"/>
            <a:ext cx="8718443" cy="5319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chemeClr val="accent2"/>
                </a:solidFill>
              </a:rPr>
              <a:t>RECURSION PROPERTIES</a:t>
            </a:r>
          </a:p>
          <a:p>
            <a:pPr marL="0" indent="0" algn="just">
              <a:lnSpc>
                <a:spcPct val="12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A recursive function can go infinite like a loop. To avoid infinite running of recursive function, there are two properties that a recursive function must have −</a:t>
            </a:r>
            <a:endParaRPr lang="en-US" sz="2000" dirty="0">
              <a:latin typeface="Times New Roman" panose="02020603050405020304" pitchFamily="18" charset="0"/>
              <a:cs typeface="Times New Roman" panose="02020603050405020304" pitchFamily="18" charset="0"/>
            </a:endParaRPr>
          </a:p>
          <a:p>
            <a:pPr marL="0" indent="-114300" algn="just">
              <a:lnSpc>
                <a:spcPct val="120000"/>
              </a:lnSpc>
              <a:buClr>
                <a:srgbClr val="353535"/>
              </a:buClr>
            </a:pPr>
            <a:r>
              <a:rPr lang="en-US" sz="2000" b="1" dirty="0">
                <a:solidFill>
                  <a:srgbClr val="404040"/>
                </a:solidFill>
                <a:latin typeface="Times New Roman" panose="02020603050405020304" pitchFamily="18" charset="0"/>
                <a:cs typeface="Times New Roman" panose="02020603050405020304" pitchFamily="18" charset="0"/>
              </a:rPr>
              <a:t>Base criteria</a:t>
            </a:r>
            <a:r>
              <a:rPr lang="en-US" sz="2000" dirty="0">
                <a:solidFill>
                  <a:srgbClr val="404040"/>
                </a:solidFill>
                <a:latin typeface="Times New Roman" panose="02020603050405020304" pitchFamily="18" charset="0"/>
                <a:cs typeface="Times New Roman" panose="02020603050405020304" pitchFamily="18" charset="0"/>
              </a:rPr>
              <a:t> − There must be at least one base criteria or condition, such </a:t>
            </a:r>
            <a:r>
              <a:rPr lang="en-US" sz="2000" dirty="0" err="1">
                <a:solidFill>
                  <a:srgbClr val="404040"/>
                </a:solidFill>
                <a:latin typeface="Times New Roman" panose="02020603050405020304" pitchFamily="18" charset="0"/>
                <a:cs typeface="Times New Roman" panose="02020603050405020304" pitchFamily="18" charset="0"/>
              </a:rPr>
              <a:t>that,when</a:t>
            </a:r>
            <a:r>
              <a:rPr lang="en-US" sz="2000" dirty="0">
                <a:solidFill>
                  <a:srgbClr val="404040"/>
                </a:solidFill>
                <a:latin typeface="Times New Roman" panose="02020603050405020304" pitchFamily="18" charset="0"/>
                <a:cs typeface="Times New Roman" panose="02020603050405020304" pitchFamily="18" charset="0"/>
              </a:rPr>
              <a:t> this condition is met the function stops calling itself recursively.</a:t>
            </a:r>
            <a:endParaRPr lang="en-US" sz="2000" dirty="0">
              <a:latin typeface="Times New Roman" panose="02020603050405020304" pitchFamily="18" charset="0"/>
              <a:cs typeface="Times New Roman" panose="02020603050405020304" pitchFamily="18" charset="0"/>
            </a:endParaRPr>
          </a:p>
          <a:p>
            <a:pPr marL="0" indent="-114300" algn="just">
              <a:lnSpc>
                <a:spcPct val="120000"/>
              </a:lnSpc>
              <a:buClr>
                <a:srgbClr val="353535"/>
              </a:buClr>
            </a:pPr>
            <a:r>
              <a:rPr lang="en-US" sz="2000" b="1" dirty="0">
                <a:solidFill>
                  <a:srgbClr val="404040"/>
                </a:solidFill>
                <a:latin typeface="Times New Roman" panose="02020603050405020304" pitchFamily="18" charset="0"/>
                <a:cs typeface="Times New Roman" panose="02020603050405020304" pitchFamily="18" charset="0"/>
              </a:rPr>
              <a:t>Progressive approach</a:t>
            </a:r>
            <a:r>
              <a:rPr lang="en-US" sz="2000" dirty="0">
                <a:solidFill>
                  <a:srgbClr val="404040"/>
                </a:solidFill>
                <a:latin typeface="Times New Roman" panose="02020603050405020304" pitchFamily="18" charset="0"/>
                <a:cs typeface="Times New Roman" panose="02020603050405020304" pitchFamily="18" charset="0"/>
              </a:rPr>
              <a:t> − The recursive calls should progress in such a way </a:t>
            </a:r>
            <a:r>
              <a:rPr lang="en-US" sz="2000" dirty="0" err="1">
                <a:solidFill>
                  <a:srgbClr val="404040"/>
                </a:solidFill>
                <a:latin typeface="Times New Roman" panose="02020603050405020304" pitchFamily="18" charset="0"/>
                <a:cs typeface="Times New Roman" panose="02020603050405020304" pitchFamily="18" charset="0"/>
              </a:rPr>
              <a:t>thateach</a:t>
            </a:r>
            <a:r>
              <a:rPr lang="en-US" sz="2000" dirty="0">
                <a:solidFill>
                  <a:srgbClr val="404040"/>
                </a:solidFill>
                <a:latin typeface="Times New Roman" panose="02020603050405020304" pitchFamily="18" charset="0"/>
                <a:cs typeface="Times New Roman" panose="02020603050405020304" pitchFamily="18" charset="0"/>
              </a:rPr>
              <a:t> time a recursive call is made it comes closer to the base criteria.</a:t>
            </a:r>
            <a:endParaRPr lang="en-US" sz="2000" dirty="0">
              <a:latin typeface="Times New Roman" panose="02020603050405020304" pitchFamily="18" charset="0"/>
              <a:cs typeface="Times New Roman" panose="02020603050405020304" pitchFamily="18" charset="0"/>
            </a:endParaRPr>
          </a:p>
          <a:p>
            <a:pPr marL="0" indent="-114300" algn="just">
              <a:lnSpc>
                <a:spcPct val="120000"/>
              </a:lnSpc>
              <a:buClr>
                <a:srgbClr val="353535"/>
              </a:buClr>
            </a:pPr>
            <a:r>
              <a:rPr lang="en-US" sz="2000" b="1" dirty="0">
                <a:solidFill>
                  <a:srgbClr val="404040"/>
                </a:solidFill>
                <a:latin typeface="Times New Roman" panose="02020603050405020304" pitchFamily="18" charset="0"/>
                <a:cs typeface="Times New Roman" panose="02020603050405020304" pitchFamily="18" charset="0"/>
              </a:rPr>
              <a:t>Analysis of recursion-</a:t>
            </a:r>
            <a:r>
              <a:rPr lang="en-US" sz="2000" dirty="0">
                <a:solidFill>
                  <a:srgbClr val="404040"/>
                </a:solidFill>
                <a:latin typeface="Times New Roman" panose="02020603050405020304" pitchFamily="18" charset="0"/>
                <a:cs typeface="Times New Roman" panose="02020603050405020304" pitchFamily="18" charset="0"/>
              </a:rPr>
              <a:t>One may argue that why to use recursion as the same task can be done with iteration. The first reason is recursion makes a program more readable and because of today's enhance CPU</a:t>
            </a:r>
            <a:r>
              <a:rPr lang="en-US" sz="240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systems, recursion is more efficient than iterations.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84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141007" y="5060430"/>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01;p62">
            <a:extLst>
              <a:ext uri="{FF2B5EF4-FFF2-40B4-BE49-F238E27FC236}">
                <a16:creationId xmlns:a16="http://schemas.microsoft.com/office/drawing/2014/main" id="{BCF9F3ED-BC67-9EEF-01A1-E71B59C16A74}"/>
              </a:ext>
            </a:extLst>
          </p:cNvPr>
          <p:cNvSpPr txBox="1">
            <a:spLocks/>
          </p:cNvSpPr>
          <p:nvPr/>
        </p:nvSpPr>
        <p:spPr>
          <a:xfrm>
            <a:off x="2716258" y="448582"/>
            <a:ext cx="7769225" cy="4257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chemeClr val="accent2"/>
                </a:solidFill>
                <a:latin typeface="Times New Roman" panose="02020603050405020304" pitchFamily="18" charset="0"/>
                <a:cs typeface="Times New Roman" panose="02020603050405020304" pitchFamily="18" charset="0"/>
              </a:rPr>
              <a:t>FACTORIAL NUMBER</a:t>
            </a: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	The product of the positive integers from 1 to n, inclusive is called n factorial and is usually denoted by n!</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n!=1*2*3*4*………*(n-2)*(n-1)*n.</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Factorial function may be defined as</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a. if n=0 then n!=1</a:t>
            </a:r>
            <a:endParaRPr lang="en-US" sz="2400" dirty="0">
              <a:latin typeface="Times New Roman" panose="02020603050405020304" pitchFamily="18" charset="0"/>
              <a:cs typeface="Times New Roman" panose="02020603050405020304" pitchFamily="18" charset="0"/>
            </a:endParaRPr>
          </a:p>
          <a:p>
            <a:pPr marL="0" indent="0">
              <a:lnSpc>
                <a:spcPct val="10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b. if n&gt;0, then n!=n*(n-1)!</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0530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707;p63">
            <a:extLst>
              <a:ext uri="{FF2B5EF4-FFF2-40B4-BE49-F238E27FC236}">
                <a16:creationId xmlns:a16="http://schemas.microsoft.com/office/drawing/2014/main" id="{6CB3BF10-E5E5-5966-35B8-2624A79C27AC}"/>
              </a:ext>
            </a:extLst>
          </p:cNvPr>
          <p:cNvPicPr preferRelativeResize="0"/>
          <p:nvPr/>
        </p:nvPicPr>
        <p:blipFill rotWithShape="1">
          <a:blip r:embed="rId4">
            <a:alphaModFix/>
          </a:blip>
          <a:srcRect/>
          <a:stretch/>
        </p:blipFill>
        <p:spPr>
          <a:xfrm>
            <a:off x="3806598" y="551997"/>
            <a:ext cx="5514975" cy="4143375"/>
          </a:xfrm>
          <a:prstGeom prst="rect">
            <a:avLst/>
          </a:prstGeom>
          <a:noFill/>
          <a:ln>
            <a:noFill/>
          </a:ln>
        </p:spPr>
      </p:pic>
    </p:spTree>
    <p:extLst>
      <p:ext uri="{BB962C8B-B14F-4D97-AF65-F5344CB8AC3E}">
        <p14:creationId xmlns:p14="http://schemas.microsoft.com/office/powerpoint/2010/main" val="1331941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12;p64">
            <a:extLst>
              <a:ext uri="{FF2B5EF4-FFF2-40B4-BE49-F238E27FC236}">
                <a16:creationId xmlns:a16="http://schemas.microsoft.com/office/drawing/2014/main" id="{16486D0B-B6FF-6A34-72C0-DAB97247D720}"/>
              </a:ext>
            </a:extLst>
          </p:cNvPr>
          <p:cNvSpPr txBox="1">
            <a:spLocks/>
          </p:cNvSpPr>
          <p:nvPr/>
        </p:nvSpPr>
        <p:spPr>
          <a:xfrm>
            <a:off x="2716258" y="258284"/>
            <a:ext cx="7724775" cy="4435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a:solidFill>
                  <a:srgbClr val="404040"/>
                </a:solidFill>
              </a:rPr>
              <a:t>The following example calculates the factorial of a given number using a recursive function</a:t>
            </a:r>
            <a:endParaRPr lang="en-US"/>
          </a:p>
          <a:p>
            <a:pPr marL="0" indent="0">
              <a:lnSpc>
                <a:spcPct val="20000"/>
              </a:lnSpc>
              <a:buFont typeface="Arial"/>
              <a:buNone/>
            </a:pPr>
            <a:r>
              <a:rPr lang="en-US" sz="1800">
                <a:solidFill>
                  <a:srgbClr val="7030A0"/>
                </a:solidFill>
              </a:rPr>
              <a:t>#include &lt;stdio.h&gt;</a:t>
            </a:r>
            <a:endParaRPr lang="en-US"/>
          </a:p>
          <a:p>
            <a:pPr marL="0" indent="0">
              <a:lnSpc>
                <a:spcPct val="20000"/>
              </a:lnSpc>
              <a:buFont typeface="Arial"/>
              <a:buNone/>
            </a:pPr>
            <a:r>
              <a:rPr lang="en-US" sz="1800">
                <a:solidFill>
                  <a:srgbClr val="7030A0"/>
                </a:solidFill>
              </a:rPr>
              <a:t>int factorial(unsigned int n)</a:t>
            </a:r>
            <a:endParaRPr lang="en-US"/>
          </a:p>
          <a:p>
            <a:pPr marL="0" indent="0">
              <a:lnSpc>
                <a:spcPct val="20000"/>
              </a:lnSpc>
              <a:buFont typeface="Arial"/>
              <a:buNone/>
            </a:pPr>
            <a:r>
              <a:rPr lang="en-US" sz="1800">
                <a:solidFill>
                  <a:srgbClr val="7030A0"/>
                </a:solidFill>
              </a:rPr>
              <a:t>{</a:t>
            </a:r>
            <a:endParaRPr lang="en-US"/>
          </a:p>
          <a:p>
            <a:pPr marL="0" indent="0">
              <a:lnSpc>
                <a:spcPct val="20000"/>
              </a:lnSpc>
              <a:buFont typeface="Arial"/>
              <a:buNone/>
            </a:pPr>
            <a:r>
              <a:rPr lang="en-US" sz="1800">
                <a:solidFill>
                  <a:srgbClr val="7030A0"/>
                </a:solidFill>
              </a:rPr>
              <a:t>	if(n &lt;= 1)</a:t>
            </a:r>
            <a:endParaRPr lang="en-US"/>
          </a:p>
          <a:p>
            <a:pPr marL="0" indent="0">
              <a:lnSpc>
                <a:spcPct val="20000"/>
              </a:lnSpc>
              <a:buFont typeface="Arial"/>
              <a:buNone/>
            </a:pPr>
            <a:r>
              <a:rPr lang="en-US" sz="1800">
                <a:solidFill>
                  <a:srgbClr val="7030A0"/>
                </a:solidFill>
              </a:rPr>
              <a:t>	 {</a:t>
            </a:r>
            <a:endParaRPr lang="en-US"/>
          </a:p>
          <a:p>
            <a:pPr marL="0" indent="0">
              <a:lnSpc>
                <a:spcPct val="20000"/>
              </a:lnSpc>
              <a:buFont typeface="Arial"/>
              <a:buNone/>
            </a:pPr>
            <a:r>
              <a:rPr lang="en-US" sz="1800">
                <a:solidFill>
                  <a:srgbClr val="7030A0"/>
                </a:solidFill>
              </a:rPr>
              <a:t>		return 1;</a:t>
            </a:r>
            <a:endParaRPr lang="en-US"/>
          </a:p>
          <a:p>
            <a:pPr marL="0" indent="0">
              <a:lnSpc>
                <a:spcPct val="20000"/>
              </a:lnSpc>
              <a:buFont typeface="Arial"/>
              <a:buNone/>
            </a:pPr>
            <a:r>
              <a:rPr lang="en-US" sz="1800">
                <a:solidFill>
                  <a:srgbClr val="7030A0"/>
                </a:solidFill>
              </a:rPr>
              <a:t>	}		</a:t>
            </a:r>
            <a:endParaRPr lang="en-US"/>
          </a:p>
          <a:p>
            <a:pPr marL="0" indent="0">
              <a:lnSpc>
                <a:spcPct val="20000"/>
              </a:lnSpc>
              <a:buFont typeface="Arial"/>
              <a:buNone/>
            </a:pPr>
            <a:r>
              <a:rPr lang="en-US" sz="1800">
                <a:solidFill>
                  <a:srgbClr val="7030A0"/>
                </a:solidFill>
              </a:rPr>
              <a:t>	return n * factorial(n - 1);</a:t>
            </a:r>
            <a:endParaRPr lang="en-US"/>
          </a:p>
          <a:p>
            <a:pPr marL="0" indent="0">
              <a:lnSpc>
                <a:spcPct val="20000"/>
              </a:lnSpc>
              <a:buFont typeface="Arial"/>
              <a:buNone/>
            </a:pPr>
            <a:r>
              <a:rPr lang="en-US" sz="1800">
                <a:solidFill>
                  <a:srgbClr val="7030A0"/>
                </a:solidFill>
              </a:rPr>
              <a:t>}</a:t>
            </a:r>
            <a:endParaRPr lang="en-US"/>
          </a:p>
          <a:p>
            <a:pPr marL="0" indent="0">
              <a:lnSpc>
                <a:spcPct val="20000"/>
              </a:lnSpc>
              <a:buFont typeface="Arial"/>
              <a:buNone/>
            </a:pPr>
            <a:r>
              <a:rPr lang="en-US" sz="1800">
                <a:solidFill>
                  <a:srgbClr val="7030A0"/>
                </a:solidFill>
              </a:rPr>
              <a:t>void main()</a:t>
            </a:r>
            <a:endParaRPr lang="en-US"/>
          </a:p>
          <a:p>
            <a:pPr marL="0" indent="0">
              <a:lnSpc>
                <a:spcPct val="20000"/>
              </a:lnSpc>
              <a:buFont typeface="Arial"/>
              <a:buNone/>
            </a:pPr>
            <a:r>
              <a:rPr lang="en-US" sz="1800">
                <a:solidFill>
                  <a:srgbClr val="7030A0"/>
                </a:solidFill>
              </a:rPr>
              <a:t>{</a:t>
            </a:r>
            <a:endParaRPr lang="en-US"/>
          </a:p>
          <a:p>
            <a:pPr marL="0" indent="0">
              <a:lnSpc>
                <a:spcPct val="20000"/>
              </a:lnSpc>
              <a:buFont typeface="Arial"/>
              <a:buNone/>
            </a:pPr>
            <a:r>
              <a:rPr lang="en-US" sz="1800">
                <a:solidFill>
                  <a:srgbClr val="7030A0"/>
                </a:solidFill>
              </a:rPr>
              <a:t>	int n = 15;</a:t>
            </a:r>
            <a:endParaRPr lang="en-US"/>
          </a:p>
          <a:p>
            <a:pPr marL="0" indent="0">
              <a:lnSpc>
                <a:spcPct val="20000"/>
              </a:lnSpc>
              <a:buFont typeface="Arial"/>
              <a:buNone/>
            </a:pPr>
            <a:r>
              <a:rPr lang="en-US" sz="1800">
                <a:solidFill>
                  <a:srgbClr val="7030A0"/>
                </a:solidFill>
              </a:rPr>
              <a:t>	printf("Factorial of %d is %d\n", n, factorial(n));</a:t>
            </a:r>
            <a:endParaRPr lang="en-US"/>
          </a:p>
          <a:p>
            <a:pPr marL="0" indent="0">
              <a:lnSpc>
                <a:spcPct val="20000"/>
              </a:lnSpc>
              <a:buFont typeface="Arial"/>
              <a:buNone/>
            </a:pPr>
            <a:r>
              <a:rPr lang="en-US" sz="1800">
                <a:solidFill>
                  <a:srgbClr val="7030A0"/>
                </a:solidFill>
              </a:rPr>
              <a:t>}</a:t>
            </a:r>
            <a:endParaRPr lang="en-US"/>
          </a:p>
          <a:p>
            <a:pPr marL="0" indent="0">
              <a:lnSpc>
                <a:spcPct val="100000"/>
              </a:lnSpc>
              <a:buFont typeface="Arial"/>
              <a:buNone/>
            </a:pPr>
            <a:r>
              <a:rPr lang="en-US" sz="1800">
                <a:solidFill>
                  <a:srgbClr val="C00000"/>
                </a:solidFill>
              </a:rPr>
              <a:t>When the above code is compiled and executed, it produces the following result −</a:t>
            </a:r>
            <a:endParaRPr lang="en-US"/>
          </a:p>
          <a:p>
            <a:pPr marL="0" indent="0">
              <a:lnSpc>
                <a:spcPct val="100000"/>
              </a:lnSpc>
              <a:buFont typeface="Arial"/>
              <a:buNone/>
            </a:pPr>
            <a:r>
              <a:rPr lang="en-US" sz="1800">
                <a:solidFill>
                  <a:srgbClr val="C00000"/>
                </a:solidFill>
              </a:rPr>
              <a:t>Factorial of 15 is 2004310016</a:t>
            </a:r>
            <a:endParaRPr lang="en-US" dirty="0"/>
          </a:p>
        </p:txBody>
      </p:sp>
    </p:spTree>
    <p:extLst>
      <p:ext uri="{BB962C8B-B14F-4D97-AF65-F5344CB8AC3E}">
        <p14:creationId xmlns:p14="http://schemas.microsoft.com/office/powerpoint/2010/main" val="13696482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17;p65">
            <a:extLst>
              <a:ext uri="{FF2B5EF4-FFF2-40B4-BE49-F238E27FC236}">
                <a16:creationId xmlns:a16="http://schemas.microsoft.com/office/drawing/2014/main" id="{2F205526-83C2-F971-EAF2-B4105D43D4C8}"/>
              </a:ext>
            </a:extLst>
          </p:cNvPr>
          <p:cNvSpPr txBox="1">
            <a:spLocks/>
          </p:cNvSpPr>
          <p:nvPr/>
        </p:nvSpPr>
        <p:spPr>
          <a:xfrm>
            <a:off x="2442084" y="269397"/>
            <a:ext cx="7612062" cy="44132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a:solidFill>
                  <a:srgbClr val="C00000"/>
                </a:solidFill>
              </a:rPr>
              <a:t>GCD OF TWO NUMBERS:-is the largest positive integer that divides the numbers without remainder.</a:t>
            </a:r>
            <a:endParaRPr lang="en-US"/>
          </a:p>
          <a:p>
            <a:pPr marL="0" indent="0" algn="ctr">
              <a:buClr>
                <a:srgbClr val="353535"/>
              </a:buClr>
              <a:buFont typeface="Noto Sans Symbols"/>
              <a:buNone/>
            </a:pPr>
            <a:endParaRPr lang="en-US" sz="1800" dirty="0">
              <a:solidFill>
                <a:srgbClr val="C00000"/>
              </a:solidFill>
            </a:endParaRPr>
          </a:p>
        </p:txBody>
      </p:sp>
      <p:pic>
        <p:nvPicPr>
          <p:cNvPr id="3" name="Google Shape;718;p65">
            <a:extLst>
              <a:ext uri="{FF2B5EF4-FFF2-40B4-BE49-F238E27FC236}">
                <a16:creationId xmlns:a16="http://schemas.microsoft.com/office/drawing/2014/main" id="{98AFBC08-0C8B-0F66-BC9A-4F7F437CA11C}"/>
              </a:ext>
            </a:extLst>
          </p:cNvPr>
          <p:cNvPicPr preferRelativeResize="0"/>
          <p:nvPr/>
        </p:nvPicPr>
        <p:blipFill rotWithShape="1">
          <a:blip r:embed="rId4">
            <a:alphaModFix/>
          </a:blip>
          <a:srcRect/>
          <a:stretch/>
        </p:blipFill>
        <p:spPr>
          <a:xfrm>
            <a:off x="3608744" y="1192689"/>
            <a:ext cx="5159375" cy="3611562"/>
          </a:xfrm>
          <a:prstGeom prst="rect">
            <a:avLst/>
          </a:prstGeom>
          <a:noFill/>
          <a:ln>
            <a:noFill/>
          </a:ln>
        </p:spPr>
      </p:pic>
    </p:spTree>
    <p:extLst>
      <p:ext uri="{BB962C8B-B14F-4D97-AF65-F5344CB8AC3E}">
        <p14:creationId xmlns:p14="http://schemas.microsoft.com/office/powerpoint/2010/main" val="1414194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23;p66">
            <a:extLst>
              <a:ext uri="{FF2B5EF4-FFF2-40B4-BE49-F238E27FC236}">
                <a16:creationId xmlns:a16="http://schemas.microsoft.com/office/drawing/2014/main" id="{7310E384-8615-2751-0FF1-5570DF03FFE8}"/>
              </a:ext>
            </a:extLst>
          </p:cNvPr>
          <p:cNvSpPr txBox="1">
            <a:spLocks/>
          </p:cNvSpPr>
          <p:nvPr/>
        </p:nvSpPr>
        <p:spPr>
          <a:xfrm>
            <a:off x="2994738" y="1004253"/>
            <a:ext cx="7350125" cy="35194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a:solidFill>
                  <a:srgbClr val="404040"/>
                </a:solidFill>
              </a:rPr>
              <a:t>       The recursive definition to compute GCD of two numbers M and N using EUCLID's algorithm can be written as shown below: </a:t>
            </a:r>
            <a:endParaRPr lang="en-US"/>
          </a:p>
          <a:p>
            <a:pPr marL="0" indent="0">
              <a:lnSpc>
                <a:spcPct val="100000"/>
              </a:lnSpc>
              <a:buFont typeface="Arial"/>
              <a:buNone/>
            </a:pPr>
            <a:r>
              <a:rPr lang="en-US" sz="1800">
                <a:solidFill>
                  <a:srgbClr val="404040"/>
                </a:solidFill>
              </a:rPr>
              <a:t>                                                  </a:t>
            </a:r>
            <a:endParaRPr lang="en-US"/>
          </a:p>
          <a:p>
            <a:pPr marL="0" indent="0">
              <a:lnSpc>
                <a:spcPct val="100000"/>
              </a:lnSpc>
              <a:buFont typeface="Arial"/>
              <a:buNone/>
            </a:pPr>
            <a:r>
              <a:rPr lang="en-US" sz="1800">
                <a:solidFill>
                  <a:srgbClr val="404040"/>
                </a:solidFill>
              </a:rPr>
              <a:t>                                         M                                  IF N=0     </a:t>
            </a:r>
            <a:r>
              <a:rPr lang="en-US" sz="1800">
                <a:solidFill>
                  <a:srgbClr val="FF0000"/>
                </a:solidFill>
              </a:rPr>
              <a:t>Base case</a:t>
            </a:r>
            <a:endParaRPr lang="en-US"/>
          </a:p>
          <a:p>
            <a:pPr marL="0" indent="0">
              <a:lnSpc>
                <a:spcPct val="100000"/>
              </a:lnSpc>
              <a:buFont typeface="Arial"/>
              <a:buNone/>
            </a:pPr>
            <a:r>
              <a:rPr lang="en-US" sz="1800">
                <a:solidFill>
                  <a:srgbClr val="404040"/>
                </a:solidFill>
              </a:rPr>
              <a:t>      GCD(M,N)=            </a:t>
            </a:r>
            <a:endParaRPr lang="en-US"/>
          </a:p>
          <a:p>
            <a:pPr marL="0" indent="0">
              <a:lnSpc>
                <a:spcPct val="100000"/>
              </a:lnSpc>
              <a:buFont typeface="Arial"/>
              <a:buNone/>
            </a:pPr>
            <a:r>
              <a:rPr lang="en-US" sz="1800">
                <a:solidFill>
                  <a:srgbClr val="404040"/>
                </a:solidFill>
              </a:rPr>
              <a:t>                                        GCD(N,M%N)              OTHERWISE     </a:t>
            </a:r>
            <a:r>
              <a:rPr lang="en-US" sz="1800">
                <a:solidFill>
                  <a:srgbClr val="FF0000"/>
                </a:solidFill>
              </a:rPr>
              <a:t>General Case </a:t>
            </a:r>
            <a:r>
              <a:rPr lang="en-US" sz="1800">
                <a:solidFill>
                  <a:srgbClr val="404040"/>
                </a:solidFill>
              </a:rPr>
              <a:t>                                                      </a:t>
            </a:r>
            <a:endParaRPr lang="en-US" dirty="0"/>
          </a:p>
        </p:txBody>
      </p:sp>
      <p:sp>
        <p:nvSpPr>
          <p:cNvPr id="4" name="Left Brace 3">
            <a:extLst>
              <a:ext uri="{FF2B5EF4-FFF2-40B4-BE49-F238E27FC236}">
                <a16:creationId xmlns:a16="http://schemas.microsoft.com/office/drawing/2014/main" id="{1D30EFE6-6F29-2C22-D1F4-F097C843C3C9}"/>
              </a:ext>
            </a:extLst>
          </p:cNvPr>
          <p:cNvSpPr/>
          <p:nvPr/>
        </p:nvSpPr>
        <p:spPr>
          <a:xfrm>
            <a:off x="4942114" y="2133600"/>
            <a:ext cx="228600" cy="1371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526113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30;p67">
            <a:extLst>
              <a:ext uri="{FF2B5EF4-FFF2-40B4-BE49-F238E27FC236}">
                <a16:creationId xmlns:a16="http://schemas.microsoft.com/office/drawing/2014/main" id="{DA2CDDFD-7D2C-1507-5CAF-CAA3D97BB47B}"/>
              </a:ext>
            </a:extLst>
          </p:cNvPr>
          <p:cNvSpPr txBox="1">
            <a:spLocks/>
          </p:cNvSpPr>
          <p:nvPr/>
        </p:nvSpPr>
        <p:spPr>
          <a:xfrm>
            <a:off x="2437606" y="361156"/>
            <a:ext cx="9350910" cy="39957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dirty="0">
                <a:solidFill>
                  <a:srgbClr val="404040"/>
                </a:solidFill>
              </a:rPr>
              <a:t>The procedure to obtain GCD(6,10) USING Euclid's algorithm is shown below</a:t>
            </a:r>
            <a:endParaRPr lang="en-US" dirty="0"/>
          </a:p>
        </p:txBody>
      </p:sp>
      <p:pic>
        <p:nvPicPr>
          <p:cNvPr id="3" name="Google Shape;731;p67">
            <a:extLst>
              <a:ext uri="{FF2B5EF4-FFF2-40B4-BE49-F238E27FC236}">
                <a16:creationId xmlns:a16="http://schemas.microsoft.com/office/drawing/2014/main" id="{975A937A-D8FA-1696-EACA-2FBF135F7A8A}"/>
              </a:ext>
            </a:extLst>
          </p:cNvPr>
          <p:cNvPicPr preferRelativeResize="0"/>
          <p:nvPr/>
        </p:nvPicPr>
        <p:blipFill rotWithShape="1">
          <a:blip r:embed="rId4">
            <a:alphaModFix/>
          </a:blip>
          <a:srcRect/>
          <a:stretch/>
        </p:blipFill>
        <p:spPr>
          <a:xfrm>
            <a:off x="4186977" y="1183163"/>
            <a:ext cx="5567416" cy="3768881"/>
          </a:xfrm>
          <a:prstGeom prst="rect">
            <a:avLst/>
          </a:prstGeom>
          <a:noFill/>
          <a:ln>
            <a:noFill/>
          </a:ln>
        </p:spPr>
      </p:pic>
    </p:spTree>
    <p:extLst>
      <p:ext uri="{BB962C8B-B14F-4D97-AF65-F5344CB8AC3E}">
        <p14:creationId xmlns:p14="http://schemas.microsoft.com/office/powerpoint/2010/main" val="964890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36;p68">
            <a:extLst>
              <a:ext uri="{FF2B5EF4-FFF2-40B4-BE49-F238E27FC236}">
                <a16:creationId xmlns:a16="http://schemas.microsoft.com/office/drawing/2014/main" id="{3384F963-FDB0-8D21-9CAD-5FAF33C4B459}"/>
              </a:ext>
            </a:extLst>
          </p:cNvPr>
          <p:cNvSpPr txBox="1">
            <a:spLocks/>
          </p:cNvSpPr>
          <p:nvPr/>
        </p:nvSpPr>
        <p:spPr>
          <a:xfrm>
            <a:off x="2541083" y="671059"/>
            <a:ext cx="8116031" cy="50330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chemeClr val="accent5"/>
                </a:solidFill>
              </a:rPr>
              <a:t>GCD is calculated by using GCD(</a:t>
            </a:r>
            <a:r>
              <a:rPr lang="en-US" sz="2400" dirty="0" err="1">
                <a:solidFill>
                  <a:schemeClr val="accent5"/>
                </a:solidFill>
              </a:rPr>
              <a:t>a,b</a:t>
            </a:r>
            <a:r>
              <a:rPr lang="en-US" sz="2400" dirty="0">
                <a:solidFill>
                  <a:schemeClr val="accent5"/>
                </a:solidFill>
              </a:rPr>
              <a:t>)=GCD(</a:t>
            </a:r>
            <a:r>
              <a:rPr lang="en-US" sz="2400" dirty="0" err="1">
                <a:solidFill>
                  <a:schemeClr val="accent5"/>
                </a:solidFill>
              </a:rPr>
              <a:t>b,a</a:t>
            </a:r>
            <a:r>
              <a:rPr lang="en-US" sz="2400" dirty="0">
                <a:solidFill>
                  <a:schemeClr val="accent5"/>
                </a:solidFill>
              </a:rPr>
              <a:t> mod b).</a:t>
            </a:r>
          </a:p>
          <a:p>
            <a:pPr marL="0" indent="0">
              <a:lnSpc>
                <a:spcPct val="30000"/>
              </a:lnSpc>
              <a:buFont typeface="Arial"/>
              <a:buNone/>
            </a:pPr>
            <a:r>
              <a:rPr lang="en-US" sz="2400" dirty="0">
                <a:solidFill>
                  <a:srgbClr val="404040"/>
                </a:solidFill>
              </a:rPr>
              <a:t>#include &lt;</a:t>
            </a:r>
            <a:r>
              <a:rPr lang="en-US" sz="2400" dirty="0" err="1">
                <a:solidFill>
                  <a:srgbClr val="404040"/>
                </a:solidFill>
              </a:rPr>
              <a:t>stdio.h</a:t>
            </a:r>
            <a:r>
              <a:rPr lang="en-US" sz="2400" dirty="0">
                <a:solidFill>
                  <a:srgbClr val="404040"/>
                </a:solidFill>
              </a:rPr>
              <a:t>&gt;</a:t>
            </a:r>
            <a:endParaRPr lang="en-US" sz="2400" dirty="0"/>
          </a:p>
          <a:p>
            <a:pPr marL="0" indent="0">
              <a:lnSpc>
                <a:spcPct val="30000"/>
              </a:lnSpc>
              <a:buFont typeface="Arial"/>
              <a:buNone/>
            </a:pPr>
            <a:r>
              <a:rPr lang="en-US" sz="2400" dirty="0">
                <a:solidFill>
                  <a:srgbClr val="404040"/>
                </a:solidFill>
              </a:rPr>
              <a:t>int </a:t>
            </a:r>
            <a:r>
              <a:rPr lang="en-US" sz="2400" dirty="0" err="1">
                <a:solidFill>
                  <a:srgbClr val="404040"/>
                </a:solidFill>
              </a:rPr>
              <a:t>gcd</a:t>
            </a:r>
            <a:r>
              <a:rPr lang="en-US" sz="2400" dirty="0">
                <a:solidFill>
                  <a:srgbClr val="404040"/>
                </a:solidFill>
              </a:rPr>
              <a:t>(int m, int n);</a:t>
            </a:r>
            <a:endParaRPr lang="en-US" sz="2400" dirty="0"/>
          </a:p>
          <a:p>
            <a:pPr marL="0" indent="0">
              <a:lnSpc>
                <a:spcPct val="30000"/>
              </a:lnSpc>
              <a:buFont typeface="Arial"/>
              <a:buNone/>
            </a:pPr>
            <a:r>
              <a:rPr lang="en-US" sz="2400" dirty="0">
                <a:solidFill>
                  <a:srgbClr val="404040"/>
                </a:solidFill>
              </a:rPr>
              <a:t>void main()</a:t>
            </a:r>
            <a:endParaRPr lang="en-US" sz="2400" dirty="0"/>
          </a:p>
          <a:p>
            <a:pPr marL="0" indent="0">
              <a:lnSpc>
                <a:spcPct val="30000"/>
              </a:lnSpc>
              <a:buFont typeface="Arial"/>
              <a:buNone/>
            </a:pPr>
            <a:r>
              <a:rPr lang="en-US" sz="2400" dirty="0">
                <a:solidFill>
                  <a:srgbClr val="404040"/>
                </a:solidFill>
              </a:rPr>
              <a:t>{</a:t>
            </a:r>
            <a:endParaRPr lang="en-US" sz="2400" dirty="0"/>
          </a:p>
          <a:p>
            <a:pPr marL="0" indent="0">
              <a:lnSpc>
                <a:spcPct val="30000"/>
              </a:lnSpc>
              <a:buFont typeface="Arial"/>
              <a:buNone/>
            </a:pPr>
            <a:r>
              <a:rPr lang="en-US" sz="2400" dirty="0">
                <a:solidFill>
                  <a:srgbClr val="404040"/>
                </a:solidFill>
              </a:rPr>
              <a:t>	int n1, n2;</a:t>
            </a:r>
            <a:endParaRPr lang="en-US" sz="2400" dirty="0"/>
          </a:p>
          <a:p>
            <a:pPr marL="0" indent="0">
              <a:lnSpc>
                <a:spcPct val="30000"/>
              </a:lnSpc>
              <a:buFont typeface="Arial"/>
              <a:buNone/>
            </a:pPr>
            <a:r>
              <a:rPr lang="en-US" sz="2400" dirty="0">
                <a:solidFill>
                  <a:srgbClr val="404040"/>
                </a:solidFill>
              </a:rPr>
              <a:t>	</a:t>
            </a:r>
            <a:r>
              <a:rPr lang="en-US" sz="2400" dirty="0" err="1">
                <a:solidFill>
                  <a:srgbClr val="404040"/>
                </a:solidFill>
              </a:rPr>
              <a:t>printf</a:t>
            </a:r>
            <a:r>
              <a:rPr lang="en-US" sz="2400" dirty="0">
                <a:solidFill>
                  <a:srgbClr val="404040"/>
                </a:solidFill>
              </a:rPr>
              <a:t>("Enter two positive integers: ");</a:t>
            </a:r>
            <a:endParaRPr lang="en-US" sz="2400" dirty="0"/>
          </a:p>
          <a:p>
            <a:pPr marL="0" indent="0">
              <a:lnSpc>
                <a:spcPct val="30000"/>
              </a:lnSpc>
              <a:buFont typeface="Arial"/>
              <a:buNone/>
            </a:pPr>
            <a:r>
              <a:rPr lang="en-US" sz="2400" dirty="0">
                <a:solidFill>
                  <a:srgbClr val="404040"/>
                </a:solidFill>
              </a:rPr>
              <a:t>		</a:t>
            </a:r>
            <a:r>
              <a:rPr lang="en-US" sz="2400" dirty="0" err="1">
                <a:solidFill>
                  <a:srgbClr val="404040"/>
                </a:solidFill>
              </a:rPr>
              <a:t>scanf</a:t>
            </a:r>
            <a:r>
              <a:rPr lang="en-US" sz="2400" dirty="0">
                <a:solidFill>
                  <a:srgbClr val="404040"/>
                </a:solidFill>
              </a:rPr>
              <a:t>("%d %d", &amp;n1, &amp;n2);</a:t>
            </a:r>
            <a:endParaRPr lang="en-US" sz="2400" dirty="0"/>
          </a:p>
          <a:p>
            <a:pPr marL="0" indent="0">
              <a:lnSpc>
                <a:spcPct val="30000"/>
              </a:lnSpc>
              <a:buFont typeface="Arial"/>
              <a:buNone/>
            </a:pPr>
            <a:r>
              <a:rPr lang="en-US" sz="2400" dirty="0">
                <a:solidFill>
                  <a:srgbClr val="404040"/>
                </a:solidFill>
              </a:rPr>
              <a:t>	</a:t>
            </a:r>
            <a:r>
              <a:rPr lang="en-US" sz="2400" dirty="0" err="1">
                <a:solidFill>
                  <a:srgbClr val="404040"/>
                </a:solidFill>
              </a:rPr>
              <a:t>printf</a:t>
            </a:r>
            <a:r>
              <a:rPr lang="en-US" sz="2400" dirty="0">
                <a:solidFill>
                  <a:srgbClr val="404040"/>
                </a:solidFill>
              </a:rPr>
              <a:t>("G.C.D of %d and %d is %d.", n1, n2, </a:t>
            </a:r>
            <a:r>
              <a:rPr lang="en-US" sz="2400" dirty="0" err="1">
                <a:solidFill>
                  <a:srgbClr val="404040"/>
                </a:solidFill>
              </a:rPr>
              <a:t>gcd</a:t>
            </a:r>
            <a:r>
              <a:rPr lang="en-US" sz="2400" dirty="0">
                <a:solidFill>
                  <a:srgbClr val="404040"/>
                </a:solidFill>
              </a:rPr>
              <a:t>(n1,n2));</a:t>
            </a:r>
            <a:endParaRPr lang="en-US" sz="2400" dirty="0"/>
          </a:p>
          <a:p>
            <a:pPr marL="0" indent="0">
              <a:lnSpc>
                <a:spcPct val="30000"/>
              </a:lnSpc>
              <a:buFont typeface="Arial"/>
              <a:buNone/>
            </a:pPr>
            <a:r>
              <a:rPr lang="en-US" sz="2400" dirty="0">
                <a:solidFill>
                  <a:srgbClr val="404040"/>
                </a:solidFill>
              </a:rPr>
              <a:t>}</a:t>
            </a:r>
            <a:endParaRPr lang="en-US" sz="2400" dirty="0"/>
          </a:p>
          <a:p>
            <a:pPr marL="0" indent="0">
              <a:lnSpc>
                <a:spcPct val="30000"/>
              </a:lnSpc>
              <a:buFont typeface="Arial"/>
              <a:buNone/>
            </a:pPr>
            <a:r>
              <a:rPr lang="en-US" sz="2400" dirty="0">
                <a:solidFill>
                  <a:srgbClr val="404040"/>
                </a:solidFill>
              </a:rPr>
              <a:t>int </a:t>
            </a:r>
            <a:r>
              <a:rPr lang="en-US" sz="2400" dirty="0" err="1">
                <a:solidFill>
                  <a:srgbClr val="404040"/>
                </a:solidFill>
              </a:rPr>
              <a:t>gcd</a:t>
            </a:r>
            <a:r>
              <a:rPr lang="en-US" sz="2400" dirty="0">
                <a:solidFill>
                  <a:srgbClr val="404040"/>
                </a:solidFill>
              </a:rPr>
              <a:t>(int m, int n)</a:t>
            </a:r>
            <a:endParaRPr lang="en-US" sz="2400" dirty="0"/>
          </a:p>
          <a:p>
            <a:pPr marL="0" indent="0">
              <a:lnSpc>
                <a:spcPct val="30000"/>
              </a:lnSpc>
              <a:buFont typeface="Arial"/>
              <a:buNone/>
            </a:pPr>
            <a:r>
              <a:rPr lang="en-US" sz="2400" dirty="0">
                <a:solidFill>
                  <a:srgbClr val="404040"/>
                </a:solidFill>
              </a:rPr>
              <a:t>{</a:t>
            </a:r>
            <a:endParaRPr lang="en-US" sz="2400" dirty="0"/>
          </a:p>
          <a:p>
            <a:pPr marL="0" indent="0">
              <a:lnSpc>
                <a:spcPct val="30000"/>
              </a:lnSpc>
              <a:buFont typeface="Arial"/>
              <a:buNone/>
            </a:pPr>
            <a:r>
              <a:rPr lang="en-US" sz="2400" dirty="0">
                <a:solidFill>
                  <a:srgbClr val="404040"/>
                </a:solidFill>
              </a:rPr>
              <a:t>	if (n!=0)</a:t>
            </a:r>
            <a:endParaRPr lang="en-US" sz="2400" dirty="0"/>
          </a:p>
          <a:p>
            <a:pPr marL="0" indent="0">
              <a:lnSpc>
                <a:spcPct val="30000"/>
              </a:lnSpc>
              <a:buFont typeface="Arial"/>
              <a:buNone/>
            </a:pPr>
            <a:r>
              <a:rPr lang="en-US" sz="2400" dirty="0">
                <a:solidFill>
                  <a:srgbClr val="404040"/>
                </a:solidFill>
              </a:rPr>
              <a:t>		return </a:t>
            </a:r>
            <a:r>
              <a:rPr lang="en-US" sz="2400" dirty="0" err="1">
                <a:solidFill>
                  <a:srgbClr val="404040"/>
                </a:solidFill>
              </a:rPr>
              <a:t>gcd</a:t>
            </a:r>
            <a:r>
              <a:rPr lang="en-US" sz="2400" dirty="0">
                <a:solidFill>
                  <a:srgbClr val="404040"/>
                </a:solidFill>
              </a:rPr>
              <a:t>(n, </a:t>
            </a:r>
            <a:r>
              <a:rPr lang="en-US" sz="2400" dirty="0" err="1">
                <a:solidFill>
                  <a:srgbClr val="404040"/>
                </a:solidFill>
              </a:rPr>
              <a:t>m%n</a:t>
            </a:r>
            <a:r>
              <a:rPr lang="en-US" sz="2400" dirty="0">
                <a:solidFill>
                  <a:srgbClr val="404040"/>
                </a:solidFill>
              </a:rPr>
              <a:t>);</a:t>
            </a:r>
            <a:endParaRPr lang="en-US" sz="2400" dirty="0"/>
          </a:p>
          <a:p>
            <a:pPr marL="0" indent="0">
              <a:lnSpc>
                <a:spcPct val="30000"/>
              </a:lnSpc>
              <a:buFont typeface="Arial"/>
              <a:buNone/>
            </a:pPr>
            <a:r>
              <a:rPr lang="en-US" sz="2400" dirty="0">
                <a:solidFill>
                  <a:srgbClr val="404040"/>
                </a:solidFill>
              </a:rPr>
              <a:t>	else</a:t>
            </a:r>
            <a:endParaRPr lang="en-US" sz="2400" dirty="0"/>
          </a:p>
          <a:p>
            <a:pPr marL="0" indent="0">
              <a:lnSpc>
                <a:spcPct val="30000"/>
              </a:lnSpc>
              <a:buFont typeface="Arial"/>
              <a:buNone/>
            </a:pPr>
            <a:r>
              <a:rPr lang="en-US" sz="2400" dirty="0">
                <a:solidFill>
                  <a:srgbClr val="404040"/>
                </a:solidFill>
              </a:rPr>
              <a:t>		return m;</a:t>
            </a:r>
            <a:endParaRPr lang="en-US" sz="2400" dirty="0"/>
          </a:p>
          <a:p>
            <a:pPr marL="0" indent="0">
              <a:lnSpc>
                <a:spcPct val="30000"/>
              </a:lnSpc>
              <a:buFont typeface="Arial"/>
              <a:buNone/>
            </a:pPr>
            <a:r>
              <a:rPr lang="en-US" sz="2400" dirty="0">
                <a:solidFill>
                  <a:srgbClr val="404040"/>
                </a:solidFill>
              </a:rPr>
              <a:t>}</a:t>
            </a:r>
            <a:endParaRPr lang="en-US" sz="2400" dirty="0"/>
          </a:p>
          <a:p>
            <a:pPr marL="0" indent="0" algn="ctr">
              <a:buClr>
                <a:srgbClr val="353535"/>
              </a:buClr>
              <a:buFont typeface="Noto Sans Symbols"/>
              <a:buNone/>
            </a:pPr>
            <a:endParaRPr lang="en-US" sz="1800" dirty="0">
              <a:solidFill>
                <a:srgbClr val="404040"/>
              </a:solidFill>
            </a:endParaRPr>
          </a:p>
        </p:txBody>
      </p:sp>
      <p:sp>
        <p:nvSpPr>
          <p:cNvPr id="3" name="Google Shape;737;p68">
            <a:extLst>
              <a:ext uri="{FF2B5EF4-FFF2-40B4-BE49-F238E27FC236}">
                <a16:creationId xmlns:a16="http://schemas.microsoft.com/office/drawing/2014/main" id="{FC82FF05-605C-BAE3-EF3D-E7BB1C274C4F}"/>
              </a:ext>
            </a:extLst>
          </p:cNvPr>
          <p:cNvSpPr txBox="1"/>
          <p:nvPr/>
        </p:nvSpPr>
        <p:spPr>
          <a:xfrm>
            <a:off x="7483341" y="3216039"/>
            <a:ext cx="2516187" cy="952500"/>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dirty="0">
                <a:solidFill>
                  <a:srgbClr val="000000"/>
                </a:solidFill>
                <a:latin typeface="Arial"/>
                <a:ea typeface="Arial"/>
                <a:cs typeface="Arial"/>
                <a:sym typeface="Arial"/>
              </a:rPr>
              <a:t>Output</a:t>
            </a:r>
            <a:endParaRPr dirty="0"/>
          </a:p>
          <a:p>
            <a:pPr marL="0" marR="0" lvl="0" indent="0" algn="l" rtl="0">
              <a:lnSpc>
                <a:spcPct val="100000"/>
              </a:lnSpc>
              <a:spcBef>
                <a:spcPts val="0"/>
              </a:spcBef>
              <a:spcAft>
                <a:spcPts val="0"/>
              </a:spcAft>
              <a:buClr>
                <a:srgbClr val="000000"/>
              </a:buClr>
              <a:buSzPts val="1400"/>
              <a:buFont typeface="Arial"/>
              <a:buNone/>
            </a:pPr>
            <a:r>
              <a:rPr lang="en-US" sz="1400" b="1" i="0" u="none" dirty="0">
                <a:solidFill>
                  <a:srgbClr val="000000"/>
                </a:solidFill>
                <a:latin typeface="Arial"/>
                <a:ea typeface="Arial"/>
                <a:cs typeface="Arial"/>
                <a:sym typeface="Arial"/>
              </a:rPr>
              <a:t>Enter two positive integers:</a:t>
            </a:r>
            <a:endParaRPr dirty="0"/>
          </a:p>
          <a:p>
            <a:pPr marL="0" marR="0" lvl="0" indent="0" algn="l" rtl="0">
              <a:lnSpc>
                <a:spcPct val="100000"/>
              </a:lnSpc>
              <a:spcBef>
                <a:spcPts val="0"/>
              </a:spcBef>
              <a:spcAft>
                <a:spcPts val="0"/>
              </a:spcAft>
              <a:buClr>
                <a:srgbClr val="000000"/>
              </a:buClr>
              <a:buSzPts val="1400"/>
              <a:buFont typeface="Arial"/>
              <a:buNone/>
            </a:pPr>
            <a:r>
              <a:rPr lang="en-US" sz="1400" b="1" i="0" u="none" dirty="0">
                <a:solidFill>
                  <a:srgbClr val="000000"/>
                </a:solidFill>
                <a:latin typeface="Arial"/>
                <a:ea typeface="Arial"/>
                <a:cs typeface="Arial"/>
                <a:sym typeface="Arial"/>
              </a:rPr>
              <a:t>12    16</a:t>
            </a:r>
            <a:endParaRPr dirty="0"/>
          </a:p>
          <a:p>
            <a:pPr marL="0" marR="0" lvl="0" indent="0" algn="l" rtl="0">
              <a:lnSpc>
                <a:spcPct val="100000"/>
              </a:lnSpc>
              <a:spcBef>
                <a:spcPts val="0"/>
              </a:spcBef>
              <a:spcAft>
                <a:spcPts val="0"/>
              </a:spcAft>
              <a:buClr>
                <a:srgbClr val="000000"/>
              </a:buClr>
              <a:buSzPts val="1400"/>
              <a:buFont typeface="Arial"/>
              <a:buNone/>
            </a:pPr>
            <a:r>
              <a:rPr lang="en-US" sz="1400" b="1" i="0" u="none" dirty="0">
                <a:solidFill>
                  <a:srgbClr val="000000"/>
                </a:solidFill>
                <a:latin typeface="Arial"/>
                <a:ea typeface="Arial"/>
                <a:cs typeface="Arial"/>
                <a:sym typeface="Arial"/>
              </a:rPr>
              <a:t>G.C.D of 12 and 16 is 4</a:t>
            </a:r>
            <a:endParaRPr dirty="0"/>
          </a:p>
        </p:txBody>
      </p:sp>
    </p:spTree>
    <p:extLst>
      <p:ext uri="{BB962C8B-B14F-4D97-AF65-F5344CB8AC3E}">
        <p14:creationId xmlns:p14="http://schemas.microsoft.com/office/powerpoint/2010/main" val="2215564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3" name="Google Shape;742;p69">
            <a:extLst>
              <a:ext uri="{FF2B5EF4-FFF2-40B4-BE49-F238E27FC236}">
                <a16:creationId xmlns:a16="http://schemas.microsoft.com/office/drawing/2014/main" id="{CBDCC206-B5DD-83C4-171B-EC0837CDC76C}"/>
              </a:ext>
            </a:extLst>
          </p:cNvPr>
          <p:cNvSpPr txBox="1">
            <a:spLocks/>
          </p:cNvSpPr>
          <p:nvPr/>
        </p:nvSpPr>
        <p:spPr>
          <a:xfrm>
            <a:off x="2994738" y="421797"/>
            <a:ext cx="7405687" cy="41084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b="1" dirty="0">
                <a:solidFill>
                  <a:schemeClr val="accent1"/>
                </a:solidFill>
              </a:rPr>
              <a:t>FIBONACCI SERIES</a:t>
            </a:r>
          </a:p>
          <a:p>
            <a:pPr marL="0" indent="0">
              <a:lnSpc>
                <a:spcPct val="100000"/>
              </a:lnSpc>
              <a:buFont typeface="Arial"/>
              <a:buNone/>
            </a:pPr>
            <a:r>
              <a:rPr lang="en-US" sz="2400" dirty="0">
                <a:solidFill>
                  <a:srgbClr val="404040"/>
                </a:solidFill>
              </a:rPr>
              <a:t>	The Fibonacci sequence is the sequence of integers, where each number in this sequence is the sum of two preceding elements.</a:t>
            </a:r>
            <a:endParaRPr lang="en-US" sz="2400" dirty="0"/>
          </a:p>
          <a:p>
            <a:pPr marL="0" indent="0">
              <a:lnSpc>
                <a:spcPct val="100000"/>
              </a:lnSpc>
              <a:buFont typeface="Arial"/>
              <a:buNone/>
            </a:pPr>
            <a:r>
              <a:rPr lang="en-US" sz="2400" dirty="0">
                <a:solidFill>
                  <a:srgbClr val="404040"/>
                </a:solidFill>
              </a:rPr>
              <a:t>A formal definition is</a:t>
            </a:r>
            <a:endParaRPr lang="en-US" sz="2400" dirty="0"/>
          </a:p>
          <a:p>
            <a:pPr marL="0" indent="0">
              <a:lnSpc>
                <a:spcPct val="100000"/>
              </a:lnSpc>
              <a:buFont typeface="Arial"/>
              <a:buNone/>
            </a:pPr>
            <a:r>
              <a:rPr lang="en-US" sz="2400" dirty="0" err="1">
                <a:solidFill>
                  <a:srgbClr val="404040"/>
                </a:solidFill>
              </a:rPr>
              <a:t>a.If</a:t>
            </a:r>
            <a:r>
              <a:rPr lang="en-US" sz="2400" dirty="0">
                <a:solidFill>
                  <a:srgbClr val="404040"/>
                </a:solidFill>
              </a:rPr>
              <a:t> n=0 or 1,then F(n)=n</a:t>
            </a:r>
            <a:endParaRPr lang="en-US" sz="2400" dirty="0"/>
          </a:p>
          <a:p>
            <a:pPr marL="0" indent="0">
              <a:lnSpc>
                <a:spcPct val="100000"/>
              </a:lnSpc>
              <a:buFont typeface="Arial"/>
              <a:buNone/>
            </a:pPr>
            <a:r>
              <a:rPr lang="en-US" sz="2400" dirty="0" err="1">
                <a:solidFill>
                  <a:srgbClr val="404040"/>
                </a:solidFill>
              </a:rPr>
              <a:t>b.If</a:t>
            </a:r>
            <a:r>
              <a:rPr lang="en-US" sz="2400" dirty="0">
                <a:solidFill>
                  <a:srgbClr val="404040"/>
                </a:solidFill>
              </a:rPr>
              <a:t> n&gt;1,then F(n)=F(n-1)+F(n-2)</a:t>
            </a:r>
            <a:endParaRPr lang="en-US" sz="2400" dirty="0"/>
          </a:p>
        </p:txBody>
      </p:sp>
    </p:spTree>
    <p:extLst>
      <p:ext uri="{BB962C8B-B14F-4D97-AF65-F5344CB8AC3E}">
        <p14:creationId xmlns:p14="http://schemas.microsoft.com/office/powerpoint/2010/main" val="308318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748;p70">
            <a:extLst>
              <a:ext uri="{FF2B5EF4-FFF2-40B4-BE49-F238E27FC236}">
                <a16:creationId xmlns:a16="http://schemas.microsoft.com/office/drawing/2014/main" id="{38A1DED4-8540-4406-7AF5-9FB6AFD81BA2}"/>
              </a:ext>
            </a:extLst>
          </p:cNvPr>
          <p:cNvPicPr preferRelativeResize="0"/>
          <p:nvPr/>
        </p:nvPicPr>
        <p:blipFill rotWithShape="1">
          <a:blip r:embed="rId4">
            <a:alphaModFix/>
          </a:blip>
          <a:srcRect/>
          <a:stretch/>
        </p:blipFill>
        <p:spPr>
          <a:xfrm>
            <a:off x="2826483" y="610142"/>
            <a:ext cx="7324725" cy="3703637"/>
          </a:xfrm>
          <a:prstGeom prst="rect">
            <a:avLst/>
          </a:prstGeom>
          <a:noFill/>
          <a:ln>
            <a:noFill/>
          </a:ln>
        </p:spPr>
      </p:pic>
    </p:spTree>
    <p:extLst>
      <p:ext uri="{BB962C8B-B14F-4D97-AF65-F5344CB8AC3E}">
        <p14:creationId xmlns:p14="http://schemas.microsoft.com/office/powerpoint/2010/main" val="29915770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754;p71">
            <a:extLst>
              <a:ext uri="{FF2B5EF4-FFF2-40B4-BE49-F238E27FC236}">
                <a16:creationId xmlns:a16="http://schemas.microsoft.com/office/drawing/2014/main" id="{2F1A6887-6801-F451-8A43-0E00F12B22EE}"/>
              </a:ext>
            </a:extLst>
          </p:cNvPr>
          <p:cNvPicPr preferRelativeResize="0"/>
          <p:nvPr/>
        </p:nvPicPr>
        <p:blipFill rotWithShape="1">
          <a:blip r:embed="rId4">
            <a:alphaModFix/>
          </a:blip>
          <a:srcRect/>
          <a:stretch/>
        </p:blipFill>
        <p:spPr>
          <a:xfrm>
            <a:off x="2826483" y="344487"/>
            <a:ext cx="7300912" cy="4029075"/>
          </a:xfrm>
          <a:prstGeom prst="rect">
            <a:avLst/>
          </a:prstGeom>
          <a:noFill/>
          <a:ln>
            <a:noFill/>
          </a:ln>
        </p:spPr>
      </p:pic>
    </p:spTree>
    <p:extLst>
      <p:ext uri="{BB962C8B-B14F-4D97-AF65-F5344CB8AC3E}">
        <p14:creationId xmlns:p14="http://schemas.microsoft.com/office/powerpoint/2010/main" val="1948459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59;p72">
            <a:extLst>
              <a:ext uri="{FF2B5EF4-FFF2-40B4-BE49-F238E27FC236}">
                <a16:creationId xmlns:a16="http://schemas.microsoft.com/office/drawing/2014/main" id="{86CE1D32-CE51-2C29-213E-594E1F488783}"/>
              </a:ext>
            </a:extLst>
          </p:cNvPr>
          <p:cNvSpPr txBox="1">
            <a:spLocks/>
          </p:cNvSpPr>
          <p:nvPr/>
        </p:nvSpPr>
        <p:spPr>
          <a:xfrm>
            <a:off x="2716258" y="712787"/>
            <a:ext cx="7656512" cy="4438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30000"/>
              </a:lnSpc>
              <a:spcBef>
                <a:spcPts val="0"/>
              </a:spcBef>
              <a:buFont typeface="Arial"/>
              <a:buNone/>
            </a:pPr>
            <a:r>
              <a:rPr lang="en-US" sz="1800">
                <a:solidFill>
                  <a:srgbClr val="404040"/>
                </a:solidFill>
              </a:rPr>
              <a:t>#include &lt;stdio.h&gt;</a:t>
            </a:r>
            <a:endParaRPr lang="en-US"/>
          </a:p>
          <a:p>
            <a:pPr marL="0" indent="0">
              <a:lnSpc>
                <a:spcPct val="30000"/>
              </a:lnSpc>
              <a:buFont typeface="Arial"/>
              <a:buNone/>
            </a:pPr>
            <a:r>
              <a:rPr lang="en-US" sz="1800">
                <a:solidFill>
                  <a:srgbClr val="404040"/>
                </a:solidFill>
              </a:rPr>
              <a:t>int fib(int i)</a:t>
            </a:r>
            <a:endParaRPr lang="en-US"/>
          </a:p>
          <a:p>
            <a:pPr marL="0" indent="0">
              <a:lnSpc>
                <a:spcPct val="30000"/>
              </a:lnSpc>
              <a:buFont typeface="Arial"/>
              <a:buNone/>
            </a:pPr>
            <a:r>
              <a:rPr lang="en-US" sz="1800">
                <a:solidFill>
                  <a:srgbClr val="404040"/>
                </a:solidFill>
              </a:rPr>
              <a:t>{</a:t>
            </a:r>
            <a:endParaRPr lang="en-US"/>
          </a:p>
          <a:p>
            <a:pPr marL="0" indent="0">
              <a:lnSpc>
                <a:spcPct val="30000"/>
              </a:lnSpc>
              <a:buFont typeface="Arial"/>
              <a:buNone/>
            </a:pPr>
            <a:r>
              <a:rPr lang="en-US" sz="1800">
                <a:solidFill>
                  <a:srgbClr val="404040"/>
                </a:solidFill>
              </a:rPr>
              <a:t>	if(i == 0) </a:t>
            </a:r>
            <a:endParaRPr lang="en-US"/>
          </a:p>
          <a:p>
            <a:pPr marL="0" indent="0">
              <a:lnSpc>
                <a:spcPct val="30000"/>
              </a:lnSpc>
              <a:buFont typeface="Arial"/>
              <a:buNone/>
            </a:pPr>
            <a:r>
              <a:rPr lang="en-US" sz="1800">
                <a:solidFill>
                  <a:srgbClr val="404040"/>
                </a:solidFill>
              </a:rPr>
              <a:t>	{</a:t>
            </a:r>
            <a:endParaRPr lang="en-US"/>
          </a:p>
          <a:p>
            <a:pPr marL="0" indent="0">
              <a:lnSpc>
                <a:spcPct val="30000"/>
              </a:lnSpc>
              <a:buFont typeface="Arial"/>
              <a:buNone/>
            </a:pPr>
            <a:r>
              <a:rPr lang="en-US" sz="1800">
                <a:solidFill>
                  <a:srgbClr val="404040"/>
                </a:solidFill>
              </a:rPr>
              <a:t>		return 0;</a:t>
            </a:r>
            <a:endParaRPr lang="en-US"/>
          </a:p>
          <a:p>
            <a:pPr marL="0" indent="0">
              <a:lnSpc>
                <a:spcPct val="30000"/>
              </a:lnSpc>
              <a:buFont typeface="Arial"/>
              <a:buNone/>
            </a:pPr>
            <a:r>
              <a:rPr lang="en-US" sz="1800">
                <a:solidFill>
                  <a:srgbClr val="404040"/>
                </a:solidFill>
              </a:rPr>
              <a:t>	}</a:t>
            </a:r>
            <a:endParaRPr lang="en-US"/>
          </a:p>
          <a:p>
            <a:pPr marL="0" indent="0">
              <a:lnSpc>
                <a:spcPct val="30000"/>
              </a:lnSpc>
              <a:buFont typeface="Arial"/>
              <a:buNone/>
            </a:pPr>
            <a:r>
              <a:rPr lang="en-US" sz="1800">
                <a:solidFill>
                  <a:srgbClr val="404040"/>
                </a:solidFill>
              </a:rPr>
              <a:t>	if(i == 1)</a:t>
            </a:r>
            <a:endParaRPr lang="en-US"/>
          </a:p>
          <a:p>
            <a:pPr marL="0" indent="0">
              <a:lnSpc>
                <a:spcPct val="30000"/>
              </a:lnSpc>
              <a:buFont typeface="Arial"/>
              <a:buNone/>
            </a:pPr>
            <a:r>
              <a:rPr lang="en-US" sz="1800">
                <a:solidFill>
                  <a:srgbClr val="404040"/>
                </a:solidFill>
              </a:rPr>
              <a:t> 	{</a:t>
            </a:r>
            <a:endParaRPr lang="en-US"/>
          </a:p>
          <a:p>
            <a:pPr marL="0" indent="0">
              <a:lnSpc>
                <a:spcPct val="30000"/>
              </a:lnSpc>
              <a:buFont typeface="Arial"/>
              <a:buNone/>
            </a:pPr>
            <a:r>
              <a:rPr lang="en-US" sz="1800">
                <a:solidFill>
                  <a:srgbClr val="404040"/>
                </a:solidFill>
              </a:rPr>
              <a:t>		return 1;</a:t>
            </a:r>
            <a:endParaRPr lang="en-US"/>
          </a:p>
          <a:p>
            <a:pPr marL="0" indent="0">
              <a:lnSpc>
                <a:spcPct val="30000"/>
              </a:lnSpc>
              <a:buFont typeface="Arial"/>
              <a:buNone/>
            </a:pPr>
            <a:r>
              <a:rPr lang="en-US" sz="1800">
                <a:solidFill>
                  <a:srgbClr val="404040"/>
                </a:solidFill>
              </a:rPr>
              <a:t>	}</a:t>
            </a:r>
            <a:endParaRPr lang="en-US"/>
          </a:p>
          <a:p>
            <a:pPr marL="0" indent="0">
              <a:lnSpc>
                <a:spcPct val="30000"/>
              </a:lnSpc>
              <a:buFont typeface="Arial"/>
              <a:buNone/>
            </a:pPr>
            <a:r>
              <a:rPr lang="en-US" sz="1800">
                <a:solidFill>
                  <a:srgbClr val="404040"/>
                </a:solidFill>
              </a:rPr>
              <a:t>	return fib(i-1) + fib(i-2);</a:t>
            </a:r>
            <a:endParaRPr lang="en-US"/>
          </a:p>
          <a:p>
            <a:pPr marL="0" indent="0">
              <a:lnSpc>
                <a:spcPct val="30000"/>
              </a:lnSpc>
              <a:buFont typeface="Arial"/>
              <a:buNone/>
            </a:pPr>
            <a:r>
              <a:rPr lang="en-US" sz="1800">
                <a:solidFill>
                  <a:srgbClr val="404040"/>
                </a:solidFill>
              </a:rPr>
              <a:t>}</a:t>
            </a:r>
            <a:endParaRPr lang="en-US"/>
          </a:p>
          <a:p>
            <a:pPr marL="0" indent="0">
              <a:lnSpc>
                <a:spcPct val="30000"/>
              </a:lnSpc>
              <a:buFont typeface="Arial"/>
              <a:buNone/>
            </a:pPr>
            <a:r>
              <a:rPr lang="en-US" sz="1800">
                <a:solidFill>
                  <a:srgbClr val="404040"/>
                </a:solidFill>
              </a:rPr>
              <a:t>void main()</a:t>
            </a:r>
            <a:endParaRPr lang="en-US"/>
          </a:p>
          <a:p>
            <a:pPr marL="0" indent="0">
              <a:lnSpc>
                <a:spcPct val="30000"/>
              </a:lnSpc>
              <a:buFont typeface="Arial"/>
              <a:buNone/>
            </a:pPr>
            <a:r>
              <a:rPr lang="en-US" sz="1800">
                <a:solidFill>
                  <a:srgbClr val="404040"/>
                </a:solidFill>
              </a:rPr>
              <a:t>{</a:t>
            </a:r>
            <a:endParaRPr lang="en-US"/>
          </a:p>
          <a:p>
            <a:pPr marL="0" indent="0">
              <a:lnSpc>
                <a:spcPct val="30000"/>
              </a:lnSpc>
              <a:buFont typeface="Arial"/>
              <a:buNone/>
            </a:pPr>
            <a:r>
              <a:rPr lang="en-US" sz="1800">
                <a:solidFill>
                  <a:srgbClr val="404040"/>
                </a:solidFill>
              </a:rPr>
              <a:t>	int i;</a:t>
            </a:r>
            <a:endParaRPr lang="en-US"/>
          </a:p>
          <a:p>
            <a:pPr marL="0" indent="0">
              <a:lnSpc>
                <a:spcPct val="30000"/>
              </a:lnSpc>
              <a:buFont typeface="Arial"/>
              <a:buNone/>
            </a:pPr>
            <a:r>
              <a:rPr lang="en-US" sz="1800">
                <a:solidFill>
                  <a:srgbClr val="404040"/>
                </a:solidFill>
              </a:rPr>
              <a:t>	for (i = 0; i &lt; 10; i++)</a:t>
            </a:r>
            <a:endParaRPr lang="en-US"/>
          </a:p>
          <a:p>
            <a:pPr marL="0" indent="0">
              <a:lnSpc>
                <a:spcPct val="30000"/>
              </a:lnSpc>
              <a:buFont typeface="Arial"/>
              <a:buNone/>
            </a:pPr>
            <a:r>
              <a:rPr lang="en-US" sz="1800">
                <a:solidFill>
                  <a:srgbClr val="404040"/>
                </a:solidFill>
              </a:rPr>
              <a:t> 	{</a:t>
            </a:r>
            <a:endParaRPr lang="en-US"/>
          </a:p>
          <a:p>
            <a:pPr marL="0" indent="0">
              <a:lnSpc>
                <a:spcPct val="30000"/>
              </a:lnSpc>
              <a:buFont typeface="Arial"/>
              <a:buNone/>
            </a:pPr>
            <a:r>
              <a:rPr lang="en-US" sz="1800">
                <a:solidFill>
                  <a:srgbClr val="404040"/>
                </a:solidFill>
              </a:rPr>
              <a:t>		printf("%d\t", fib(i));</a:t>
            </a:r>
            <a:endParaRPr lang="en-US"/>
          </a:p>
          <a:p>
            <a:pPr marL="0" indent="0">
              <a:lnSpc>
                <a:spcPct val="30000"/>
              </a:lnSpc>
              <a:buFont typeface="Arial"/>
              <a:buNone/>
            </a:pPr>
            <a:r>
              <a:rPr lang="en-US" sz="1800">
                <a:solidFill>
                  <a:srgbClr val="404040"/>
                </a:solidFill>
              </a:rPr>
              <a:t>	}</a:t>
            </a:r>
            <a:endParaRPr lang="en-US"/>
          </a:p>
          <a:p>
            <a:pPr marL="0" indent="0">
              <a:lnSpc>
                <a:spcPct val="30000"/>
              </a:lnSpc>
              <a:buFont typeface="Arial"/>
              <a:buNone/>
            </a:pPr>
            <a:r>
              <a:rPr lang="en-US" sz="1800">
                <a:solidFill>
                  <a:srgbClr val="404040"/>
                </a:solidFill>
              </a:rPr>
              <a:t>}</a:t>
            </a:r>
            <a:endParaRPr lang="en-US" dirty="0"/>
          </a:p>
        </p:txBody>
      </p:sp>
      <p:sp>
        <p:nvSpPr>
          <p:cNvPr id="3" name="Google Shape;760;p72">
            <a:extLst>
              <a:ext uri="{FF2B5EF4-FFF2-40B4-BE49-F238E27FC236}">
                <a16:creationId xmlns:a16="http://schemas.microsoft.com/office/drawing/2014/main" id="{8848E886-1246-2B03-B8F9-5CA45E363A78}"/>
              </a:ext>
            </a:extLst>
          </p:cNvPr>
          <p:cNvSpPr txBox="1"/>
          <p:nvPr/>
        </p:nvSpPr>
        <p:spPr>
          <a:xfrm>
            <a:off x="7034870" y="1905955"/>
            <a:ext cx="3340100" cy="952500"/>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dirty="0">
                <a:solidFill>
                  <a:srgbClr val="000000"/>
                </a:solidFill>
                <a:latin typeface="Arial"/>
                <a:ea typeface="Arial"/>
                <a:cs typeface="Arial"/>
                <a:sym typeface="Arial"/>
              </a:rPr>
              <a:t>When the above code is compiled and executed, it produces the following result −</a:t>
            </a:r>
            <a:endParaRPr dirty="0"/>
          </a:p>
          <a:p>
            <a:pPr marL="0" marR="0" lvl="0" indent="0" algn="l" rtl="0">
              <a:lnSpc>
                <a:spcPct val="100000"/>
              </a:lnSpc>
              <a:spcBef>
                <a:spcPts val="0"/>
              </a:spcBef>
              <a:spcAft>
                <a:spcPts val="0"/>
              </a:spcAft>
              <a:buClr>
                <a:srgbClr val="000000"/>
              </a:buClr>
              <a:buSzPts val="1400"/>
              <a:buFont typeface="Arial"/>
              <a:buNone/>
            </a:pPr>
            <a:r>
              <a:rPr lang="en-US" sz="1400" b="0" i="0" u="none" dirty="0">
                <a:solidFill>
                  <a:srgbClr val="000000"/>
                </a:solidFill>
                <a:latin typeface="Arial"/>
                <a:ea typeface="Arial"/>
                <a:cs typeface="Arial"/>
                <a:sym typeface="Arial"/>
              </a:rPr>
              <a:t>0 1 1 2 3 5 8 13 21 34</a:t>
            </a:r>
            <a:endParaRPr dirty="0"/>
          </a:p>
        </p:txBody>
      </p:sp>
    </p:spTree>
    <p:extLst>
      <p:ext uri="{BB962C8B-B14F-4D97-AF65-F5344CB8AC3E}">
        <p14:creationId xmlns:p14="http://schemas.microsoft.com/office/powerpoint/2010/main" val="1861565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65;p73">
            <a:extLst>
              <a:ext uri="{FF2B5EF4-FFF2-40B4-BE49-F238E27FC236}">
                <a16:creationId xmlns:a16="http://schemas.microsoft.com/office/drawing/2014/main" id="{868A30E3-8555-BB11-2394-C5378634660D}"/>
              </a:ext>
            </a:extLst>
          </p:cNvPr>
          <p:cNvSpPr txBox="1">
            <a:spLocks/>
          </p:cNvSpPr>
          <p:nvPr/>
        </p:nvSpPr>
        <p:spPr>
          <a:xfrm>
            <a:off x="3009343" y="915760"/>
            <a:ext cx="7315200" cy="3743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3200" dirty="0">
                <a:solidFill>
                  <a:schemeClr val="accent1"/>
                </a:solidFill>
              </a:rPr>
              <a:t>Binomial Co-efficient</a:t>
            </a:r>
            <a:endParaRPr lang="en-US" sz="4400" dirty="0">
              <a:solidFill>
                <a:schemeClr val="accent1"/>
              </a:solidFill>
            </a:endParaRPr>
          </a:p>
          <a:p>
            <a:pPr marL="0" indent="0">
              <a:lnSpc>
                <a:spcPct val="100000"/>
              </a:lnSpc>
              <a:buSzPts val="1400"/>
              <a:buFont typeface="Arial"/>
              <a:buNone/>
            </a:pPr>
            <a:r>
              <a:rPr lang="en-US" sz="2400" dirty="0"/>
              <a:t>A Binomial formula is given below:-</a:t>
            </a:r>
          </a:p>
          <a:p>
            <a:pPr marL="0" indent="0">
              <a:lnSpc>
                <a:spcPct val="100000"/>
              </a:lnSpc>
              <a:buSzPts val="1400"/>
              <a:buFont typeface="Arial"/>
              <a:buNone/>
            </a:pPr>
            <a:endParaRPr lang="en-US" sz="4400" dirty="0"/>
          </a:p>
          <a:p>
            <a:pPr marL="0" indent="0">
              <a:lnSpc>
                <a:spcPct val="100000"/>
              </a:lnSpc>
              <a:buSzPts val="1400"/>
              <a:buFont typeface="Arial"/>
              <a:buNone/>
            </a:pPr>
            <a:r>
              <a:rPr lang="en-US" sz="2400" dirty="0"/>
              <a:t>Here</a:t>
            </a:r>
            <a:r>
              <a:rPr lang="en-US" sz="2400" baseline="30000" dirty="0"/>
              <a:t> n</a:t>
            </a:r>
            <a:r>
              <a:rPr lang="en-US" sz="2400" dirty="0"/>
              <a:t>c</a:t>
            </a:r>
            <a:r>
              <a:rPr lang="en-US" sz="2400" baseline="-25000" dirty="0"/>
              <a:t>0</a:t>
            </a:r>
            <a:r>
              <a:rPr lang="en-US" sz="2400" dirty="0"/>
              <a:t>,</a:t>
            </a:r>
            <a:r>
              <a:rPr lang="en-US" sz="2400" baseline="30000" dirty="0"/>
              <a:t>n</a:t>
            </a:r>
            <a:r>
              <a:rPr lang="en-US" sz="2400" dirty="0"/>
              <a:t>c</a:t>
            </a:r>
            <a:r>
              <a:rPr lang="en-US" sz="2400" baseline="-25000" dirty="0"/>
              <a:t>1</a:t>
            </a:r>
            <a:r>
              <a:rPr lang="en-US" sz="2400" dirty="0"/>
              <a:t>,.......</a:t>
            </a:r>
            <a:r>
              <a:rPr lang="en-US" sz="2400" baseline="30000" dirty="0" err="1"/>
              <a:t>n</a:t>
            </a:r>
            <a:r>
              <a:rPr lang="en-US" sz="2400" dirty="0" err="1"/>
              <a:t>c</a:t>
            </a:r>
            <a:r>
              <a:rPr lang="en-US" sz="2400" baseline="-25000" dirty="0" err="1"/>
              <a:t>n</a:t>
            </a:r>
            <a:r>
              <a:rPr lang="en-US" sz="2400" dirty="0"/>
              <a:t> are called binomial coefficients.</a:t>
            </a:r>
            <a:endParaRPr lang="en-US" sz="4400" dirty="0"/>
          </a:p>
          <a:p>
            <a:pPr marL="0" indent="0">
              <a:lnSpc>
                <a:spcPct val="100000"/>
              </a:lnSpc>
              <a:buSzPts val="1400"/>
              <a:buFont typeface="Arial"/>
              <a:buNone/>
            </a:pPr>
            <a:r>
              <a:rPr lang="en-US" sz="2400" dirty="0"/>
              <a:t>the two useful properties of binomial coefficients are:</a:t>
            </a:r>
            <a:endParaRPr lang="en-US" sz="4400" dirty="0"/>
          </a:p>
          <a:p>
            <a:pPr marL="0" indent="0">
              <a:lnSpc>
                <a:spcPct val="100000"/>
              </a:lnSpc>
              <a:buSzPts val="1400"/>
              <a:buFont typeface="Arial"/>
              <a:buNone/>
            </a:pPr>
            <a:r>
              <a:rPr lang="en-US" sz="2400" dirty="0"/>
              <a:t>C(</a:t>
            </a:r>
            <a:r>
              <a:rPr lang="en-US" sz="2400" dirty="0" err="1"/>
              <a:t>n,k</a:t>
            </a:r>
            <a:r>
              <a:rPr lang="en-US" sz="2400" dirty="0"/>
              <a:t>)=     1      if k=0 or n=k</a:t>
            </a:r>
            <a:endParaRPr lang="en-US" sz="4400" dirty="0"/>
          </a:p>
          <a:p>
            <a:pPr marL="0" indent="0">
              <a:lnSpc>
                <a:spcPct val="100000"/>
              </a:lnSpc>
              <a:buSzPts val="1400"/>
              <a:buFont typeface="Arial"/>
              <a:buNone/>
            </a:pPr>
            <a:r>
              <a:rPr lang="en-US" sz="2400" dirty="0"/>
              <a:t>                   C(n-1,k-1)+C(n-1,k)</a:t>
            </a:r>
            <a:endParaRPr lang="en-US" sz="4400" dirty="0"/>
          </a:p>
        </p:txBody>
      </p:sp>
      <p:pic>
        <p:nvPicPr>
          <p:cNvPr id="3" name="Google Shape;766;p73">
            <a:extLst>
              <a:ext uri="{FF2B5EF4-FFF2-40B4-BE49-F238E27FC236}">
                <a16:creationId xmlns:a16="http://schemas.microsoft.com/office/drawing/2014/main" id="{2CF7C9B6-41BE-7C51-5E1C-CC05ADBF18D9}"/>
              </a:ext>
            </a:extLst>
          </p:cNvPr>
          <p:cNvPicPr preferRelativeResize="0"/>
          <p:nvPr/>
        </p:nvPicPr>
        <p:blipFill rotWithShape="1">
          <a:blip r:embed="rId4">
            <a:alphaModFix/>
          </a:blip>
          <a:srcRect/>
          <a:stretch/>
        </p:blipFill>
        <p:spPr>
          <a:xfrm>
            <a:off x="3770312" y="2106612"/>
            <a:ext cx="5210402" cy="701902"/>
          </a:xfrm>
          <a:prstGeom prst="rect">
            <a:avLst/>
          </a:prstGeom>
          <a:noFill/>
          <a:ln>
            <a:noFill/>
          </a:ln>
        </p:spPr>
      </p:pic>
    </p:spTree>
    <p:extLst>
      <p:ext uri="{BB962C8B-B14F-4D97-AF65-F5344CB8AC3E}">
        <p14:creationId xmlns:p14="http://schemas.microsoft.com/office/powerpoint/2010/main" val="829442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772;p74">
            <a:extLst>
              <a:ext uri="{FF2B5EF4-FFF2-40B4-BE49-F238E27FC236}">
                <a16:creationId xmlns:a16="http://schemas.microsoft.com/office/drawing/2014/main" id="{D654F5F1-B983-49BE-DEEC-A9B23D4A215E}"/>
              </a:ext>
            </a:extLst>
          </p:cNvPr>
          <p:cNvPicPr preferRelativeResize="0"/>
          <p:nvPr/>
        </p:nvPicPr>
        <p:blipFill rotWithShape="1">
          <a:blip r:embed="rId4">
            <a:alphaModFix/>
          </a:blip>
          <a:srcRect/>
          <a:stretch/>
        </p:blipFill>
        <p:spPr>
          <a:xfrm>
            <a:off x="4069216" y="1087210"/>
            <a:ext cx="5727927" cy="3941989"/>
          </a:xfrm>
          <a:prstGeom prst="rect">
            <a:avLst/>
          </a:prstGeom>
          <a:noFill/>
          <a:ln>
            <a:noFill/>
          </a:ln>
        </p:spPr>
      </p:pic>
    </p:spTree>
    <p:extLst>
      <p:ext uri="{BB962C8B-B14F-4D97-AF65-F5344CB8AC3E}">
        <p14:creationId xmlns:p14="http://schemas.microsoft.com/office/powerpoint/2010/main" val="875394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77;p75">
            <a:extLst>
              <a:ext uri="{FF2B5EF4-FFF2-40B4-BE49-F238E27FC236}">
                <a16:creationId xmlns:a16="http://schemas.microsoft.com/office/drawing/2014/main" id="{B0C4186D-979D-669C-489C-EE58365C3B00}"/>
              </a:ext>
            </a:extLst>
          </p:cNvPr>
          <p:cNvSpPr txBox="1">
            <a:spLocks/>
          </p:cNvSpPr>
          <p:nvPr/>
        </p:nvSpPr>
        <p:spPr>
          <a:xfrm>
            <a:off x="2730863" y="826770"/>
            <a:ext cx="7581900" cy="434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40000"/>
              </a:lnSpc>
              <a:spcBef>
                <a:spcPts val="0"/>
              </a:spcBef>
              <a:buFont typeface="Arial"/>
              <a:buNone/>
            </a:pPr>
            <a:r>
              <a:rPr lang="en-US" sz="1800" dirty="0">
                <a:solidFill>
                  <a:srgbClr val="404040"/>
                </a:solidFill>
              </a:rPr>
              <a:t>i</a:t>
            </a:r>
            <a:r>
              <a:rPr lang="en-US" sz="2400" dirty="0">
                <a:solidFill>
                  <a:srgbClr val="404040"/>
                </a:solidFill>
              </a:rPr>
              <a:t>nt C(int </a:t>
            </a:r>
            <a:r>
              <a:rPr lang="en-US" sz="2400" dirty="0" err="1">
                <a:solidFill>
                  <a:srgbClr val="404040"/>
                </a:solidFill>
              </a:rPr>
              <a:t>n,in</a:t>
            </a:r>
            <a:r>
              <a:rPr lang="en-US" sz="2400" dirty="0">
                <a:solidFill>
                  <a:srgbClr val="404040"/>
                </a:solidFill>
              </a:rPr>
              <a:t> k)</a:t>
            </a:r>
            <a:endParaRPr lang="en-US" sz="2400" dirty="0"/>
          </a:p>
          <a:p>
            <a:pPr marL="0" indent="0">
              <a:lnSpc>
                <a:spcPct val="40000"/>
              </a:lnSpc>
              <a:buFont typeface="Arial"/>
              <a:buNone/>
            </a:pPr>
            <a:r>
              <a:rPr lang="en-US" sz="2400" dirty="0">
                <a:solidFill>
                  <a:srgbClr val="404040"/>
                </a:solidFill>
              </a:rPr>
              <a:t>{</a:t>
            </a:r>
            <a:endParaRPr lang="en-US" sz="2400" dirty="0"/>
          </a:p>
          <a:p>
            <a:pPr marL="0" indent="0">
              <a:lnSpc>
                <a:spcPct val="40000"/>
              </a:lnSpc>
              <a:buFont typeface="Arial"/>
              <a:buNone/>
            </a:pPr>
            <a:r>
              <a:rPr lang="en-US" sz="2400" dirty="0">
                <a:solidFill>
                  <a:srgbClr val="404040"/>
                </a:solidFill>
              </a:rPr>
              <a:t>	if(k==0||k==n) </a:t>
            </a:r>
            <a:endParaRPr lang="en-US" sz="2400" dirty="0"/>
          </a:p>
          <a:p>
            <a:pPr marL="0" indent="0">
              <a:lnSpc>
                <a:spcPct val="40000"/>
              </a:lnSpc>
              <a:buFont typeface="Arial"/>
              <a:buNone/>
            </a:pPr>
            <a:r>
              <a:rPr lang="en-US" sz="2400" dirty="0">
                <a:solidFill>
                  <a:srgbClr val="404040"/>
                </a:solidFill>
              </a:rPr>
              <a:t>		return 1;</a:t>
            </a:r>
            <a:endParaRPr lang="en-US" sz="2400" dirty="0"/>
          </a:p>
          <a:p>
            <a:pPr marL="0" indent="0">
              <a:lnSpc>
                <a:spcPct val="40000"/>
              </a:lnSpc>
              <a:buFont typeface="Arial"/>
              <a:buNone/>
            </a:pPr>
            <a:r>
              <a:rPr lang="en-US" sz="2400" dirty="0">
                <a:solidFill>
                  <a:srgbClr val="404040"/>
                </a:solidFill>
              </a:rPr>
              <a:t>	return C(n-1,k-1)+C(n-1,k);</a:t>
            </a:r>
            <a:endParaRPr lang="en-US" sz="2400" dirty="0"/>
          </a:p>
          <a:p>
            <a:pPr marL="0" indent="0">
              <a:lnSpc>
                <a:spcPct val="40000"/>
              </a:lnSpc>
              <a:buFont typeface="Arial"/>
              <a:buNone/>
            </a:pPr>
            <a:r>
              <a:rPr lang="en-US" sz="2400" dirty="0">
                <a:solidFill>
                  <a:srgbClr val="404040"/>
                </a:solidFill>
              </a:rPr>
              <a:t>}</a:t>
            </a:r>
            <a:endParaRPr lang="en-US" sz="2400" dirty="0"/>
          </a:p>
          <a:p>
            <a:pPr marL="0" indent="0">
              <a:lnSpc>
                <a:spcPct val="40000"/>
              </a:lnSpc>
              <a:buFont typeface="Arial"/>
              <a:buNone/>
            </a:pPr>
            <a:r>
              <a:rPr lang="en-US" sz="2400" dirty="0">
                <a:solidFill>
                  <a:srgbClr val="404040"/>
                </a:solidFill>
              </a:rPr>
              <a:t>void main()</a:t>
            </a:r>
            <a:endParaRPr lang="en-US" sz="2400" dirty="0"/>
          </a:p>
          <a:p>
            <a:pPr marL="0" indent="0">
              <a:lnSpc>
                <a:spcPct val="40000"/>
              </a:lnSpc>
              <a:buFont typeface="Arial"/>
              <a:buNone/>
            </a:pPr>
            <a:r>
              <a:rPr lang="en-US" sz="2400" dirty="0">
                <a:solidFill>
                  <a:srgbClr val="404040"/>
                </a:solidFill>
              </a:rPr>
              <a:t>{</a:t>
            </a:r>
            <a:endParaRPr lang="en-US" sz="2400" dirty="0"/>
          </a:p>
          <a:p>
            <a:pPr marL="0" indent="0">
              <a:lnSpc>
                <a:spcPct val="40000"/>
              </a:lnSpc>
              <a:buFont typeface="Arial"/>
              <a:buNone/>
            </a:pPr>
            <a:r>
              <a:rPr lang="en-US" sz="2400" dirty="0">
                <a:solidFill>
                  <a:srgbClr val="404040"/>
                </a:solidFill>
              </a:rPr>
              <a:t>	int </a:t>
            </a:r>
            <a:r>
              <a:rPr lang="en-US" sz="2400" dirty="0" err="1">
                <a:solidFill>
                  <a:srgbClr val="404040"/>
                </a:solidFill>
              </a:rPr>
              <a:t>n,k,res</a:t>
            </a:r>
            <a:r>
              <a:rPr lang="en-US" sz="2400" dirty="0">
                <a:solidFill>
                  <a:srgbClr val="404040"/>
                </a:solidFill>
              </a:rPr>
              <a:t>;</a:t>
            </a:r>
            <a:endParaRPr lang="en-US" sz="2400" dirty="0"/>
          </a:p>
          <a:p>
            <a:pPr marL="0" indent="0">
              <a:lnSpc>
                <a:spcPct val="40000"/>
              </a:lnSpc>
              <a:buFont typeface="Arial"/>
              <a:buNone/>
            </a:pPr>
            <a:r>
              <a:rPr lang="en-US" sz="2400" dirty="0">
                <a:solidFill>
                  <a:srgbClr val="404040"/>
                </a:solidFill>
              </a:rPr>
              <a:t>	</a:t>
            </a:r>
            <a:r>
              <a:rPr lang="en-US" sz="2400" dirty="0" err="1">
                <a:solidFill>
                  <a:srgbClr val="404040"/>
                </a:solidFill>
              </a:rPr>
              <a:t>printf</a:t>
            </a:r>
            <a:r>
              <a:rPr lang="en-US" sz="2400" dirty="0">
                <a:solidFill>
                  <a:srgbClr val="404040"/>
                </a:solidFill>
              </a:rPr>
              <a:t>(Enter N and K value\n”);</a:t>
            </a:r>
            <a:endParaRPr lang="en-US" sz="2400" dirty="0"/>
          </a:p>
          <a:p>
            <a:pPr marL="0" indent="0">
              <a:lnSpc>
                <a:spcPct val="40000"/>
              </a:lnSpc>
              <a:buFont typeface="Arial"/>
              <a:buNone/>
            </a:pPr>
            <a:r>
              <a:rPr lang="en-US" sz="2400" dirty="0">
                <a:solidFill>
                  <a:srgbClr val="404040"/>
                </a:solidFill>
              </a:rPr>
              <a:t>	</a:t>
            </a:r>
            <a:r>
              <a:rPr lang="en-US" sz="2400" dirty="0" err="1">
                <a:solidFill>
                  <a:srgbClr val="404040"/>
                </a:solidFill>
              </a:rPr>
              <a:t>scanf</a:t>
            </a:r>
            <a:r>
              <a:rPr lang="en-US" sz="2400" dirty="0">
                <a:solidFill>
                  <a:srgbClr val="404040"/>
                </a:solidFill>
              </a:rPr>
              <a:t>(%d %</a:t>
            </a:r>
            <a:r>
              <a:rPr lang="en-US" sz="2400" dirty="0" err="1">
                <a:solidFill>
                  <a:srgbClr val="404040"/>
                </a:solidFill>
              </a:rPr>
              <a:t>d”,&amp;n,&amp;k</a:t>
            </a:r>
            <a:r>
              <a:rPr lang="en-US" sz="2400" dirty="0">
                <a:solidFill>
                  <a:srgbClr val="404040"/>
                </a:solidFill>
              </a:rPr>
              <a:t>);                            </a:t>
            </a:r>
            <a:r>
              <a:rPr lang="en-US" sz="2400" dirty="0">
                <a:solidFill>
                  <a:srgbClr val="FF0000"/>
                </a:solidFill>
              </a:rPr>
              <a:t>// 5  3</a:t>
            </a:r>
            <a:endParaRPr lang="en-US" sz="2400" dirty="0"/>
          </a:p>
          <a:p>
            <a:pPr marL="0" indent="0">
              <a:lnSpc>
                <a:spcPct val="40000"/>
              </a:lnSpc>
              <a:buFont typeface="Arial"/>
              <a:buNone/>
            </a:pPr>
            <a:r>
              <a:rPr lang="en-US" sz="2400" dirty="0">
                <a:solidFill>
                  <a:srgbClr val="404040"/>
                </a:solidFill>
              </a:rPr>
              <a:t>	res=C(</a:t>
            </a:r>
            <a:r>
              <a:rPr lang="en-US" sz="2400" dirty="0" err="1">
                <a:solidFill>
                  <a:srgbClr val="404040"/>
                </a:solidFill>
              </a:rPr>
              <a:t>n,k</a:t>
            </a:r>
            <a:r>
              <a:rPr lang="en-US" sz="2400" dirty="0">
                <a:solidFill>
                  <a:srgbClr val="404040"/>
                </a:solidFill>
              </a:rPr>
              <a:t>);                                                 </a:t>
            </a:r>
            <a:r>
              <a:rPr lang="en-US" sz="2400" dirty="0">
                <a:solidFill>
                  <a:srgbClr val="FF0000"/>
                </a:solidFill>
              </a:rPr>
              <a:t> //res=10</a:t>
            </a:r>
            <a:endParaRPr lang="en-US" sz="2400" dirty="0"/>
          </a:p>
          <a:p>
            <a:pPr marL="0" indent="0">
              <a:lnSpc>
                <a:spcPct val="40000"/>
              </a:lnSpc>
              <a:buFont typeface="Arial"/>
              <a:buNone/>
            </a:pPr>
            <a:r>
              <a:rPr lang="en-US" sz="2400" dirty="0">
                <a:solidFill>
                  <a:srgbClr val="404040"/>
                </a:solidFill>
              </a:rPr>
              <a:t>	</a:t>
            </a:r>
            <a:r>
              <a:rPr lang="en-US" sz="2400" dirty="0" err="1">
                <a:solidFill>
                  <a:srgbClr val="404040"/>
                </a:solidFill>
              </a:rPr>
              <a:t>printf</a:t>
            </a:r>
            <a:r>
              <a:rPr lang="en-US" sz="2400" dirty="0">
                <a:solidFill>
                  <a:srgbClr val="404040"/>
                </a:solidFill>
              </a:rPr>
              <a:t>(“%d C %d=%d\n”,</a:t>
            </a:r>
            <a:r>
              <a:rPr lang="en-US" sz="2400" dirty="0" err="1">
                <a:solidFill>
                  <a:srgbClr val="404040"/>
                </a:solidFill>
              </a:rPr>
              <a:t>n,k,res</a:t>
            </a:r>
            <a:r>
              <a:rPr lang="en-US" sz="2400" dirty="0">
                <a:solidFill>
                  <a:srgbClr val="404040"/>
                </a:solidFill>
              </a:rPr>
              <a:t>);          </a:t>
            </a:r>
            <a:r>
              <a:rPr lang="en-US" sz="2400" dirty="0">
                <a:solidFill>
                  <a:srgbClr val="FF0000"/>
                </a:solidFill>
              </a:rPr>
              <a:t>//5C3=10</a:t>
            </a:r>
            <a:endParaRPr lang="en-US" sz="2400" dirty="0"/>
          </a:p>
          <a:p>
            <a:pPr marL="0" indent="0">
              <a:lnSpc>
                <a:spcPct val="40000"/>
              </a:lnSpc>
              <a:buFont typeface="Arial"/>
              <a:buNone/>
            </a:pPr>
            <a:r>
              <a:rPr lang="en-US" sz="2400" dirty="0"/>
              <a:t>}</a:t>
            </a:r>
          </a:p>
          <a:p>
            <a:pPr marL="0" indent="0">
              <a:lnSpc>
                <a:spcPct val="100000"/>
              </a:lnSpc>
              <a:buFont typeface="Arial"/>
              <a:buNone/>
            </a:pPr>
            <a:endParaRPr lang="en-US" sz="1800" dirty="0">
              <a:solidFill>
                <a:srgbClr val="404040"/>
              </a:solidFill>
            </a:endParaRPr>
          </a:p>
          <a:p>
            <a:pPr marL="0" indent="0">
              <a:lnSpc>
                <a:spcPct val="100000"/>
              </a:lnSpc>
              <a:buFont typeface="Arial"/>
              <a:buNone/>
            </a:pPr>
            <a:r>
              <a:rPr lang="en-US" sz="1800" dirty="0">
                <a:solidFill>
                  <a:srgbClr val="404040"/>
                </a:solidFill>
              </a:rPr>
              <a:t> </a:t>
            </a:r>
            <a:endParaRPr lang="en-US" dirty="0"/>
          </a:p>
        </p:txBody>
      </p:sp>
    </p:spTree>
    <p:extLst>
      <p:ext uri="{BB962C8B-B14F-4D97-AF65-F5344CB8AC3E}">
        <p14:creationId xmlns:p14="http://schemas.microsoft.com/office/powerpoint/2010/main" val="2988183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82;p76">
            <a:extLst>
              <a:ext uri="{FF2B5EF4-FFF2-40B4-BE49-F238E27FC236}">
                <a16:creationId xmlns:a16="http://schemas.microsoft.com/office/drawing/2014/main" id="{B10093D4-6A3F-945C-FB4C-F8AA11317B82}"/>
              </a:ext>
            </a:extLst>
          </p:cNvPr>
          <p:cNvSpPr txBox="1">
            <a:spLocks/>
          </p:cNvSpPr>
          <p:nvPr/>
        </p:nvSpPr>
        <p:spPr>
          <a:xfrm>
            <a:off x="3231469" y="769937"/>
            <a:ext cx="7700962" cy="43243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buFont typeface="Arial"/>
              <a:buNone/>
            </a:pPr>
            <a:r>
              <a:rPr lang="en-US" sz="2400" b="1" dirty="0">
                <a:solidFill>
                  <a:schemeClr val="accent1"/>
                </a:solidFill>
              </a:rPr>
              <a:t>Ackermann's Function</a:t>
            </a:r>
          </a:p>
          <a:p>
            <a:pPr marL="0" indent="0">
              <a:lnSpc>
                <a:spcPct val="100000"/>
              </a:lnSpc>
              <a:buSzPts val="2000"/>
              <a:buFont typeface="Arial"/>
              <a:buNone/>
            </a:pPr>
            <a:r>
              <a:rPr lang="en-US" sz="2000" dirty="0">
                <a:solidFill>
                  <a:srgbClr val="404040"/>
                </a:solidFill>
              </a:rPr>
              <a:t>The Ackermann's function is recursively defined as shown below:</a:t>
            </a:r>
            <a:endParaRPr lang="en-US" sz="2000" dirty="0"/>
          </a:p>
          <a:p>
            <a:pPr marL="0" indent="0">
              <a:lnSpc>
                <a:spcPct val="100000"/>
              </a:lnSpc>
              <a:buSzPts val="2000"/>
              <a:buFont typeface="Arial"/>
              <a:buNone/>
            </a:pPr>
            <a:r>
              <a:rPr lang="en-US" sz="2000" dirty="0">
                <a:solidFill>
                  <a:srgbClr val="404040"/>
                </a:solidFill>
              </a:rPr>
              <a:t>                              N+1                              if M=0                         </a:t>
            </a:r>
            <a:r>
              <a:rPr lang="en-US" sz="2000" dirty="0">
                <a:solidFill>
                  <a:srgbClr val="FF0000"/>
                </a:solidFill>
              </a:rPr>
              <a:t> </a:t>
            </a:r>
            <a:r>
              <a:rPr lang="en-US" sz="2000" dirty="0">
                <a:solidFill>
                  <a:schemeClr val="accent2"/>
                </a:solidFill>
              </a:rPr>
              <a:t>case 1</a:t>
            </a:r>
          </a:p>
          <a:p>
            <a:pPr marL="0" indent="0">
              <a:lnSpc>
                <a:spcPct val="100000"/>
              </a:lnSpc>
              <a:buSzPts val="2000"/>
              <a:buFont typeface="Arial"/>
              <a:buNone/>
            </a:pPr>
            <a:r>
              <a:rPr lang="en-US" sz="2000" dirty="0">
                <a:solidFill>
                  <a:srgbClr val="404040"/>
                </a:solidFill>
              </a:rPr>
              <a:t>    A(M,N)=          A(M-1,1)                      if N=0                           </a:t>
            </a:r>
            <a:r>
              <a:rPr lang="en-US" sz="2000" dirty="0">
                <a:solidFill>
                  <a:schemeClr val="accent2"/>
                </a:solidFill>
              </a:rPr>
              <a:t>case 2</a:t>
            </a:r>
          </a:p>
          <a:p>
            <a:pPr marL="0" indent="0">
              <a:lnSpc>
                <a:spcPct val="100000"/>
              </a:lnSpc>
              <a:buSzPts val="2000"/>
              <a:buFont typeface="Arial"/>
              <a:buNone/>
            </a:pPr>
            <a:r>
              <a:rPr lang="en-US" sz="2000" dirty="0">
                <a:solidFill>
                  <a:srgbClr val="404040"/>
                </a:solidFill>
              </a:rPr>
              <a:t>                             A(M-1,A(M,N-1))        OTHERWISE                </a:t>
            </a:r>
            <a:r>
              <a:rPr lang="en-US" sz="2000" dirty="0">
                <a:solidFill>
                  <a:schemeClr val="accent2"/>
                </a:solidFill>
              </a:rPr>
              <a:t>case 3 </a:t>
            </a:r>
          </a:p>
          <a:p>
            <a:pPr marL="0" indent="0">
              <a:lnSpc>
                <a:spcPct val="100000"/>
              </a:lnSpc>
              <a:buSzPts val="2000"/>
              <a:buFont typeface="Arial"/>
              <a:buNone/>
            </a:pPr>
            <a:r>
              <a:rPr lang="en-US" sz="2000" dirty="0">
                <a:solidFill>
                  <a:schemeClr val="accent2"/>
                </a:solidFill>
              </a:rPr>
              <a:t>In the above recursive </a:t>
            </a:r>
            <a:r>
              <a:rPr lang="en-US" sz="2000" dirty="0" err="1">
                <a:solidFill>
                  <a:schemeClr val="accent2"/>
                </a:solidFill>
              </a:rPr>
              <a:t>relation,case</a:t>
            </a:r>
            <a:r>
              <a:rPr lang="en-US" sz="2000" dirty="0">
                <a:solidFill>
                  <a:schemeClr val="accent2"/>
                </a:solidFill>
              </a:rPr>
              <a:t> 1 is the base case and case 2 and case 3 are general cases.</a:t>
            </a:r>
          </a:p>
          <a:p>
            <a:pPr marL="0" indent="0" algn="ctr">
              <a:buClr>
                <a:srgbClr val="353535"/>
              </a:buClr>
              <a:buSzPts val="2000"/>
              <a:buFont typeface="Noto Sans Symbols"/>
              <a:buNone/>
            </a:pPr>
            <a:endParaRPr lang="en-US" sz="2000" dirty="0">
              <a:solidFill>
                <a:srgbClr val="FF0000"/>
              </a:solidFill>
            </a:endParaRPr>
          </a:p>
        </p:txBody>
      </p:sp>
    </p:spTree>
    <p:extLst>
      <p:ext uri="{BB962C8B-B14F-4D97-AF65-F5344CB8AC3E}">
        <p14:creationId xmlns:p14="http://schemas.microsoft.com/office/powerpoint/2010/main" val="12650288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88;p77">
            <a:extLst>
              <a:ext uri="{FF2B5EF4-FFF2-40B4-BE49-F238E27FC236}">
                <a16:creationId xmlns:a16="http://schemas.microsoft.com/office/drawing/2014/main" id="{D8957EFF-D685-B9B2-BF89-781F904C9234}"/>
              </a:ext>
            </a:extLst>
          </p:cNvPr>
          <p:cNvSpPr txBox="1">
            <a:spLocks/>
          </p:cNvSpPr>
          <p:nvPr/>
        </p:nvSpPr>
        <p:spPr>
          <a:xfrm>
            <a:off x="3009343" y="655864"/>
            <a:ext cx="7486650" cy="41894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dirty="0">
                <a:solidFill>
                  <a:srgbClr val="404040"/>
                </a:solidFill>
              </a:rPr>
              <a:t>Using Ackermann's function ,A(1,2) can be evaluated as shown below:</a:t>
            </a:r>
            <a:endParaRPr lang="en-US" sz="1800" dirty="0"/>
          </a:p>
          <a:p>
            <a:pPr marL="0" indent="0">
              <a:lnSpc>
                <a:spcPct val="100000"/>
              </a:lnSpc>
              <a:buFont typeface="Arial"/>
              <a:buNone/>
            </a:pPr>
            <a:r>
              <a:rPr lang="en-US" sz="1800" dirty="0">
                <a:solidFill>
                  <a:srgbClr val="404040"/>
                </a:solidFill>
              </a:rPr>
              <a:t>               A(1,2)                                         </a:t>
            </a:r>
            <a:r>
              <a:rPr lang="en-US" sz="1800" dirty="0">
                <a:solidFill>
                  <a:srgbClr val="FF0000"/>
                </a:solidFill>
              </a:rPr>
              <a:t>(case 3)</a:t>
            </a:r>
            <a:r>
              <a:rPr lang="en-US" sz="1800" dirty="0">
                <a:solidFill>
                  <a:srgbClr val="404040"/>
                </a:solidFill>
              </a:rPr>
              <a:t>A(M-1,A(M,N-1))        OTHERWISE</a:t>
            </a:r>
            <a:endParaRPr lang="en-US" sz="1800" dirty="0"/>
          </a:p>
          <a:p>
            <a:pPr marL="0" indent="0">
              <a:lnSpc>
                <a:spcPct val="100000"/>
              </a:lnSpc>
              <a:buFont typeface="Arial"/>
              <a:buNone/>
            </a:pPr>
            <a:r>
              <a:rPr lang="en-US" sz="1800" dirty="0">
                <a:solidFill>
                  <a:srgbClr val="404040"/>
                </a:solidFill>
              </a:rPr>
              <a:t>             =A(0,A(1,1))                                 </a:t>
            </a:r>
            <a:r>
              <a:rPr lang="en-US" sz="1800" dirty="0">
                <a:solidFill>
                  <a:srgbClr val="FF0000"/>
                </a:solidFill>
              </a:rPr>
              <a:t>(case 3)</a:t>
            </a:r>
            <a:r>
              <a:rPr lang="en-US" sz="1800" dirty="0">
                <a:solidFill>
                  <a:srgbClr val="404040"/>
                </a:solidFill>
              </a:rPr>
              <a:t>A(M-1,A(M,N-1))        OTHERWISE</a:t>
            </a:r>
            <a:endParaRPr lang="en-US" sz="1800" dirty="0"/>
          </a:p>
          <a:p>
            <a:pPr marL="0" indent="0">
              <a:lnSpc>
                <a:spcPct val="100000"/>
              </a:lnSpc>
              <a:buFont typeface="Arial"/>
              <a:buNone/>
            </a:pPr>
            <a:r>
              <a:rPr lang="en-US" sz="1800" dirty="0">
                <a:solidFill>
                  <a:srgbClr val="404040"/>
                </a:solidFill>
              </a:rPr>
              <a:t>            =A(0,A(0,A(1,0)))                          </a:t>
            </a:r>
            <a:r>
              <a:rPr lang="en-US" sz="1800" dirty="0">
                <a:solidFill>
                  <a:srgbClr val="FF0000"/>
                </a:solidFill>
              </a:rPr>
              <a:t>(case 2)</a:t>
            </a:r>
            <a:r>
              <a:rPr lang="en-US" sz="1800" dirty="0">
                <a:solidFill>
                  <a:srgbClr val="404040"/>
                </a:solidFill>
              </a:rPr>
              <a:t>A(M-1,1)                      if N=0 </a:t>
            </a:r>
            <a:endParaRPr lang="en-US" sz="1800" dirty="0"/>
          </a:p>
          <a:p>
            <a:pPr marL="0" indent="0">
              <a:lnSpc>
                <a:spcPct val="100000"/>
              </a:lnSpc>
              <a:buFont typeface="Arial"/>
              <a:buNone/>
            </a:pPr>
            <a:r>
              <a:rPr lang="en-US" sz="1800" dirty="0">
                <a:solidFill>
                  <a:srgbClr val="404040"/>
                </a:solidFill>
              </a:rPr>
              <a:t>             =A(0,A(0,A(0,1)))                         </a:t>
            </a:r>
            <a:r>
              <a:rPr lang="en-US" sz="1800" dirty="0"/>
              <a:t> </a:t>
            </a:r>
            <a:r>
              <a:rPr lang="en-US" sz="1800" dirty="0">
                <a:solidFill>
                  <a:srgbClr val="FF0000"/>
                </a:solidFill>
              </a:rPr>
              <a:t>(case 1)</a:t>
            </a:r>
            <a:r>
              <a:rPr lang="en-US" sz="1800" dirty="0">
                <a:solidFill>
                  <a:srgbClr val="404040"/>
                </a:solidFill>
              </a:rPr>
              <a:t>N+1                              if M=0</a:t>
            </a:r>
            <a:endParaRPr lang="en-US" sz="1800" dirty="0"/>
          </a:p>
          <a:p>
            <a:pPr marL="0" indent="0">
              <a:lnSpc>
                <a:spcPct val="100000"/>
              </a:lnSpc>
              <a:buFont typeface="Arial"/>
              <a:buNone/>
            </a:pPr>
            <a:r>
              <a:rPr lang="en-US" sz="1800" dirty="0">
                <a:solidFill>
                  <a:srgbClr val="FF0000"/>
                </a:solidFill>
              </a:rPr>
              <a:t>            </a:t>
            </a:r>
            <a:r>
              <a:rPr lang="en-US" sz="1800" dirty="0"/>
              <a:t>=A(0,A(0,2))                                   </a:t>
            </a:r>
            <a:r>
              <a:rPr lang="en-US" sz="1800" dirty="0">
                <a:solidFill>
                  <a:srgbClr val="FF0000"/>
                </a:solidFill>
              </a:rPr>
              <a:t>(case 1)</a:t>
            </a:r>
            <a:r>
              <a:rPr lang="en-US" sz="1800" dirty="0">
                <a:solidFill>
                  <a:srgbClr val="404040"/>
                </a:solidFill>
              </a:rPr>
              <a:t>N+1                              if M=0</a:t>
            </a:r>
            <a:endParaRPr lang="en-US" sz="1800" dirty="0"/>
          </a:p>
          <a:p>
            <a:pPr marL="0" indent="0">
              <a:lnSpc>
                <a:spcPct val="100000"/>
              </a:lnSpc>
              <a:buFont typeface="Arial"/>
              <a:buNone/>
            </a:pPr>
            <a:r>
              <a:rPr lang="en-US" sz="1800" dirty="0">
                <a:solidFill>
                  <a:srgbClr val="FF0000"/>
                </a:solidFill>
              </a:rPr>
              <a:t>            </a:t>
            </a:r>
            <a:r>
              <a:rPr lang="en-US" sz="1800" dirty="0"/>
              <a:t> =A(0,3)                                           </a:t>
            </a:r>
            <a:r>
              <a:rPr lang="en-US" sz="1800" dirty="0">
                <a:solidFill>
                  <a:srgbClr val="FF0000"/>
                </a:solidFill>
              </a:rPr>
              <a:t>(case 1)</a:t>
            </a:r>
            <a:r>
              <a:rPr lang="en-US" sz="1800" dirty="0">
                <a:solidFill>
                  <a:srgbClr val="404040"/>
                </a:solidFill>
              </a:rPr>
              <a:t>N+1                              if M=0</a:t>
            </a:r>
            <a:endParaRPr lang="en-US" sz="1800" dirty="0">
              <a:solidFill>
                <a:srgbClr val="FF0000"/>
              </a:solidFill>
            </a:endParaRPr>
          </a:p>
          <a:p>
            <a:pPr marL="0" indent="0">
              <a:lnSpc>
                <a:spcPct val="100000"/>
              </a:lnSpc>
              <a:buFont typeface="Arial"/>
              <a:buNone/>
            </a:pPr>
            <a:r>
              <a:rPr lang="en-US" sz="1800" dirty="0"/>
              <a:t>              =4                                                 </a:t>
            </a:r>
          </a:p>
        </p:txBody>
      </p:sp>
    </p:spTree>
    <p:extLst>
      <p:ext uri="{BB962C8B-B14F-4D97-AF65-F5344CB8AC3E}">
        <p14:creationId xmlns:p14="http://schemas.microsoft.com/office/powerpoint/2010/main" val="36999026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93;p78">
            <a:extLst>
              <a:ext uri="{FF2B5EF4-FFF2-40B4-BE49-F238E27FC236}">
                <a16:creationId xmlns:a16="http://schemas.microsoft.com/office/drawing/2014/main" id="{111C3503-54BE-DD3F-49CA-FC7662894985}"/>
              </a:ext>
            </a:extLst>
          </p:cNvPr>
          <p:cNvSpPr txBox="1">
            <a:spLocks/>
          </p:cNvSpPr>
          <p:nvPr/>
        </p:nvSpPr>
        <p:spPr>
          <a:xfrm>
            <a:off x="3420383" y="769620"/>
            <a:ext cx="7667625" cy="445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50000"/>
              </a:lnSpc>
              <a:spcBef>
                <a:spcPts val="0"/>
              </a:spcBef>
              <a:buSzPts val="1600"/>
              <a:buFont typeface="Arial"/>
              <a:buNone/>
            </a:pPr>
            <a:r>
              <a:rPr lang="en-US" sz="2400" dirty="0">
                <a:solidFill>
                  <a:srgbClr val="404040"/>
                </a:solidFill>
              </a:rPr>
              <a:t>int A(int </a:t>
            </a:r>
            <a:r>
              <a:rPr lang="en-US" sz="2400" dirty="0" err="1">
                <a:solidFill>
                  <a:srgbClr val="404040"/>
                </a:solidFill>
              </a:rPr>
              <a:t>m,int</a:t>
            </a:r>
            <a:r>
              <a:rPr lang="en-US" sz="2400" dirty="0">
                <a:solidFill>
                  <a:srgbClr val="404040"/>
                </a:solidFill>
              </a:rPr>
              <a:t> n)</a:t>
            </a:r>
            <a:endParaRPr lang="en-US" sz="2400" dirty="0"/>
          </a:p>
          <a:p>
            <a:pPr marL="0" indent="0">
              <a:lnSpc>
                <a:spcPct val="50000"/>
              </a:lnSpc>
              <a:buSzPts val="1600"/>
              <a:buFont typeface="Arial"/>
              <a:buNone/>
            </a:pPr>
            <a:r>
              <a:rPr lang="en-US" sz="2400" dirty="0">
                <a:solidFill>
                  <a:srgbClr val="404040"/>
                </a:solidFill>
              </a:rPr>
              <a:t>{</a:t>
            </a:r>
            <a:endParaRPr lang="en-US" sz="2400" dirty="0"/>
          </a:p>
          <a:p>
            <a:pPr marL="0" indent="0">
              <a:lnSpc>
                <a:spcPct val="50000"/>
              </a:lnSpc>
              <a:buSzPts val="1600"/>
              <a:buFont typeface="Arial"/>
              <a:buNone/>
            </a:pPr>
            <a:r>
              <a:rPr lang="en-US" sz="2400" dirty="0">
                <a:solidFill>
                  <a:srgbClr val="404040"/>
                </a:solidFill>
              </a:rPr>
              <a:t>	if(m==0)	return n+1;               //case 1</a:t>
            </a:r>
            <a:endParaRPr lang="en-US" sz="2400" dirty="0"/>
          </a:p>
          <a:p>
            <a:pPr marL="0" indent="0">
              <a:lnSpc>
                <a:spcPct val="50000"/>
              </a:lnSpc>
              <a:buSzPts val="1600"/>
              <a:buFont typeface="Arial"/>
              <a:buNone/>
            </a:pPr>
            <a:r>
              <a:rPr lang="en-US" sz="2400" dirty="0">
                <a:solidFill>
                  <a:srgbClr val="404040"/>
                </a:solidFill>
              </a:rPr>
              <a:t>	if(n==0)	return A(m-1,1);     //case 2</a:t>
            </a:r>
            <a:endParaRPr lang="en-US" sz="2400" dirty="0"/>
          </a:p>
          <a:p>
            <a:pPr marL="0" indent="0">
              <a:lnSpc>
                <a:spcPct val="50000"/>
              </a:lnSpc>
              <a:buSzPts val="1600"/>
              <a:buFont typeface="Arial"/>
              <a:buNone/>
            </a:pPr>
            <a:r>
              <a:rPr lang="en-US" sz="2400" dirty="0">
                <a:solidFill>
                  <a:srgbClr val="404040"/>
                </a:solidFill>
              </a:rPr>
              <a:t>	</a:t>
            </a:r>
            <a:r>
              <a:rPr lang="en-US" sz="2400" dirty="0" err="1">
                <a:solidFill>
                  <a:srgbClr val="404040"/>
                </a:solidFill>
              </a:rPr>
              <a:t>retrun</a:t>
            </a:r>
            <a:r>
              <a:rPr lang="en-US" sz="2400" dirty="0">
                <a:solidFill>
                  <a:srgbClr val="404040"/>
                </a:solidFill>
              </a:rPr>
              <a:t> A(m-1,A(m,n-1));           //case 3</a:t>
            </a:r>
            <a:endParaRPr lang="en-US" sz="2400" dirty="0"/>
          </a:p>
          <a:p>
            <a:pPr marL="0" indent="0">
              <a:lnSpc>
                <a:spcPct val="50000"/>
              </a:lnSpc>
              <a:buSzPts val="1600"/>
              <a:buFont typeface="Arial"/>
              <a:buNone/>
            </a:pPr>
            <a:r>
              <a:rPr lang="en-US" sz="2400" dirty="0">
                <a:solidFill>
                  <a:srgbClr val="404040"/>
                </a:solidFill>
              </a:rPr>
              <a:t>}</a:t>
            </a:r>
            <a:endParaRPr lang="en-US" sz="2400" dirty="0"/>
          </a:p>
          <a:p>
            <a:pPr marL="0" indent="0">
              <a:lnSpc>
                <a:spcPct val="50000"/>
              </a:lnSpc>
              <a:buSzPts val="1600"/>
              <a:buFont typeface="Arial"/>
              <a:buNone/>
            </a:pPr>
            <a:r>
              <a:rPr lang="en-US" sz="2400" dirty="0">
                <a:solidFill>
                  <a:srgbClr val="404040"/>
                </a:solidFill>
              </a:rPr>
              <a:t>void main()</a:t>
            </a:r>
            <a:endParaRPr lang="en-US" sz="2400" dirty="0"/>
          </a:p>
          <a:p>
            <a:pPr marL="0" indent="0">
              <a:lnSpc>
                <a:spcPct val="50000"/>
              </a:lnSpc>
              <a:buSzPts val="1600"/>
              <a:buFont typeface="Arial"/>
              <a:buNone/>
            </a:pPr>
            <a:r>
              <a:rPr lang="en-US" sz="2400" dirty="0">
                <a:solidFill>
                  <a:srgbClr val="404040"/>
                </a:solidFill>
              </a:rPr>
              <a:t>{</a:t>
            </a:r>
            <a:endParaRPr lang="en-US" sz="2400" dirty="0"/>
          </a:p>
          <a:p>
            <a:pPr marL="0" indent="0">
              <a:lnSpc>
                <a:spcPct val="50000"/>
              </a:lnSpc>
              <a:buSzPts val="1600"/>
              <a:buFont typeface="Arial"/>
              <a:buNone/>
            </a:pPr>
            <a:r>
              <a:rPr lang="en-US" sz="2400" dirty="0">
                <a:solidFill>
                  <a:srgbClr val="404040"/>
                </a:solidFill>
              </a:rPr>
              <a:t>	int </a:t>
            </a:r>
            <a:r>
              <a:rPr lang="en-US" sz="2400" dirty="0" err="1">
                <a:solidFill>
                  <a:srgbClr val="404040"/>
                </a:solidFill>
              </a:rPr>
              <a:t>m,n,res</a:t>
            </a:r>
            <a:r>
              <a:rPr lang="en-US" sz="2400" dirty="0">
                <a:solidFill>
                  <a:srgbClr val="404040"/>
                </a:solidFill>
              </a:rPr>
              <a:t>;</a:t>
            </a:r>
            <a:endParaRPr lang="en-US" sz="2400" dirty="0"/>
          </a:p>
          <a:p>
            <a:pPr marL="0" indent="0">
              <a:lnSpc>
                <a:spcPct val="50000"/>
              </a:lnSpc>
              <a:buSzPts val="1600"/>
              <a:buFont typeface="Arial"/>
              <a:buNone/>
            </a:pPr>
            <a:r>
              <a:rPr lang="en-US" sz="2400" dirty="0">
                <a:solidFill>
                  <a:srgbClr val="404040"/>
                </a:solidFill>
              </a:rPr>
              <a:t>	</a:t>
            </a:r>
            <a:r>
              <a:rPr lang="en-US" sz="2400" dirty="0" err="1">
                <a:solidFill>
                  <a:srgbClr val="404040"/>
                </a:solidFill>
              </a:rPr>
              <a:t>printf</a:t>
            </a:r>
            <a:r>
              <a:rPr lang="en-US" sz="2400" dirty="0">
                <a:solidFill>
                  <a:srgbClr val="404040"/>
                </a:solidFill>
              </a:rPr>
              <a:t>(“Enter M and N\n”);</a:t>
            </a:r>
            <a:endParaRPr lang="en-US" sz="2400" dirty="0"/>
          </a:p>
          <a:p>
            <a:pPr marL="0" indent="0">
              <a:lnSpc>
                <a:spcPct val="50000"/>
              </a:lnSpc>
              <a:buSzPts val="1600"/>
              <a:buFont typeface="Arial"/>
              <a:buNone/>
            </a:pPr>
            <a:r>
              <a:rPr lang="en-US" sz="2400" dirty="0">
                <a:solidFill>
                  <a:srgbClr val="404040"/>
                </a:solidFill>
              </a:rPr>
              <a:t>	</a:t>
            </a:r>
            <a:r>
              <a:rPr lang="en-US" sz="2400" dirty="0" err="1">
                <a:solidFill>
                  <a:srgbClr val="404040"/>
                </a:solidFill>
              </a:rPr>
              <a:t>scanf</a:t>
            </a:r>
            <a:r>
              <a:rPr lang="en-US" sz="2400" dirty="0">
                <a:solidFill>
                  <a:srgbClr val="404040"/>
                </a:solidFill>
              </a:rPr>
              <a:t>(“%d %</a:t>
            </a:r>
            <a:r>
              <a:rPr lang="en-US" sz="2400" dirty="0" err="1">
                <a:solidFill>
                  <a:srgbClr val="404040"/>
                </a:solidFill>
              </a:rPr>
              <a:t>d”,&amp;m,&amp;n</a:t>
            </a:r>
            <a:r>
              <a:rPr lang="en-US" sz="2400" dirty="0">
                <a:solidFill>
                  <a:srgbClr val="404040"/>
                </a:solidFill>
              </a:rPr>
              <a:t>);                    </a:t>
            </a:r>
            <a:r>
              <a:rPr lang="en-US" sz="2400" dirty="0">
                <a:solidFill>
                  <a:srgbClr val="92D050"/>
                </a:solidFill>
              </a:rPr>
              <a:t>// 1      2</a:t>
            </a:r>
            <a:endParaRPr lang="en-US" sz="2400" dirty="0"/>
          </a:p>
          <a:p>
            <a:pPr marL="0" indent="0">
              <a:lnSpc>
                <a:spcPct val="50000"/>
              </a:lnSpc>
              <a:buSzPts val="1600"/>
              <a:buFont typeface="Arial"/>
              <a:buNone/>
            </a:pPr>
            <a:r>
              <a:rPr lang="en-US" sz="2400" dirty="0">
                <a:solidFill>
                  <a:srgbClr val="404040"/>
                </a:solidFill>
              </a:rPr>
              <a:t>	res=A(</a:t>
            </a:r>
            <a:r>
              <a:rPr lang="en-US" sz="2400" dirty="0" err="1">
                <a:solidFill>
                  <a:srgbClr val="404040"/>
                </a:solidFill>
              </a:rPr>
              <a:t>m,n</a:t>
            </a:r>
            <a:r>
              <a:rPr lang="en-US" sz="2400" dirty="0">
                <a:solidFill>
                  <a:srgbClr val="404040"/>
                </a:solidFill>
              </a:rPr>
              <a:t>);                                        </a:t>
            </a:r>
            <a:r>
              <a:rPr lang="en-US" sz="2400" dirty="0">
                <a:solidFill>
                  <a:srgbClr val="92D050"/>
                </a:solidFill>
              </a:rPr>
              <a:t>  //res=4</a:t>
            </a:r>
            <a:endParaRPr lang="en-US" sz="2400" dirty="0"/>
          </a:p>
          <a:p>
            <a:pPr marL="0" indent="0">
              <a:lnSpc>
                <a:spcPct val="50000"/>
              </a:lnSpc>
              <a:buSzPts val="1600"/>
              <a:buFont typeface="Arial"/>
              <a:buNone/>
            </a:pPr>
            <a:r>
              <a:rPr lang="en-US" sz="2400" dirty="0">
                <a:solidFill>
                  <a:srgbClr val="404040"/>
                </a:solidFill>
              </a:rPr>
              <a:t>	</a:t>
            </a:r>
            <a:r>
              <a:rPr lang="en-US" sz="2400" dirty="0" err="1">
                <a:solidFill>
                  <a:srgbClr val="404040"/>
                </a:solidFill>
              </a:rPr>
              <a:t>printf</a:t>
            </a:r>
            <a:r>
              <a:rPr lang="en-US" sz="2400" dirty="0">
                <a:solidFill>
                  <a:srgbClr val="404040"/>
                </a:solidFill>
              </a:rPr>
              <a:t>(“A(%</a:t>
            </a:r>
            <a:r>
              <a:rPr lang="en-US" sz="2400" dirty="0" err="1">
                <a:solidFill>
                  <a:srgbClr val="404040"/>
                </a:solidFill>
              </a:rPr>
              <a:t>d,%d</a:t>
            </a:r>
            <a:r>
              <a:rPr lang="en-US" sz="2400" dirty="0">
                <a:solidFill>
                  <a:srgbClr val="404040"/>
                </a:solidFill>
              </a:rPr>
              <a:t>)=%d\n”,</a:t>
            </a:r>
            <a:r>
              <a:rPr lang="en-US" sz="2400" dirty="0" err="1">
                <a:solidFill>
                  <a:srgbClr val="404040"/>
                </a:solidFill>
              </a:rPr>
              <a:t>m,n,res</a:t>
            </a:r>
            <a:r>
              <a:rPr lang="en-US" sz="2400" dirty="0">
                <a:solidFill>
                  <a:srgbClr val="404040"/>
                </a:solidFill>
              </a:rPr>
              <a:t>);  </a:t>
            </a:r>
            <a:r>
              <a:rPr lang="en-US" sz="2400" dirty="0">
                <a:solidFill>
                  <a:srgbClr val="92D050"/>
                </a:solidFill>
              </a:rPr>
              <a:t>//A(1,2)=4</a:t>
            </a:r>
            <a:endParaRPr lang="en-US" sz="2400" dirty="0"/>
          </a:p>
          <a:p>
            <a:pPr marL="0" indent="0">
              <a:lnSpc>
                <a:spcPct val="50000"/>
              </a:lnSpc>
              <a:buSzPts val="1600"/>
              <a:buFont typeface="Arial"/>
              <a:buNone/>
            </a:pPr>
            <a:r>
              <a:rPr lang="en-US" sz="2400" dirty="0">
                <a:solidFill>
                  <a:srgbClr val="404040"/>
                </a:solidFill>
              </a:rPr>
              <a:t>}</a:t>
            </a:r>
            <a:endParaRPr lang="en-US" sz="2400" dirty="0"/>
          </a:p>
          <a:p>
            <a:pPr marL="0" indent="0" algn="ctr">
              <a:buClr>
                <a:srgbClr val="353535"/>
              </a:buClr>
              <a:buSzPts val="1600"/>
              <a:buFont typeface="Noto Sans Symbols"/>
              <a:buNone/>
            </a:pPr>
            <a:endParaRPr lang="en-US" sz="1600" dirty="0">
              <a:solidFill>
                <a:srgbClr val="404040"/>
              </a:solidFill>
            </a:endParaRPr>
          </a:p>
        </p:txBody>
      </p:sp>
    </p:spTree>
    <p:extLst>
      <p:ext uri="{BB962C8B-B14F-4D97-AF65-F5344CB8AC3E}">
        <p14:creationId xmlns:p14="http://schemas.microsoft.com/office/powerpoint/2010/main" val="2276256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98;p79">
            <a:extLst>
              <a:ext uri="{FF2B5EF4-FFF2-40B4-BE49-F238E27FC236}">
                <a16:creationId xmlns:a16="http://schemas.microsoft.com/office/drawing/2014/main" id="{A557BE60-A09C-EA40-F3A4-6B5205DA6921}"/>
              </a:ext>
            </a:extLst>
          </p:cNvPr>
          <p:cNvSpPr txBox="1">
            <a:spLocks/>
          </p:cNvSpPr>
          <p:nvPr/>
        </p:nvSpPr>
        <p:spPr>
          <a:xfrm>
            <a:off x="3219920" y="616583"/>
            <a:ext cx="7519987" cy="43354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400"/>
              <a:buFont typeface="Arial"/>
              <a:buNone/>
            </a:pPr>
            <a:r>
              <a:rPr lang="en-US" sz="2400" dirty="0">
                <a:solidFill>
                  <a:schemeClr val="accent2"/>
                </a:solidFill>
              </a:rPr>
              <a:t>Example Programs:</a:t>
            </a:r>
            <a:endParaRPr lang="en-US" dirty="0">
              <a:solidFill>
                <a:schemeClr val="accent2"/>
              </a:solidFill>
            </a:endParaRPr>
          </a:p>
          <a:p>
            <a:pPr marL="0" indent="0">
              <a:lnSpc>
                <a:spcPct val="100000"/>
              </a:lnSpc>
              <a:buSzPts val="2400"/>
              <a:buFont typeface="Arial"/>
              <a:buNone/>
            </a:pPr>
            <a:r>
              <a:rPr lang="en-US" sz="2400" dirty="0">
                <a:solidFill>
                  <a:schemeClr val="accent2"/>
                </a:solidFill>
              </a:rPr>
              <a:t>1. Sum of Natural Numbers using recursion</a:t>
            </a:r>
            <a:endParaRPr lang="en-US" dirty="0">
              <a:solidFill>
                <a:schemeClr val="accent2"/>
              </a:solidFill>
            </a:endParaRPr>
          </a:p>
          <a:p>
            <a:pPr marL="0" indent="0">
              <a:lnSpc>
                <a:spcPct val="100000"/>
              </a:lnSpc>
              <a:buSzPts val="2400"/>
              <a:buFont typeface="Arial"/>
              <a:buNone/>
            </a:pPr>
            <a:r>
              <a:rPr lang="en-US" sz="2400" dirty="0">
                <a:solidFill>
                  <a:schemeClr val="accent2"/>
                </a:solidFill>
              </a:rPr>
              <a:t>2.Sum of Array Elements using recursion</a:t>
            </a:r>
            <a:endParaRPr lang="en-US" dirty="0">
              <a:solidFill>
                <a:schemeClr val="accent2"/>
              </a:solidFill>
            </a:endParaRPr>
          </a:p>
          <a:p>
            <a:pPr marL="0" indent="0">
              <a:lnSpc>
                <a:spcPct val="100000"/>
              </a:lnSpc>
              <a:buSzPts val="2400"/>
              <a:buFont typeface="Arial"/>
              <a:buNone/>
            </a:pPr>
            <a:r>
              <a:rPr lang="en-US" sz="2400" dirty="0">
                <a:solidFill>
                  <a:schemeClr val="accent2"/>
                </a:solidFill>
              </a:rPr>
              <a:t>3.Print Array Elements using recursion</a:t>
            </a:r>
            <a:endParaRPr lang="en-US" dirty="0">
              <a:solidFill>
                <a:schemeClr val="accent2"/>
              </a:solidFill>
            </a:endParaRPr>
          </a:p>
        </p:txBody>
      </p:sp>
    </p:spTree>
    <p:extLst>
      <p:ext uri="{BB962C8B-B14F-4D97-AF65-F5344CB8AC3E}">
        <p14:creationId xmlns:p14="http://schemas.microsoft.com/office/powerpoint/2010/main" val="40630530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03;p80">
            <a:extLst>
              <a:ext uri="{FF2B5EF4-FFF2-40B4-BE49-F238E27FC236}">
                <a16:creationId xmlns:a16="http://schemas.microsoft.com/office/drawing/2014/main" id="{C2E99FD4-D707-7FE7-1A59-4BD080F12B86}"/>
              </a:ext>
            </a:extLst>
          </p:cNvPr>
          <p:cNvSpPr txBox="1">
            <a:spLocks/>
          </p:cNvSpPr>
          <p:nvPr/>
        </p:nvSpPr>
        <p:spPr>
          <a:xfrm>
            <a:off x="3104964" y="548367"/>
            <a:ext cx="7925440" cy="60374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buFont typeface="Arial"/>
              <a:buNone/>
            </a:pPr>
            <a:r>
              <a:rPr lang="en-US" sz="2400" dirty="0">
                <a:solidFill>
                  <a:schemeClr val="accent2"/>
                </a:solidFill>
              </a:rPr>
              <a:t>TOWER OF HANOI PROBLEM</a:t>
            </a:r>
          </a:p>
          <a:p>
            <a:pPr marL="0" indent="0">
              <a:lnSpc>
                <a:spcPct val="100000"/>
              </a:lnSpc>
              <a:buSzPts val="1600"/>
              <a:buFont typeface="Arial"/>
              <a:buNone/>
            </a:pPr>
            <a:r>
              <a:rPr lang="en-US" sz="2000" dirty="0">
                <a:solidFill>
                  <a:srgbClr val="404040"/>
                </a:solidFill>
              </a:rPr>
              <a:t>Tower of Hanoi, is a mathematical puzzle which consists of three tower (pegs) and more than one rings; as depicted in below figure </a:t>
            </a:r>
          </a:p>
          <a:p>
            <a:pPr marL="0" indent="0">
              <a:lnSpc>
                <a:spcPct val="100000"/>
              </a:lnSpc>
              <a:buSzPts val="1600"/>
              <a:buFont typeface="Arial"/>
              <a:buNone/>
            </a:pPr>
            <a:endParaRPr lang="en-US" sz="2000" dirty="0">
              <a:solidFill>
                <a:srgbClr val="404040"/>
              </a:solidFill>
            </a:endParaRPr>
          </a:p>
          <a:p>
            <a:pPr marL="0" indent="0">
              <a:lnSpc>
                <a:spcPct val="100000"/>
              </a:lnSpc>
              <a:buSzPts val="1600"/>
              <a:buFont typeface="Arial"/>
              <a:buNone/>
            </a:pPr>
            <a:endParaRPr lang="en-US" sz="2000" dirty="0">
              <a:solidFill>
                <a:srgbClr val="404040"/>
              </a:solidFill>
            </a:endParaRPr>
          </a:p>
          <a:p>
            <a:pPr marL="0" indent="0">
              <a:lnSpc>
                <a:spcPct val="100000"/>
              </a:lnSpc>
              <a:buSzPts val="1600"/>
              <a:buFont typeface="Arial"/>
              <a:buNone/>
            </a:pPr>
            <a:endParaRPr lang="en-US" sz="2000" dirty="0">
              <a:solidFill>
                <a:srgbClr val="404040"/>
              </a:solidFill>
            </a:endParaRPr>
          </a:p>
          <a:p>
            <a:pPr marL="0" indent="0">
              <a:lnSpc>
                <a:spcPct val="100000"/>
              </a:lnSpc>
              <a:buSzPts val="1600"/>
              <a:buFont typeface="Arial"/>
              <a:buNone/>
            </a:pPr>
            <a:endParaRPr lang="en-US" sz="2000" dirty="0">
              <a:solidFill>
                <a:srgbClr val="404040"/>
              </a:solidFill>
            </a:endParaRPr>
          </a:p>
          <a:p>
            <a:pPr marL="0" indent="0">
              <a:lnSpc>
                <a:spcPct val="100000"/>
              </a:lnSpc>
              <a:buSzPts val="1600"/>
              <a:buFont typeface="Arial"/>
              <a:buNone/>
            </a:pPr>
            <a:endParaRPr lang="en-US" sz="2000" dirty="0">
              <a:solidFill>
                <a:srgbClr val="404040"/>
              </a:solidFill>
            </a:endParaRPr>
          </a:p>
          <a:p>
            <a:pPr marL="0" indent="0">
              <a:lnSpc>
                <a:spcPct val="100000"/>
              </a:lnSpc>
              <a:buSzPts val="1600"/>
              <a:buFont typeface="Arial"/>
              <a:buNone/>
            </a:pPr>
            <a:endParaRPr lang="en-US" sz="2000" dirty="0">
              <a:solidFill>
                <a:srgbClr val="404040"/>
              </a:solidFill>
            </a:endParaRPr>
          </a:p>
          <a:p>
            <a:pPr marL="0" indent="0">
              <a:lnSpc>
                <a:spcPct val="100000"/>
              </a:lnSpc>
              <a:buSzPts val="1600"/>
              <a:buFont typeface="Arial"/>
              <a:buNone/>
            </a:pPr>
            <a:endParaRPr lang="en-US" sz="2000" dirty="0">
              <a:solidFill>
                <a:srgbClr val="404040"/>
              </a:solidFill>
            </a:endParaRPr>
          </a:p>
          <a:p>
            <a:pPr marL="0" indent="0" algn="just">
              <a:lnSpc>
                <a:spcPct val="150000"/>
              </a:lnSpc>
              <a:buSzPts val="1600"/>
              <a:buNone/>
            </a:pPr>
            <a:r>
              <a:rPr lang="en-US" sz="2000" b="0" i="0" u="none" dirty="0">
                <a:solidFill>
                  <a:srgbClr val="404040"/>
                </a:solidFill>
                <a:latin typeface="Calibri"/>
                <a:ea typeface="Calibri"/>
                <a:cs typeface="Calibri"/>
                <a:sym typeface="Calibri"/>
              </a:rPr>
              <a:t>These rings are of different sizes and stacked upon in ascending order i.e. the smaller one sits over the larger one. There are other variations of puzzle where the number of disks increase, but the tower count remains the same.</a:t>
            </a:r>
            <a:endParaRPr lang="en-US" sz="2000" dirty="0"/>
          </a:p>
          <a:p>
            <a:pPr marL="0" indent="0">
              <a:lnSpc>
                <a:spcPct val="100000"/>
              </a:lnSpc>
              <a:buSzPts val="1600"/>
              <a:buFont typeface="Arial"/>
              <a:buNone/>
            </a:pPr>
            <a:endParaRPr lang="en-US" sz="2000" dirty="0"/>
          </a:p>
          <a:p>
            <a:pPr marL="0" indent="0" algn="ctr">
              <a:buClr>
                <a:srgbClr val="353535"/>
              </a:buClr>
              <a:buSzPts val="1600"/>
              <a:buFont typeface="Noto Sans Symbols"/>
              <a:buNone/>
            </a:pPr>
            <a:endParaRPr lang="en-US" sz="1600" dirty="0">
              <a:solidFill>
                <a:srgbClr val="404040"/>
              </a:solidFill>
            </a:endParaRPr>
          </a:p>
        </p:txBody>
      </p:sp>
      <p:pic>
        <p:nvPicPr>
          <p:cNvPr id="3" name="Google Shape;804;p80">
            <a:extLst>
              <a:ext uri="{FF2B5EF4-FFF2-40B4-BE49-F238E27FC236}">
                <a16:creationId xmlns:a16="http://schemas.microsoft.com/office/drawing/2014/main" id="{1B684441-1CD8-98D3-CE6A-0C21F09B5717}"/>
              </a:ext>
            </a:extLst>
          </p:cNvPr>
          <p:cNvPicPr preferRelativeResize="0"/>
          <p:nvPr/>
        </p:nvPicPr>
        <p:blipFill rotWithShape="1">
          <a:blip r:embed="rId4">
            <a:alphaModFix/>
          </a:blip>
          <a:srcRect/>
          <a:stretch/>
        </p:blipFill>
        <p:spPr>
          <a:xfrm>
            <a:off x="4110700" y="1905955"/>
            <a:ext cx="5541375" cy="2803979"/>
          </a:xfrm>
          <a:prstGeom prst="rect">
            <a:avLst/>
          </a:prstGeom>
          <a:noFill/>
          <a:ln>
            <a:noFill/>
          </a:ln>
        </p:spPr>
      </p:pic>
    </p:spTree>
    <p:extLst>
      <p:ext uri="{BB962C8B-B14F-4D97-AF65-F5344CB8AC3E}">
        <p14:creationId xmlns:p14="http://schemas.microsoft.com/office/powerpoint/2010/main" val="18236900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10;p81">
            <a:extLst>
              <a:ext uri="{FF2B5EF4-FFF2-40B4-BE49-F238E27FC236}">
                <a16:creationId xmlns:a16="http://schemas.microsoft.com/office/drawing/2014/main" id="{9296F90E-0F8A-2E9D-46DE-FAFBFBBFF3D7}"/>
              </a:ext>
            </a:extLst>
          </p:cNvPr>
          <p:cNvSpPr txBox="1">
            <a:spLocks/>
          </p:cNvSpPr>
          <p:nvPr/>
        </p:nvSpPr>
        <p:spPr>
          <a:xfrm>
            <a:off x="3104963" y="673733"/>
            <a:ext cx="7837487" cy="42783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70000"/>
              </a:lnSpc>
              <a:spcBef>
                <a:spcPts val="0"/>
              </a:spcBef>
              <a:buSzPts val="2000"/>
              <a:buFont typeface="Arial"/>
              <a:buNone/>
            </a:pPr>
            <a:r>
              <a:rPr lang="en-US" sz="2400" dirty="0">
                <a:solidFill>
                  <a:srgbClr val="404040"/>
                </a:solidFill>
              </a:rPr>
              <a:t>.</a:t>
            </a:r>
          </a:p>
          <a:p>
            <a:pPr marL="0" indent="0" algn="just">
              <a:lnSpc>
                <a:spcPct val="170000"/>
              </a:lnSpc>
              <a:spcBef>
                <a:spcPts val="0"/>
              </a:spcBef>
              <a:buSzPts val="2000"/>
              <a:buFont typeface="Arial"/>
              <a:buNone/>
            </a:pPr>
            <a:endParaRPr lang="en-US" sz="2400" dirty="0"/>
          </a:p>
        </p:txBody>
      </p:sp>
      <p:sp>
        <p:nvSpPr>
          <p:cNvPr id="3" name="Google Shape;815;p82">
            <a:extLst>
              <a:ext uri="{FF2B5EF4-FFF2-40B4-BE49-F238E27FC236}">
                <a16:creationId xmlns:a16="http://schemas.microsoft.com/office/drawing/2014/main" id="{5E8AC69B-F730-417E-DBEA-CB82538817A2}"/>
              </a:ext>
            </a:extLst>
          </p:cNvPr>
          <p:cNvSpPr txBox="1">
            <a:spLocks/>
          </p:cNvSpPr>
          <p:nvPr/>
        </p:nvSpPr>
        <p:spPr>
          <a:xfrm>
            <a:off x="2716258" y="673733"/>
            <a:ext cx="8023649" cy="55105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000" b="1" dirty="0">
                <a:solidFill>
                  <a:srgbClr val="FF0000"/>
                </a:solidFill>
                <a:latin typeface="Times New Roman" panose="02020603050405020304" pitchFamily="18" charset="0"/>
                <a:cs typeface="Times New Roman" panose="02020603050405020304" pitchFamily="18" charset="0"/>
              </a:rPr>
              <a:t>Rules: </a:t>
            </a:r>
            <a:r>
              <a:rPr lang="en-US" sz="2000" dirty="0">
                <a:solidFill>
                  <a:srgbClr val="404040"/>
                </a:solidFill>
                <a:latin typeface="Times New Roman" panose="02020603050405020304" pitchFamily="18" charset="0"/>
                <a:cs typeface="Times New Roman" panose="02020603050405020304" pitchFamily="18" charset="0"/>
              </a:rPr>
              <a:t>The mission is to move all the disks to some another tower without violating the sequence of arrangement. The below mentioned are few rules which are to be followed for tower of </a:t>
            </a:r>
            <a:r>
              <a:rPr lang="en-US" sz="2000" dirty="0" err="1">
                <a:solidFill>
                  <a:srgbClr val="404040"/>
                </a:solidFill>
                <a:latin typeface="Times New Roman" panose="02020603050405020304" pitchFamily="18" charset="0"/>
                <a:cs typeface="Times New Roman" panose="02020603050405020304" pitchFamily="18" charset="0"/>
              </a:rPr>
              <a:t>hanoi</a:t>
            </a:r>
            <a:r>
              <a:rPr lang="en-US" sz="2000" dirty="0">
                <a:solidFill>
                  <a:srgbClr val="404040"/>
                </a:solidFill>
                <a:latin typeface="Times New Roman" panose="02020603050405020304" pitchFamily="18" charset="0"/>
                <a:cs typeface="Times New Roman" panose="02020603050405020304" pitchFamily="18" charset="0"/>
              </a:rPr>
              <a:t> −</a:t>
            </a:r>
          </a:p>
          <a:p>
            <a:pPr marL="342900">
              <a:lnSpc>
                <a:spcPct val="200000"/>
              </a:lnSpc>
            </a:pPr>
            <a:r>
              <a:rPr lang="en-US" sz="2000" dirty="0">
                <a:solidFill>
                  <a:srgbClr val="404040"/>
                </a:solidFill>
                <a:latin typeface="Times New Roman" panose="02020603050405020304" pitchFamily="18" charset="0"/>
                <a:cs typeface="Times New Roman" panose="02020603050405020304" pitchFamily="18" charset="0"/>
              </a:rPr>
              <a:t>Only one disk can be moved among the towers at any given time.</a:t>
            </a:r>
            <a:endParaRPr lang="en-US" sz="2000" dirty="0">
              <a:latin typeface="Times New Roman" panose="02020603050405020304" pitchFamily="18" charset="0"/>
              <a:cs typeface="Times New Roman" panose="02020603050405020304" pitchFamily="18" charset="0"/>
            </a:endParaRPr>
          </a:p>
          <a:p>
            <a:pPr marL="0" indent="-114300">
              <a:lnSpc>
                <a:spcPct val="200000"/>
              </a:lnSpc>
              <a:buClr>
                <a:srgbClr val="353535"/>
              </a:buClr>
            </a:pPr>
            <a:r>
              <a:rPr lang="en-US" sz="2000" dirty="0">
                <a:solidFill>
                  <a:srgbClr val="404040"/>
                </a:solidFill>
                <a:latin typeface="Times New Roman" panose="02020603050405020304" pitchFamily="18" charset="0"/>
                <a:cs typeface="Times New Roman" panose="02020603050405020304" pitchFamily="18" charset="0"/>
              </a:rPr>
              <a:t>Only the "top" disk can be removed.</a:t>
            </a:r>
            <a:endParaRPr lang="en-US" sz="2000" dirty="0">
              <a:latin typeface="Times New Roman" panose="02020603050405020304" pitchFamily="18" charset="0"/>
              <a:cs typeface="Times New Roman" panose="02020603050405020304" pitchFamily="18" charset="0"/>
            </a:endParaRPr>
          </a:p>
          <a:p>
            <a:pPr marL="0" indent="-114300">
              <a:lnSpc>
                <a:spcPct val="200000"/>
              </a:lnSpc>
              <a:buClr>
                <a:srgbClr val="353535"/>
              </a:buClr>
            </a:pPr>
            <a:r>
              <a:rPr lang="en-US" sz="2000" dirty="0">
                <a:solidFill>
                  <a:srgbClr val="404040"/>
                </a:solidFill>
                <a:latin typeface="Times New Roman" panose="02020603050405020304" pitchFamily="18" charset="0"/>
                <a:cs typeface="Times New Roman" panose="02020603050405020304" pitchFamily="18" charset="0"/>
              </a:rPr>
              <a:t>No large disk can sit over a small disk.</a:t>
            </a:r>
          </a:p>
          <a:p>
            <a:pPr marL="0" indent="-114300">
              <a:lnSpc>
                <a:spcPct val="200000"/>
              </a:lnSpc>
              <a:buClr>
                <a:srgbClr val="353535"/>
              </a:buClr>
            </a:pPr>
            <a:r>
              <a:rPr lang="en-US" sz="2000" b="0" i="0" u="none" dirty="0">
                <a:solidFill>
                  <a:srgbClr val="404040"/>
                </a:solidFill>
                <a:latin typeface="Calibri"/>
                <a:ea typeface="Calibri"/>
                <a:cs typeface="Calibri"/>
                <a:sym typeface="Calibri"/>
              </a:rPr>
              <a:t>For solving a tower of </a:t>
            </a:r>
            <a:r>
              <a:rPr lang="en-US" sz="2000" b="0" i="0" u="none" dirty="0" err="1">
                <a:solidFill>
                  <a:srgbClr val="404040"/>
                </a:solidFill>
                <a:latin typeface="Calibri"/>
                <a:ea typeface="Calibri"/>
                <a:cs typeface="Calibri"/>
                <a:sym typeface="Calibri"/>
              </a:rPr>
              <a:t>hanoi</a:t>
            </a:r>
            <a:r>
              <a:rPr lang="en-US" sz="2000" b="0" i="0" u="none" dirty="0">
                <a:solidFill>
                  <a:srgbClr val="404040"/>
                </a:solidFill>
                <a:latin typeface="Calibri"/>
                <a:ea typeface="Calibri"/>
                <a:cs typeface="Calibri"/>
                <a:sym typeface="Calibri"/>
              </a:rPr>
              <a:t> puzzle with three disks −Tower of </a:t>
            </a:r>
            <a:r>
              <a:rPr lang="en-US" sz="2000" b="0" i="0" u="none" dirty="0" err="1">
                <a:solidFill>
                  <a:srgbClr val="404040"/>
                </a:solidFill>
                <a:latin typeface="Calibri"/>
                <a:ea typeface="Calibri"/>
                <a:cs typeface="Calibri"/>
                <a:sym typeface="Calibri"/>
              </a:rPr>
              <a:t>hanoi</a:t>
            </a:r>
            <a:r>
              <a:rPr lang="en-US" sz="2000" b="0" i="0" u="none" dirty="0">
                <a:solidFill>
                  <a:srgbClr val="404040"/>
                </a:solidFill>
                <a:latin typeface="Calibri"/>
                <a:ea typeface="Calibri"/>
                <a:cs typeface="Calibri"/>
                <a:sym typeface="Calibri"/>
              </a:rPr>
              <a:t> puzzle with n disks can be solved in minimum 2</a:t>
            </a:r>
            <a:r>
              <a:rPr lang="en-US" sz="2000" b="0" i="0" u="none" baseline="30000" dirty="0">
                <a:solidFill>
                  <a:srgbClr val="404040"/>
                </a:solidFill>
                <a:latin typeface="Calibri"/>
                <a:ea typeface="Calibri"/>
                <a:cs typeface="Calibri"/>
                <a:sym typeface="Calibri"/>
              </a:rPr>
              <a:t>n</a:t>
            </a:r>
            <a:r>
              <a:rPr lang="en-US" sz="2000" b="0" i="0" u="none" dirty="0">
                <a:solidFill>
                  <a:srgbClr val="404040"/>
                </a:solidFill>
                <a:latin typeface="Calibri"/>
                <a:ea typeface="Calibri"/>
                <a:cs typeface="Calibri"/>
                <a:sym typeface="Calibri"/>
              </a:rPr>
              <a:t>−1 steps. This presentation shows that a puzzle with 3 disks has taken 2</a:t>
            </a:r>
            <a:r>
              <a:rPr lang="en-US" sz="2000" b="0" i="0" u="none" baseline="30000" dirty="0">
                <a:solidFill>
                  <a:srgbClr val="404040"/>
                </a:solidFill>
                <a:latin typeface="Calibri"/>
                <a:ea typeface="Calibri"/>
                <a:cs typeface="Calibri"/>
                <a:sym typeface="Calibri"/>
              </a:rPr>
              <a:t>3</a:t>
            </a:r>
            <a:r>
              <a:rPr lang="en-US" sz="2000" b="0" i="0" u="none" dirty="0">
                <a:solidFill>
                  <a:srgbClr val="404040"/>
                </a:solidFill>
                <a:latin typeface="Calibri"/>
                <a:ea typeface="Calibri"/>
                <a:cs typeface="Calibri"/>
                <a:sym typeface="Calibri"/>
              </a:rPr>
              <a:t>−1 = 7 steps.</a:t>
            </a:r>
            <a:endParaRPr lang="en-US" sz="2400" dirty="0"/>
          </a:p>
          <a:p>
            <a:pPr marL="0" indent="-114300">
              <a:lnSpc>
                <a:spcPct val="200000"/>
              </a:lnSpc>
              <a:buClr>
                <a:srgbClr val="353535"/>
              </a:buCl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48431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25;p84">
            <a:extLst>
              <a:ext uri="{FF2B5EF4-FFF2-40B4-BE49-F238E27FC236}">
                <a16:creationId xmlns:a16="http://schemas.microsoft.com/office/drawing/2014/main" id="{14225C4F-38F0-F07B-F8CB-1FDBDC6D8C0A}"/>
              </a:ext>
            </a:extLst>
          </p:cNvPr>
          <p:cNvSpPr txBox="1">
            <a:spLocks/>
          </p:cNvSpPr>
          <p:nvPr/>
        </p:nvSpPr>
        <p:spPr>
          <a:xfrm>
            <a:off x="2716258" y="673733"/>
            <a:ext cx="7793037" cy="42783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buFont typeface="Arial"/>
              <a:buNone/>
            </a:pPr>
            <a:r>
              <a:rPr lang="en-US" sz="2400" b="1" dirty="0">
                <a:solidFill>
                  <a:schemeClr val="accent5"/>
                </a:solidFill>
              </a:rPr>
              <a:t>Algorithm</a:t>
            </a:r>
          </a:p>
          <a:p>
            <a:pPr marL="0" indent="0" algn="just">
              <a:lnSpc>
                <a:spcPct val="150000"/>
              </a:lnSpc>
              <a:buSzPts val="2000"/>
              <a:buFont typeface="Arial"/>
              <a:buNone/>
            </a:pPr>
            <a:r>
              <a:rPr lang="en-US" sz="2000" dirty="0">
                <a:solidFill>
                  <a:srgbClr val="404040"/>
                </a:solidFill>
              </a:rPr>
              <a:t>To write an algorithm for Tower of Hanoi, first we need to learn how to solve this problem with lesser amount of disks, say → 1 or 2. We mark three towers with name, source, destination and aux (only to help moving disks). If we have only one disk, then it can easily be moved from source to destination peg.</a:t>
            </a:r>
            <a:endParaRPr lang="en-US" dirty="0"/>
          </a:p>
          <a:p>
            <a:pPr marL="0" indent="0" algn="just">
              <a:lnSpc>
                <a:spcPct val="150000"/>
              </a:lnSpc>
              <a:buSzPts val="2000"/>
              <a:buFont typeface="Arial"/>
              <a:buNone/>
            </a:pPr>
            <a:r>
              <a:rPr lang="en-US" sz="2000" dirty="0">
                <a:solidFill>
                  <a:srgbClr val="404040"/>
                </a:solidFill>
              </a:rPr>
              <a:t>If we have 2 disks −</a:t>
            </a:r>
            <a:endParaRPr lang="en-US" dirty="0"/>
          </a:p>
          <a:p>
            <a:pPr marL="0" indent="-127000" algn="just">
              <a:lnSpc>
                <a:spcPct val="150000"/>
              </a:lnSpc>
              <a:buClr>
                <a:srgbClr val="353535"/>
              </a:buClr>
              <a:buSzPts val="2000"/>
            </a:pPr>
            <a:r>
              <a:rPr lang="en-US" sz="2000" dirty="0">
                <a:solidFill>
                  <a:srgbClr val="404040"/>
                </a:solidFill>
              </a:rPr>
              <a:t>First we move the smaller one (top) disk to aux peg</a:t>
            </a:r>
            <a:endParaRPr lang="en-US" dirty="0"/>
          </a:p>
          <a:p>
            <a:pPr marL="0" indent="-127000" algn="just">
              <a:lnSpc>
                <a:spcPct val="150000"/>
              </a:lnSpc>
              <a:buClr>
                <a:srgbClr val="353535"/>
              </a:buClr>
              <a:buSzPts val="2000"/>
            </a:pPr>
            <a:r>
              <a:rPr lang="en-US" sz="2000" dirty="0">
                <a:solidFill>
                  <a:srgbClr val="404040"/>
                </a:solidFill>
              </a:rPr>
              <a:t>Then we move the larger one (bottom) disk to destination peg</a:t>
            </a:r>
            <a:endParaRPr lang="en-US" dirty="0"/>
          </a:p>
          <a:p>
            <a:pPr marL="0" indent="-127000" algn="just">
              <a:lnSpc>
                <a:spcPct val="150000"/>
              </a:lnSpc>
              <a:buClr>
                <a:srgbClr val="353535"/>
              </a:buClr>
              <a:buSzPts val="2000"/>
            </a:pPr>
            <a:r>
              <a:rPr lang="en-US" sz="2000" dirty="0">
                <a:solidFill>
                  <a:srgbClr val="404040"/>
                </a:solidFill>
              </a:rPr>
              <a:t>And finally, we move the smaller one from aux to destination peg.</a:t>
            </a:r>
            <a:endParaRPr lang="en-US" dirty="0"/>
          </a:p>
        </p:txBody>
      </p:sp>
    </p:spTree>
    <p:extLst>
      <p:ext uri="{BB962C8B-B14F-4D97-AF65-F5344CB8AC3E}">
        <p14:creationId xmlns:p14="http://schemas.microsoft.com/office/powerpoint/2010/main" val="16142023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30;p85">
            <a:extLst>
              <a:ext uri="{FF2B5EF4-FFF2-40B4-BE49-F238E27FC236}">
                <a16:creationId xmlns:a16="http://schemas.microsoft.com/office/drawing/2014/main" id="{7310C5A3-4C12-26BE-8180-AEB164067205}"/>
              </a:ext>
            </a:extLst>
          </p:cNvPr>
          <p:cNvSpPr txBox="1">
            <a:spLocks/>
          </p:cNvSpPr>
          <p:nvPr/>
        </p:nvSpPr>
        <p:spPr>
          <a:xfrm>
            <a:off x="2913743" y="797401"/>
            <a:ext cx="7826375" cy="44021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10000"/>
              </a:lnSpc>
              <a:spcBef>
                <a:spcPts val="0"/>
              </a:spcBef>
              <a:buSzPts val="2000"/>
              <a:buFont typeface="Arial"/>
              <a:buNone/>
            </a:pPr>
            <a:r>
              <a:rPr lang="en-US" sz="2400" dirty="0">
                <a:solidFill>
                  <a:srgbClr val="404040"/>
                </a:solidFill>
              </a:rPr>
              <a:t>So now we are in a position to design algorithm for Tower of Hanoi with more than two disks. We divide the stack of disks in two parts. The largest disk (</a:t>
            </a:r>
            <a:r>
              <a:rPr lang="en-US" sz="2400" dirty="0" err="1">
                <a:solidFill>
                  <a:srgbClr val="404040"/>
                </a:solidFill>
              </a:rPr>
              <a:t>nthdisk</a:t>
            </a:r>
            <a:r>
              <a:rPr lang="en-US" sz="2400" dirty="0">
                <a:solidFill>
                  <a:srgbClr val="404040"/>
                </a:solidFill>
              </a:rPr>
              <a:t>) is in one part and all other (n-1) disks are in second part. Our ultimate aim is to move disk n from source to destination and then put all other (n-1) disks onto it. Now we can imagine to apply the same in recursive way for all given set of disks.</a:t>
            </a:r>
            <a:endParaRPr lang="en-US" sz="2400" dirty="0"/>
          </a:p>
          <a:p>
            <a:pPr marL="0" indent="0" algn="just">
              <a:lnSpc>
                <a:spcPct val="110000"/>
              </a:lnSpc>
              <a:buSzPts val="2000"/>
              <a:buFont typeface="Arial"/>
              <a:buNone/>
            </a:pPr>
            <a:r>
              <a:rPr lang="en-US" sz="2400" dirty="0">
                <a:solidFill>
                  <a:srgbClr val="404040"/>
                </a:solidFill>
              </a:rPr>
              <a:t>So steps to follow are −</a:t>
            </a:r>
            <a:endParaRPr lang="en-US" sz="2400" dirty="0"/>
          </a:p>
          <a:p>
            <a:pPr marL="0" indent="-127000" algn="just">
              <a:lnSpc>
                <a:spcPct val="110000"/>
              </a:lnSpc>
              <a:buClr>
                <a:srgbClr val="353535"/>
              </a:buClr>
              <a:buSzPts val="2000"/>
            </a:pPr>
            <a:r>
              <a:rPr lang="en-US" sz="2400" dirty="0">
                <a:solidFill>
                  <a:srgbClr val="404040"/>
                </a:solidFill>
              </a:rPr>
              <a:t>Step 1 − Move n-1 disks from source to aux</a:t>
            </a:r>
            <a:endParaRPr lang="en-US" sz="2400" dirty="0"/>
          </a:p>
          <a:p>
            <a:pPr marL="0" indent="-127000" algn="just">
              <a:lnSpc>
                <a:spcPct val="110000"/>
              </a:lnSpc>
              <a:buClr>
                <a:srgbClr val="353535"/>
              </a:buClr>
              <a:buSzPts val="2000"/>
            </a:pPr>
            <a:r>
              <a:rPr lang="en-US" sz="2400" dirty="0">
                <a:solidFill>
                  <a:srgbClr val="404040"/>
                </a:solidFill>
              </a:rPr>
              <a:t>Step 2 − Move nth disk from source to </a:t>
            </a:r>
            <a:r>
              <a:rPr lang="en-US" sz="2400" dirty="0" err="1">
                <a:solidFill>
                  <a:srgbClr val="404040"/>
                </a:solidFill>
              </a:rPr>
              <a:t>dest</a:t>
            </a:r>
            <a:endParaRPr lang="en-US" sz="2400" dirty="0"/>
          </a:p>
          <a:p>
            <a:pPr marL="0" indent="-127000" algn="just">
              <a:lnSpc>
                <a:spcPct val="110000"/>
              </a:lnSpc>
              <a:buClr>
                <a:srgbClr val="353535"/>
              </a:buClr>
              <a:buSzPts val="2000"/>
            </a:pPr>
            <a:r>
              <a:rPr lang="en-US" sz="2400" dirty="0">
                <a:solidFill>
                  <a:srgbClr val="404040"/>
                </a:solidFill>
              </a:rPr>
              <a:t>Step 3 − Move n-1 disks from aux to </a:t>
            </a:r>
            <a:r>
              <a:rPr lang="en-US" sz="2400" dirty="0" err="1">
                <a:solidFill>
                  <a:srgbClr val="404040"/>
                </a:solidFill>
              </a:rPr>
              <a:t>dest</a:t>
            </a:r>
            <a:endParaRPr lang="en-US" sz="2400" dirty="0"/>
          </a:p>
        </p:txBody>
      </p:sp>
    </p:spTree>
    <p:extLst>
      <p:ext uri="{BB962C8B-B14F-4D97-AF65-F5344CB8AC3E}">
        <p14:creationId xmlns:p14="http://schemas.microsoft.com/office/powerpoint/2010/main" val="41207030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837;p86">
            <a:extLst>
              <a:ext uri="{FF2B5EF4-FFF2-40B4-BE49-F238E27FC236}">
                <a16:creationId xmlns:a16="http://schemas.microsoft.com/office/drawing/2014/main" id="{E4B7270C-4B85-E17C-4D4B-1FD4CEE6BDB6}"/>
              </a:ext>
            </a:extLst>
          </p:cNvPr>
          <p:cNvPicPr preferRelativeResize="0"/>
          <p:nvPr/>
        </p:nvPicPr>
        <p:blipFill rotWithShape="1">
          <a:blip r:embed="rId4">
            <a:alphaModFix/>
          </a:blip>
          <a:srcRect/>
          <a:stretch/>
        </p:blipFill>
        <p:spPr>
          <a:xfrm>
            <a:off x="3009343" y="918255"/>
            <a:ext cx="7615114" cy="5014459"/>
          </a:xfrm>
          <a:prstGeom prst="rect">
            <a:avLst/>
          </a:prstGeom>
          <a:noFill/>
          <a:ln>
            <a:noFill/>
          </a:ln>
        </p:spPr>
      </p:pic>
    </p:spTree>
    <p:extLst>
      <p:ext uri="{BB962C8B-B14F-4D97-AF65-F5344CB8AC3E}">
        <p14:creationId xmlns:p14="http://schemas.microsoft.com/office/powerpoint/2010/main" val="14295699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3" name="Google Shape;842;p87">
            <a:extLst>
              <a:ext uri="{FF2B5EF4-FFF2-40B4-BE49-F238E27FC236}">
                <a16:creationId xmlns:a16="http://schemas.microsoft.com/office/drawing/2014/main" id="{8BB78203-8D57-5093-B90A-F2957729F736}"/>
              </a:ext>
            </a:extLst>
          </p:cNvPr>
          <p:cNvSpPr txBox="1">
            <a:spLocks/>
          </p:cNvSpPr>
          <p:nvPr/>
        </p:nvSpPr>
        <p:spPr>
          <a:xfrm>
            <a:off x="3260697" y="581633"/>
            <a:ext cx="7799189" cy="529665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b="1" dirty="0">
                <a:solidFill>
                  <a:srgbClr val="404040"/>
                </a:solidFill>
              </a:rPr>
              <a:t>A recursive algorithm for Tower of Hanoi can be driven as follows −</a:t>
            </a:r>
            <a:endParaRPr lang="en-US" sz="2400" dirty="0"/>
          </a:p>
          <a:p>
            <a:pPr marL="0" indent="0">
              <a:lnSpc>
                <a:spcPct val="100000"/>
              </a:lnSpc>
              <a:buFont typeface="Arial"/>
              <a:buNone/>
            </a:pPr>
            <a:r>
              <a:rPr lang="en-US" sz="2400" b="1" dirty="0">
                <a:solidFill>
                  <a:srgbClr val="404040"/>
                </a:solidFill>
              </a:rPr>
              <a:t>START</a:t>
            </a:r>
            <a:endParaRPr lang="en-US" sz="2400" dirty="0"/>
          </a:p>
          <a:p>
            <a:pPr marL="0" indent="0">
              <a:lnSpc>
                <a:spcPct val="60000"/>
              </a:lnSpc>
              <a:buFont typeface="Arial"/>
              <a:buNone/>
            </a:pPr>
            <a:r>
              <a:rPr lang="en-US" sz="2400" dirty="0">
                <a:solidFill>
                  <a:srgbClr val="404040"/>
                </a:solidFill>
              </a:rPr>
              <a:t>Procedure Hanoi(disk, source, </a:t>
            </a:r>
            <a:r>
              <a:rPr lang="en-US" sz="2400" dirty="0" err="1">
                <a:solidFill>
                  <a:srgbClr val="404040"/>
                </a:solidFill>
              </a:rPr>
              <a:t>dest</a:t>
            </a:r>
            <a:r>
              <a:rPr lang="en-US" sz="2400" dirty="0">
                <a:solidFill>
                  <a:srgbClr val="404040"/>
                </a:solidFill>
              </a:rPr>
              <a:t>, aux)</a:t>
            </a:r>
            <a:endParaRPr lang="en-US" sz="2400" dirty="0"/>
          </a:p>
          <a:p>
            <a:pPr marL="0" indent="0">
              <a:lnSpc>
                <a:spcPct val="60000"/>
              </a:lnSpc>
              <a:buFont typeface="Arial"/>
              <a:buNone/>
            </a:pPr>
            <a:r>
              <a:rPr lang="en-US" sz="2400" dirty="0">
                <a:solidFill>
                  <a:srgbClr val="404040"/>
                </a:solidFill>
              </a:rPr>
              <a:t>IF disk == 0, THEN</a:t>
            </a:r>
            <a:endParaRPr lang="en-US" sz="2400" dirty="0"/>
          </a:p>
          <a:p>
            <a:pPr marL="0" indent="0">
              <a:lnSpc>
                <a:spcPct val="60000"/>
              </a:lnSpc>
              <a:buFont typeface="Arial"/>
              <a:buNone/>
            </a:pPr>
            <a:r>
              <a:rPr lang="en-US" sz="2400" dirty="0">
                <a:solidFill>
                  <a:srgbClr val="404040"/>
                </a:solidFill>
              </a:rPr>
              <a:t>move disk from source to </a:t>
            </a:r>
            <a:r>
              <a:rPr lang="en-US" sz="2400" dirty="0" err="1">
                <a:solidFill>
                  <a:srgbClr val="404040"/>
                </a:solidFill>
              </a:rPr>
              <a:t>dest</a:t>
            </a:r>
            <a:endParaRPr lang="en-US" sz="2400" dirty="0"/>
          </a:p>
          <a:p>
            <a:pPr marL="0" indent="0">
              <a:lnSpc>
                <a:spcPct val="60000"/>
              </a:lnSpc>
              <a:buFont typeface="Arial"/>
              <a:buNone/>
            </a:pPr>
            <a:r>
              <a:rPr lang="en-US" sz="2400" dirty="0">
                <a:solidFill>
                  <a:srgbClr val="404040"/>
                </a:solidFill>
              </a:rPr>
              <a:t>ELSE</a:t>
            </a:r>
            <a:endParaRPr lang="en-US" sz="2400" dirty="0"/>
          </a:p>
          <a:p>
            <a:pPr marL="0" indent="0">
              <a:lnSpc>
                <a:spcPct val="60000"/>
              </a:lnSpc>
              <a:buFont typeface="Arial"/>
              <a:buNone/>
            </a:pPr>
            <a:r>
              <a:rPr lang="en-US" sz="2400" dirty="0">
                <a:solidFill>
                  <a:srgbClr val="404040"/>
                </a:solidFill>
              </a:rPr>
              <a:t>Hanoi(disk - 1, source, aux, </a:t>
            </a:r>
            <a:r>
              <a:rPr lang="en-US" sz="2400" dirty="0" err="1">
                <a:solidFill>
                  <a:srgbClr val="404040"/>
                </a:solidFill>
              </a:rPr>
              <a:t>dest</a:t>
            </a:r>
            <a:r>
              <a:rPr lang="en-US" sz="2400" dirty="0">
                <a:solidFill>
                  <a:srgbClr val="404040"/>
                </a:solidFill>
              </a:rPr>
              <a:t>) // Step 1</a:t>
            </a:r>
            <a:endParaRPr lang="en-US" sz="2400" dirty="0"/>
          </a:p>
          <a:p>
            <a:pPr marL="0" indent="0">
              <a:lnSpc>
                <a:spcPct val="60000"/>
              </a:lnSpc>
              <a:buFont typeface="Arial"/>
              <a:buNone/>
            </a:pPr>
            <a:r>
              <a:rPr lang="en-US" sz="2400" dirty="0">
                <a:solidFill>
                  <a:srgbClr val="404040"/>
                </a:solidFill>
              </a:rPr>
              <a:t>move disk from source to </a:t>
            </a:r>
            <a:r>
              <a:rPr lang="en-US" sz="2400" dirty="0" err="1">
                <a:solidFill>
                  <a:srgbClr val="404040"/>
                </a:solidFill>
              </a:rPr>
              <a:t>dest</a:t>
            </a:r>
            <a:r>
              <a:rPr lang="en-US" sz="2400" dirty="0">
                <a:solidFill>
                  <a:srgbClr val="404040"/>
                </a:solidFill>
              </a:rPr>
              <a:t> // Step 2</a:t>
            </a:r>
            <a:endParaRPr lang="en-US" sz="2400" dirty="0"/>
          </a:p>
          <a:p>
            <a:pPr marL="0" indent="0">
              <a:lnSpc>
                <a:spcPct val="60000"/>
              </a:lnSpc>
              <a:buFont typeface="Arial"/>
              <a:buNone/>
            </a:pPr>
            <a:r>
              <a:rPr lang="en-US" sz="2400" dirty="0">
                <a:solidFill>
                  <a:srgbClr val="404040"/>
                </a:solidFill>
              </a:rPr>
              <a:t>Hanoi(disk - 1, aux, </a:t>
            </a:r>
            <a:r>
              <a:rPr lang="en-US" sz="2400" dirty="0" err="1">
                <a:solidFill>
                  <a:srgbClr val="404040"/>
                </a:solidFill>
              </a:rPr>
              <a:t>dest</a:t>
            </a:r>
            <a:r>
              <a:rPr lang="en-US" sz="2400" dirty="0">
                <a:solidFill>
                  <a:srgbClr val="404040"/>
                </a:solidFill>
              </a:rPr>
              <a:t>, source) // Step 3</a:t>
            </a:r>
            <a:endParaRPr lang="en-US" sz="2400" dirty="0"/>
          </a:p>
          <a:p>
            <a:pPr marL="0" indent="0">
              <a:lnSpc>
                <a:spcPct val="60000"/>
              </a:lnSpc>
              <a:buFont typeface="Arial"/>
              <a:buNone/>
            </a:pPr>
            <a:r>
              <a:rPr lang="en-US" sz="2400" dirty="0">
                <a:solidFill>
                  <a:srgbClr val="404040"/>
                </a:solidFill>
              </a:rPr>
              <a:t>END IF</a:t>
            </a:r>
            <a:endParaRPr lang="en-US" sz="2400" dirty="0"/>
          </a:p>
          <a:p>
            <a:pPr marL="0" indent="0">
              <a:lnSpc>
                <a:spcPct val="60000"/>
              </a:lnSpc>
              <a:buFont typeface="Arial"/>
              <a:buNone/>
            </a:pPr>
            <a:r>
              <a:rPr lang="en-US" sz="2400" dirty="0">
                <a:solidFill>
                  <a:srgbClr val="404040"/>
                </a:solidFill>
              </a:rPr>
              <a:t>END Procedure</a:t>
            </a:r>
            <a:endParaRPr lang="en-US" sz="2400" dirty="0"/>
          </a:p>
          <a:p>
            <a:pPr marL="0" indent="0">
              <a:lnSpc>
                <a:spcPct val="100000"/>
              </a:lnSpc>
              <a:buFont typeface="Arial"/>
              <a:buNone/>
            </a:pPr>
            <a:r>
              <a:rPr lang="en-US" sz="2400" b="1" dirty="0">
                <a:solidFill>
                  <a:srgbClr val="404040"/>
                </a:solidFill>
              </a:rPr>
              <a:t>STOP</a:t>
            </a:r>
            <a:endParaRPr lang="en-US" sz="2400" dirty="0"/>
          </a:p>
        </p:txBody>
      </p:sp>
    </p:spTree>
    <p:extLst>
      <p:ext uri="{BB962C8B-B14F-4D97-AF65-F5344CB8AC3E}">
        <p14:creationId xmlns:p14="http://schemas.microsoft.com/office/powerpoint/2010/main" val="27482612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47;p88">
            <a:extLst>
              <a:ext uri="{FF2B5EF4-FFF2-40B4-BE49-F238E27FC236}">
                <a16:creationId xmlns:a16="http://schemas.microsoft.com/office/drawing/2014/main" id="{C8B4080E-B107-882F-AD89-B652BC60F52B}"/>
              </a:ext>
            </a:extLst>
          </p:cNvPr>
          <p:cNvSpPr txBox="1">
            <a:spLocks/>
          </p:cNvSpPr>
          <p:nvPr/>
        </p:nvSpPr>
        <p:spPr>
          <a:xfrm>
            <a:off x="2777464" y="712670"/>
            <a:ext cx="7575550" cy="4562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a:solidFill>
                  <a:srgbClr val="404040"/>
                </a:solidFill>
              </a:rPr>
              <a:t>PROGRAM:</a:t>
            </a:r>
            <a:endParaRPr lang="en-US"/>
          </a:p>
          <a:p>
            <a:pPr marL="0" indent="0">
              <a:lnSpc>
                <a:spcPct val="100000"/>
              </a:lnSpc>
              <a:buFont typeface="Arial"/>
              <a:buNone/>
            </a:pPr>
            <a:r>
              <a:rPr lang="en-US" sz="1800">
                <a:solidFill>
                  <a:srgbClr val="404040"/>
                </a:solidFill>
              </a:rPr>
              <a:t>#include&lt;stdio.h&gt;</a:t>
            </a:r>
            <a:endParaRPr lang="en-US"/>
          </a:p>
          <a:p>
            <a:pPr marL="0" indent="0">
              <a:lnSpc>
                <a:spcPct val="100000"/>
              </a:lnSpc>
              <a:buFont typeface="Arial"/>
              <a:buNone/>
            </a:pPr>
            <a:r>
              <a:rPr lang="en-US" sz="1800">
                <a:solidFill>
                  <a:srgbClr val="404040"/>
                </a:solidFill>
              </a:rPr>
              <a:t>#include&lt;conio.h&gt;</a:t>
            </a:r>
            <a:endParaRPr lang="en-US"/>
          </a:p>
          <a:p>
            <a:pPr marL="0" indent="0">
              <a:lnSpc>
                <a:spcPct val="100000"/>
              </a:lnSpc>
              <a:buFont typeface="Arial"/>
              <a:buNone/>
            </a:pPr>
            <a:r>
              <a:rPr lang="en-US" sz="1800">
                <a:solidFill>
                  <a:srgbClr val="404040"/>
                </a:solidFill>
              </a:rPr>
              <a:t>void tower(int n, char source, char temp,char destination)</a:t>
            </a:r>
            <a:endParaRPr lang="en-US"/>
          </a:p>
          <a:p>
            <a:pPr marL="0" indent="0">
              <a:lnSpc>
                <a:spcPct val="100000"/>
              </a:lnSpc>
              <a:buFont typeface="Arial"/>
              <a:buNone/>
            </a:pPr>
            <a:r>
              <a:rPr lang="en-US" sz="1800">
                <a:solidFill>
                  <a:srgbClr val="404040"/>
                </a:solidFill>
              </a:rPr>
              <a:t>{</a:t>
            </a:r>
            <a:endParaRPr lang="en-US"/>
          </a:p>
          <a:p>
            <a:pPr marL="0" indent="0">
              <a:lnSpc>
                <a:spcPct val="70000"/>
              </a:lnSpc>
              <a:buFont typeface="Arial"/>
              <a:buNone/>
            </a:pPr>
            <a:r>
              <a:rPr lang="en-US" sz="1800">
                <a:solidFill>
                  <a:srgbClr val="404040"/>
                </a:solidFill>
              </a:rPr>
              <a:t>	if(n == 1)</a:t>
            </a:r>
            <a:endParaRPr lang="en-US"/>
          </a:p>
          <a:p>
            <a:pPr marL="0" indent="0">
              <a:lnSpc>
                <a:spcPct val="70000"/>
              </a:lnSpc>
              <a:buFont typeface="Arial"/>
              <a:buNone/>
            </a:pPr>
            <a:r>
              <a:rPr lang="en-US" sz="1800">
                <a:solidFill>
                  <a:srgbClr val="404040"/>
                </a:solidFill>
              </a:rPr>
              <a:t>		return;</a:t>
            </a:r>
            <a:endParaRPr lang="en-US"/>
          </a:p>
          <a:p>
            <a:pPr marL="0" indent="0">
              <a:lnSpc>
                <a:spcPct val="70000"/>
              </a:lnSpc>
              <a:buFont typeface="Arial"/>
              <a:buNone/>
            </a:pPr>
            <a:r>
              <a:rPr lang="en-US" sz="1800">
                <a:solidFill>
                  <a:srgbClr val="404040"/>
                </a:solidFill>
              </a:rPr>
              <a:t>	tower(n-1, source, destination, temp);</a:t>
            </a:r>
            <a:endParaRPr lang="en-US"/>
          </a:p>
          <a:p>
            <a:pPr marL="0" indent="0">
              <a:lnSpc>
                <a:spcPct val="70000"/>
              </a:lnSpc>
              <a:buFont typeface="Arial"/>
              <a:buNone/>
            </a:pPr>
            <a:r>
              <a:rPr lang="en-US" sz="1800">
                <a:solidFill>
                  <a:srgbClr val="404040"/>
                </a:solidFill>
              </a:rPr>
              <a:t>	printf("\nMove disc %d from %c to %c", n, source, destination);</a:t>
            </a:r>
            <a:endParaRPr lang="en-US"/>
          </a:p>
          <a:p>
            <a:pPr marL="0" indent="0">
              <a:lnSpc>
                <a:spcPct val="70000"/>
              </a:lnSpc>
              <a:buFont typeface="Arial"/>
              <a:buNone/>
            </a:pPr>
            <a:r>
              <a:rPr lang="en-US" sz="1800">
                <a:solidFill>
                  <a:srgbClr val="404040"/>
                </a:solidFill>
              </a:rPr>
              <a:t>	tower(n-1, temp, source, destination);</a:t>
            </a:r>
            <a:endParaRPr lang="en-US"/>
          </a:p>
          <a:p>
            <a:pPr marL="0" indent="0">
              <a:lnSpc>
                <a:spcPct val="70000"/>
              </a:lnSpc>
              <a:buFont typeface="Arial"/>
              <a:buNone/>
            </a:pPr>
            <a:r>
              <a:rPr lang="en-US" sz="1800">
                <a:solidFill>
                  <a:srgbClr val="404040"/>
                </a:solidFill>
              </a:rPr>
              <a:t>}</a:t>
            </a:r>
            <a:endParaRPr lang="en-US" dirty="0"/>
          </a:p>
        </p:txBody>
      </p:sp>
    </p:spTree>
    <p:extLst>
      <p:ext uri="{BB962C8B-B14F-4D97-AF65-F5344CB8AC3E}">
        <p14:creationId xmlns:p14="http://schemas.microsoft.com/office/powerpoint/2010/main" val="16289919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52;p89">
            <a:extLst>
              <a:ext uri="{FF2B5EF4-FFF2-40B4-BE49-F238E27FC236}">
                <a16:creationId xmlns:a16="http://schemas.microsoft.com/office/drawing/2014/main" id="{D954C737-7EC8-D4B4-9EC1-6426A8A762C6}"/>
              </a:ext>
            </a:extLst>
          </p:cNvPr>
          <p:cNvSpPr txBox="1">
            <a:spLocks/>
          </p:cNvSpPr>
          <p:nvPr/>
        </p:nvSpPr>
        <p:spPr>
          <a:xfrm>
            <a:off x="3648454" y="752474"/>
            <a:ext cx="7158037" cy="43592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dirty="0">
                <a:solidFill>
                  <a:srgbClr val="404040"/>
                </a:solidFill>
              </a:rPr>
              <a:t>void main()</a:t>
            </a:r>
            <a:endParaRPr lang="en-US" dirty="0"/>
          </a:p>
          <a:p>
            <a:pPr marL="0" indent="0">
              <a:lnSpc>
                <a:spcPct val="100000"/>
              </a:lnSpc>
              <a:buFont typeface="Arial"/>
              <a:buNone/>
            </a:pPr>
            <a:r>
              <a:rPr lang="en-US" sz="1800" dirty="0">
                <a:solidFill>
                  <a:srgbClr val="404040"/>
                </a:solidFill>
              </a:rPr>
              <a:t>{</a:t>
            </a:r>
            <a:endParaRPr lang="en-US" dirty="0"/>
          </a:p>
          <a:p>
            <a:pPr marL="0" indent="0">
              <a:lnSpc>
                <a:spcPct val="100000"/>
              </a:lnSpc>
              <a:buFont typeface="Arial"/>
              <a:buNone/>
            </a:pPr>
            <a:r>
              <a:rPr lang="en-US" sz="1800" dirty="0">
                <a:solidFill>
                  <a:srgbClr val="404040"/>
                </a:solidFill>
              </a:rPr>
              <a:t>int n;</a:t>
            </a:r>
            <a:endParaRPr lang="en-US" dirty="0"/>
          </a:p>
          <a:p>
            <a:pPr marL="0" indent="0">
              <a:lnSpc>
                <a:spcPct val="100000"/>
              </a:lnSpc>
              <a:buFont typeface="Arial"/>
              <a:buNone/>
            </a:pPr>
            <a:r>
              <a:rPr lang="en-US" sz="1800" dirty="0" err="1">
                <a:solidFill>
                  <a:srgbClr val="404040"/>
                </a:solidFill>
              </a:rPr>
              <a:t>clrscr</a:t>
            </a:r>
            <a:r>
              <a:rPr lang="en-US" sz="1800" dirty="0">
                <a:solidFill>
                  <a:srgbClr val="404040"/>
                </a:solidFill>
              </a:rPr>
              <a:t>();</a:t>
            </a:r>
            <a:endParaRPr lang="en-US" dirty="0"/>
          </a:p>
          <a:p>
            <a:pPr marL="0" indent="0">
              <a:lnSpc>
                <a:spcPct val="100000"/>
              </a:lnSpc>
              <a:buFont typeface="Arial"/>
              <a:buNone/>
            </a:pPr>
            <a:r>
              <a:rPr lang="en-US" sz="1800" dirty="0" err="1">
                <a:solidFill>
                  <a:srgbClr val="404040"/>
                </a:solidFill>
              </a:rPr>
              <a:t>printf</a:t>
            </a:r>
            <a:r>
              <a:rPr lang="en-US" sz="1800" dirty="0">
                <a:solidFill>
                  <a:srgbClr val="404040"/>
                </a:solidFill>
              </a:rPr>
              <a:t>("\</a:t>
            </a:r>
            <a:r>
              <a:rPr lang="en-US" sz="1800" dirty="0" err="1">
                <a:solidFill>
                  <a:srgbClr val="404040"/>
                </a:solidFill>
              </a:rPr>
              <a:t>nEnter</a:t>
            </a:r>
            <a:r>
              <a:rPr lang="en-US" sz="1800" dirty="0">
                <a:solidFill>
                  <a:srgbClr val="404040"/>
                </a:solidFill>
              </a:rPr>
              <a:t> the number of discs: \n");</a:t>
            </a:r>
            <a:endParaRPr lang="en-US" dirty="0"/>
          </a:p>
          <a:p>
            <a:pPr marL="0" indent="0">
              <a:lnSpc>
                <a:spcPct val="100000"/>
              </a:lnSpc>
              <a:buFont typeface="Arial"/>
              <a:buNone/>
            </a:pPr>
            <a:r>
              <a:rPr lang="en-US" sz="1800" dirty="0" err="1">
                <a:solidFill>
                  <a:srgbClr val="404040"/>
                </a:solidFill>
              </a:rPr>
              <a:t>scanf</a:t>
            </a:r>
            <a:r>
              <a:rPr lang="en-US" sz="1800" dirty="0">
                <a:solidFill>
                  <a:srgbClr val="404040"/>
                </a:solidFill>
              </a:rPr>
              <a:t>("%d", &amp;n);</a:t>
            </a:r>
            <a:endParaRPr lang="en-US" dirty="0"/>
          </a:p>
          <a:p>
            <a:pPr marL="0" indent="0">
              <a:lnSpc>
                <a:spcPct val="100000"/>
              </a:lnSpc>
              <a:buFont typeface="Arial"/>
              <a:buNone/>
            </a:pPr>
            <a:r>
              <a:rPr lang="en-US" sz="1800" dirty="0">
                <a:solidFill>
                  <a:srgbClr val="404040"/>
                </a:solidFill>
              </a:rPr>
              <a:t>tower(n, 'A', 'B', 'C');</a:t>
            </a:r>
            <a:endParaRPr lang="en-US" dirty="0"/>
          </a:p>
          <a:p>
            <a:pPr marL="0" indent="0">
              <a:lnSpc>
                <a:spcPct val="100000"/>
              </a:lnSpc>
              <a:buFont typeface="Arial"/>
              <a:buNone/>
            </a:pPr>
            <a:r>
              <a:rPr lang="en-US" sz="1800" dirty="0" err="1">
                <a:solidFill>
                  <a:srgbClr val="404040"/>
                </a:solidFill>
              </a:rPr>
              <a:t>printf</a:t>
            </a:r>
            <a:r>
              <a:rPr lang="en-US" sz="1800" dirty="0">
                <a:solidFill>
                  <a:srgbClr val="404040"/>
                </a:solidFill>
              </a:rPr>
              <a:t>("\n\</a:t>
            </a:r>
            <a:r>
              <a:rPr lang="en-US" sz="1800" dirty="0" err="1">
                <a:solidFill>
                  <a:srgbClr val="404040"/>
                </a:solidFill>
              </a:rPr>
              <a:t>nTotal</a:t>
            </a:r>
            <a:r>
              <a:rPr lang="en-US" sz="1800" dirty="0">
                <a:solidFill>
                  <a:srgbClr val="404040"/>
                </a:solidFill>
              </a:rPr>
              <a:t> Number of moves are: %d", (int)pow(2,n)-1);</a:t>
            </a:r>
            <a:endParaRPr lang="en-US" dirty="0"/>
          </a:p>
          <a:p>
            <a:pPr marL="0" indent="0">
              <a:lnSpc>
                <a:spcPct val="100000"/>
              </a:lnSpc>
              <a:buFont typeface="Arial"/>
              <a:buNone/>
            </a:pPr>
            <a:r>
              <a:rPr lang="en-US" sz="1800" dirty="0" err="1">
                <a:solidFill>
                  <a:srgbClr val="404040"/>
                </a:solidFill>
              </a:rPr>
              <a:t>getch</a:t>
            </a:r>
            <a:r>
              <a:rPr lang="en-US" sz="1800" dirty="0">
                <a:solidFill>
                  <a:srgbClr val="404040"/>
                </a:solidFill>
              </a:rPr>
              <a:t>();</a:t>
            </a:r>
            <a:endParaRPr lang="en-US" dirty="0"/>
          </a:p>
          <a:p>
            <a:pPr marL="0" indent="0">
              <a:lnSpc>
                <a:spcPct val="100000"/>
              </a:lnSpc>
              <a:buFont typeface="Arial"/>
              <a:buNone/>
            </a:pPr>
            <a:r>
              <a:rPr lang="en-US" sz="1800" dirty="0">
                <a:solidFill>
                  <a:srgbClr val="404040"/>
                </a:solidFill>
              </a:rPr>
              <a:t>}</a:t>
            </a:r>
            <a:endParaRPr lang="en-US" dirty="0"/>
          </a:p>
        </p:txBody>
      </p:sp>
    </p:spTree>
    <p:extLst>
      <p:ext uri="{BB962C8B-B14F-4D97-AF65-F5344CB8AC3E}">
        <p14:creationId xmlns:p14="http://schemas.microsoft.com/office/powerpoint/2010/main" val="6412762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3" name="Google Shape;857;p90">
            <a:extLst>
              <a:ext uri="{FF2B5EF4-FFF2-40B4-BE49-F238E27FC236}">
                <a16:creationId xmlns:a16="http://schemas.microsoft.com/office/drawing/2014/main" id="{F0BF9853-AD42-D45F-C76D-839C98CE180B}"/>
              </a:ext>
            </a:extLst>
          </p:cNvPr>
          <p:cNvSpPr txBox="1">
            <a:spLocks/>
          </p:cNvSpPr>
          <p:nvPr/>
        </p:nvSpPr>
        <p:spPr>
          <a:xfrm>
            <a:off x="2994738" y="883920"/>
            <a:ext cx="6400800" cy="4229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ctr">
              <a:lnSpc>
                <a:spcPct val="100000"/>
              </a:lnSpc>
              <a:spcBef>
                <a:spcPts val="0"/>
              </a:spcBef>
              <a:buFont typeface="Arial"/>
              <a:buNone/>
            </a:pPr>
            <a:r>
              <a:rPr lang="en-US" sz="1800" b="1">
                <a:solidFill>
                  <a:srgbClr val="404040"/>
                </a:solidFill>
              </a:rPr>
              <a:t>SAMPLE OUTPUT:</a:t>
            </a:r>
            <a:endParaRPr lang="en-US"/>
          </a:p>
          <a:p>
            <a:pPr marL="0" indent="0" algn="ctr">
              <a:lnSpc>
                <a:spcPct val="100000"/>
              </a:lnSpc>
              <a:buFont typeface="Arial"/>
              <a:buNone/>
            </a:pPr>
            <a:r>
              <a:rPr lang="en-US" sz="1800">
                <a:solidFill>
                  <a:srgbClr val="404040"/>
                </a:solidFill>
              </a:rPr>
              <a:t>Enter the number of discs:</a:t>
            </a:r>
            <a:endParaRPr lang="en-US"/>
          </a:p>
          <a:p>
            <a:pPr marL="0" indent="0" algn="ctr">
              <a:lnSpc>
                <a:spcPct val="100000"/>
              </a:lnSpc>
              <a:buFont typeface="Arial"/>
              <a:buNone/>
            </a:pPr>
            <a:r>
              <a:rPr lang="en-US" sz="1800">
                <a:solidFill>
                  <a:srgbClr val="404040"/>
                </a:solidFill>
              </a:rPr>
              <a:t>3</a:t>
            </a:r>
            <a:endParaRPr lang="en-US"/>
          </a:p>
          <a:p>
            <a:pPr marL="0" indent="0" algn="ctr">
              <a:lnSpc>
                <a:spcPct val="100000"/>
              </a:lnSpc>
              <a:buFont typeface="Arial"/>
              <a:buNone/>
            </a:pPr>
            <a:r>
              <a:rPr lang="en-US" sz="1800">
                <a:solidFill>
                  <a:srgbClr val="404040"/>
                </a:solidFill>
              </a:rPr>
              <a:t>Move disc 1 from A to C</a:t>
            </a:r>
            <a:endParaRPr lang="en-US"/>
          </a:p>
          <a:p>
            <a:pPr marL="0" indent="0" algn="ctr">
              <a:lnSpc>
                <a:spcPct val="100000"/>
              </a:lnSpc>
              <a:buFont typeface="Arial"/>
              <a:buNone/>
            </a:pPr>
            <a:r>
              <a:rPr lang="en-US" sz="1800">
                <a:solidFill>
                  <a:srgbClr val="404040"/>
                </a:solidFill>
              </a:rPr>
              <a:t>Move disc 2 from A to B</a:t>
            </a:r>
            <a:endParaRPr lang="en-US"/>
          </a:p>
          <a:p>
            <a:pPr marL="0" indent="0" algn="ctr">
              <a:lnSpc>
                <a:spcPct val="100000"/>
              </a:lnSpc>
              <a:buFont typeface="Arial"/>
              <a:buNone/>
            </a:pPr>
            <a:r>
              <a:rPr lang="en-US" sz="1800">
                <a:solidFill>
                  <a:srgbClr val="404040"/>
                </a:solidFill>
              </a:rPr>
              <a:t>Move disc 1 from C to B</a:t>
            </a:r>
            <a:endParaRPr lang="en-US"/>
          </a:p>
          <a:p>
            <a:pPr marL="0" indent="0" algn="ctr">
              <a:lnSpc>
                <a:spcPct val="100000"/>
              </a:lnSpc>
              <a:buFont typeface="Arial"/>
              <a:buNone/>
            </a:pPr>
            <a:r>
              <a:rPr lang="en-US" sz="1800">
                <a:solidFill>
                  <a:srgbClr val="404040"/>
                </a:solidFill>
              </a:rPr>
              <a:t>Move disc 3 from A to C</a:t>
            </a:r>
            <a:endParaRPr lang="en-US"/>
          </a:p>
          <a:p>
            <a:pPr marL="0" indent="0" algn="ctr">
              <a:lnSpc>
                <a:spcPct val="100000"/>
              </a:lnSpc>
              <a:buFont typeface="Arial"/>
              <a:buNone/>
            </a:pPr>
            <a:r>
              <a:rPr lang="en-US" sz="1800">
                <a:solidFill>
                  <a:srgbClr val="404040"/>
                </a:solidFill>
              </a:rPr>
              <a:t>Move disc 1 from B to A</a:t>
            </a:r>
            <a:endParaRPr lang="en-US"/>
          </a:p>
          <a:p>
            <a:pPr marL="0" indent="0" algn="ctr">
              <a:lnSpc>
                <a:spcPct val="100000"/>
              </a:lnSpc>
              <a:buFont typeface="Arial"/>
              <a:buNone/>
            </a:pPr>
            <a:r>
              <a:rPr lang="en-US" sz="1800">
                <a:solidFill>
                  <a:srgbClr val="404040"/>
                </a:solidFill>
              </a:rPr>
              <a:t>Move disc 2 from B to C</a:t>
            </a:r>
            <a:endParaRPr lang="en-US"/>
          </a:p>
          <a:p>
            <a:pPr marL="0" indent="0" algn="ctr">
              <a:lnSpc>
                <a:spcPct val="100000"/>
              </a:lnSpc>
              <a:buFont typeface="Arial"/>
              <a:buNone/>
            </a:pPr>
            <a:r>
              <a:rPr lang="en-US" sz="1800">
                <a:solidFill>
                  <a:srgbClr val="404040"/>
                </a:solidFill>
              </a:rPr>
              <a:t>Move disc 1 from A to C</a:t>
            </a:r>
            <a:endParaRPr lang="en-US"/>
          </a:p>
          <a:p>
            <a:pPr marL="0" indent="0" algn="ctr">
              <a:lnSpc>
                <a:spcPct val="100000"/>
              </a:lnSpc>
              <a:buFont typeface="Arial"/>
              <a:buNone/>
            </a:pPr>
            <a:r>
              <a:rPr lang="en-US" sz="1800" b="1">
                <a:solidFill>
                  <a:srgbClr val="404040"/>
                </a:solidFill>
              </a:rPr>
              <a:t>Total Number of moves is: 7</a:t>
            </a:r>
            <a:endParaRPr lang="en-US" sz="1800">
              <a:solidFill>
                <a:srgbClr val="404040"/>
              </a:solidFill>
            </a:endParaRPr>
          </a:p>
          <a:p>
            <a:pPr marL="0" indent="0" algn="ctr">
              <a:buClr>
                <a:srgbClr val="353535"/>
              </a:buClr>
              <a:buFont typeface="Noto Sans Symbols"/>
              <a:buNone/>
            </a:pPr>
            <a:endParaRPr lang="en-US" sz="1800" dirty="0">
              <a:solidFill>
                <a:srgbClr val="404040"/>
              </a:solidFill>
            </a:endParaRPr>
          </a:p>
        </p:txBody>
      </p:sp>
    </p:spTree>
    <p:extLst>
      <p:ext uri="{BB962C8B-B14F-4D97-AF65-F5344CB8AC3E}">
        <p14:creationId xmlns:p14="http://schemas.microsoft.com/office/powerpoint/2010/main" val="29831197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Title 1">
            <a:extLst>
              <a:ext uri="{FF2B5EF4-FFF2-40B4-BE49-F238E27FC236}">
                <a16:creationId xmlns:a16="http://schemas.microsoft.com/office/drawing/2014/main" id="{6580173F-E6CC-74FA-287F-21E54DC1F13F}"/>
              </a:ext>
            </a:extLst>
          </p:cNvPr>
          <p:cNvSpPr txBox="1">
            <a:spLocks noChangeArrowheads="1"/>
          </p:cNvSpPr>
          <p:nvPr/>
        </p:nvSpPr>
        <p:spPr>
          <a:xfrm>
            <a:off x="2181588" y="562927"/>
            <a:ext cx="7772400" cy="110331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spcBef>
                <a:spcPct val="0"/>
              </a:spcBef>
              <a:spcAft>
                <a:spcPct val="0"/>
              </a:spcAft>
            </a:pPr>
            <a:r>
              <a:rPr lang="en-US" altLang="zh-CN" dirty="0">
                <a:solidFill>
                  <a:schemeClr val="accent5"/>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QUEUES</a:t>
            </a:r>
          </a:p>
        </p:txBody>
      </p:sp>
      <p:sp>
        <p:nvSpPr>
          <p:cNvPr id="3" name="Subtitle 2">
            <a:extLst>
              <a:ext uri="{FF2B5EF4-FFF2-40B4-BE49-F238E27FC236}">
                <a16:creationId xmlns:a16="http://schemas.microsoft.com/office/drawing/2014/main" id="{2925C555-D00A-43EF-E9A7-4BC6898B47F8}"/>
              </a:ext>
            </a:extLst>
          </p:cNvPr>
          <p:cNvSpPr txBox="1">
            <a:spLocks/>
          </p:cNvSpPr>
          <p:nvPr/>
        </p:nvSpPr>
        <p:spPr>
          <a:xfrm>
            <a:off x="2503409" y="1666240"/>
            <a:ext cx="9053228" cy="472367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000" b="1"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Basic Operations:</a:t>
            </a:r>
          </a:p>
          <a:p>
            <a:pPr>
              <a:lnSpc>
                <a:spcPct val="150000"/>
              </a:lnSpc>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 queue is basically a waiting line, for example, a line of customers in front of a counter in a bank or a ticket counter. Here,</a:t>
            </a:r>
          </a:p>
          <a:p>
            <a:pPr>
              <a:lnSpc>
                <a:spcPct val="150000"/>
              </a:lnSpc>
              <a:spcAft>
                <a:spcPct val="0"/>
              </a:spcAft>
              <a:buFontTx/>
              <a:buChar char="•"/>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Customers join the queue at the end of line (rear or tail).</a:t>
            </a:r>
          </a:p>
          <a:p>
            <a:pPr>
              <a:lnSpc>
                <a:spcPct val="150000"/>
              </a:lnSpc>
              <a:spcAft>
                <a:spcPct val="0"/>
              </a:spcAft>
              <a:buFontTx/>
              <a:buChar char="•"/>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Customer who is at the front gets the service and leaves the line (front or head).</a:t>
            </a:r>
          </a:p>
          <a:p>
            <a:pPr>
              <a:lnSpc>
                <a:spcPct val="150000"/>
              </a:lnSpc>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This indicates that a customer gets service in FCFS (First Come First Serve) or FIFO (First In First Out) basis.</a:t>
            </a:r>
          </a:p>
        </p:txBody>
      </p:sp>
    </p:spTree>
    <p:extLst>
      <p:ext uri="{BB962C8B-B14F-4D97-AF65-F5344CB8AC3E}">
        <p14:creationId xmlns:p14="http://schemas.microsoft.com/office/powerpoint/2010/main" val="13304174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B62FFE1B-4A60-E9EE-09D2-8BAF0417C1C0}"/>
              </a:ext>
            </a:extLst>
          </p:cNvPr>
          <p:cNvSpPr txBox="1">
            <a:spLocks/>
          </p:cNvSpPr>
          <p:nvPr/>
        </p:nvSpPr>
        <p:spPr>
          <a:xfrm>
            <a:off x="2823044" y="132715"/>
            <a:ext cx="7916863" cy="43910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85750" indent="-285750">
              <a:lnSpc>
                <a:spcPct val="230000"/>
              </a:lnSpc>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As a data structure, a queue is an ordered list of elements from which an element may be removed at one end called front of the queue, and into which an element may be inserted at the other end called the rear of the queue. </a:t>
            </a:r>
          </a:p>
          <a:p>
            <a:pPr marL="285750" indent="-285750">
              <a:lnSpc>
                <a:spcPct val="230000"/>
              </a:lnSpc>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These restrictions ensure that data are processed through the queue in the order in which they are received. So a queue is also called FIFO data structure.</a:t>
            </a:r>
          </a:p>
        </p:txBody>
      </p:sp>
    </p:spTree>
    <p:extLst>
      <p:ext uri="{BB962C8B-B14F-4D97-AF65-F5344CB8AC3E}">
        <p14:creationId xmlns:p14="http://schemas.microsoft.com/office/powerpoint/2010/main" val="34100784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4CDAB98A-D286-FC5A-EFAA-ACBE3A9C12FE}"/>
              </a:ext>
            </a:extLst>
          </p:cNvPr>
          <p:cNvSpPr txBox="1">
            <a:spLocks/>
          </p:cNvSpPr>
          <p:nvPr/>
        </p:nvSpPr>
        <p:spPr>
          <a:xfrm>
            <a:off x="3579045" y="320197"/>
            <a:ext cx="7916862" cy="431165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400"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Pictorial representation of the queue is as shown below.</a:t>
            </a:r>
          </a:p>
          <a:p>
            <a:pPr>
              <a:spcAft>
                <a:spcPct val="0"/>
              </a:spcAft>
            </a:pPr>
            <a:endParaRPr lang="en-US" altLang="zh-CN" sz="18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4">
            <a:extLst>
              <a:ext uri="{FF2B5EF4-FFF2-40B4-BE49-F238E27FC236}">
                <a16:creationId xmlns:a16="http://schemas.microsoft.com/office/drawing/2014/main" id="{8F3C21D1-47BA-FDE7-1D55-1F300E4C3DA2}"/>
              </a:ext>
            </a:extLst>
          </p:cNvPr>
          <p:cNvGraphicFramePr>
            <a:graphicFrameLocks/>
          </p:cNvGraphicFramePr>
          <p:nvPr/>
        </p:nvGraphicFramePr>
        <p:xfrm>
          <a:off x="3880531" y="1912460"/>
          <a:ext cx="6558869" cy="2611280"/>
        </p:xfrm>
        <a:graphic>
          <a:graphicData uri="http://schemas.openxmlformats.org/presentationml/2006/ole">
            <mc:AlternateContent xmlns:mc="http://schemas.openxmlformats.org/markup-compatibility/2006">
              <mc:Choice xmlns:v="urn:schemas-microsoft-com:vml" Requires="v">
                <p:oleObj r:id="rId4" imgW="5401429" imgH="1419048" progId="Paint.Picture">
                  <p:embed/>
                </p:oleObj>
              </mc:Choice>
              <mc:Fallback>
                <p:oleObj r:id="rId4" imgW="5401429" imgH="1419048" progId="Paint.Picture">
                  <p:embed/>
                  <p:pic>
                    <p:nvPicPr>
                      <p:cNvPr id="3" name="Object 4">
                        <a:extLst>
                          <a:ext uri="{FF2B5EF4-FFF2-40B4-BE49-F238E27FC236}">
                            <a16:creationId xmlns:a16="http://schemas.microsoft.com/office/drawing/2014/main" id="{8F3C21D1-47BA-FDE7-1D55-1F300E4C3DA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0531" y="1912460"/>
                        <a:ext cx="6558869" cy="261128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8752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B8E5E485-3ACE-1A81-AECC-761A859D3B05}"/>
              </a:ext>
            </a:extLst>
          </p:cNvPr>
          <p:cNvSpPr txBox="1"/>
          <p:nvPr/>
        </p:nvSpPr>
        <p:spPr>
          <a:xfrm>
            <a:off x="3042558" y="415707"/>
            <a:ext cx="6106884" cy="2980496"/>
          </a:xfrm>
          <a:prstGeom prst="rect">
            <a:avLst/>
          </a:prstGeom>
          <a:noFill/>
        </p:spPr>
        <p:txBody>
          <a:bodyPr wrap="square">
            <a:spAutoFit/>
          </a:bodyPr>
          <a:lstStyle/>
          <a:p>
            <a:pPr algn="l">
              <a:lnSpc>
                <a:spcPct val="160000"/>
              </a:lnSpc>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various types of queues are</a:t>
            </a:r>
          </a:p>
          <a:p>
            <a:pPr algn="l">
              <a:lnSpc>
                <a:spcPct val="160000"/>
              </a:lnSpc>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Ordinary queue</a:t>
            </a:r>
          </a:p>
          <a:p>
            <a:pPr algn="l">
              <a:lnSpc>
                <a:spcPct val="160000"/>
              </a:lnSpc>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Double ended queue</a:t>
            </a:r>
          </a:p>
          <a:p>
            <a:pPr algn="l">
              <a:lnSpc>
                <a:spcPct val="160000"/>
              </a:lnSpc>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Circular queue</a:t>
            </a:r>
          </a:p>
          <a:p>
            <a:pPr algn="l">
              <a:lnSpc>
                <a:spcPct val="160000"/>
              </a:lnSpc>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Priority queue</a:t>
            </a:r>
          </a:p>
        </p:txBody>
      </p:sp>
    </p:spTree>
    <p:extLst>
      <p:ext uri="{BB962C8B-B14F-4D97-AF65-F5344CB8AC3E}">
        <p14:creationId xmlns:p14="http://schemas.microsoft.com/office/powerpoint/2010/main" val="75546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BA586708-5604-377C-A85F-DC0BF79657AD}"/>
              </a:ext>
            </a:extLst>
          </p:cNvPr>
          <p:cNvSpPr txBox="1">
            <a:spLocks/>
          </p:cNvSpPr>
          <p:nvPr/>
        </p:nvSpPr>
        <p:spPr>
          <a:xfrm>
            <a:off x="2499932" y="549908"/>
            <a:ext cx="9071310" cy="560052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400" b="1"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Ordinary Queue or Linear Queue or Queue</a:t>
            </a:r>
          </a:p>
          <a:p>
            <a:pPr>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This queue operates on a first come serve basis. Items will be inserted from one end and they are deleted at the other end in the same order in which they are inserted.</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various operations that can be performed on a ordinary queue are</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1.Insert Rear – Here elements are inserted from rear end of the queue.</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2.Delete Front – Here elements are deleted from the front end.</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3.Display – Here contents of queue are displayed.</a:t>
            </a:r>
          </a:p>
          <a:p>
            <a:pPr>
              <a:spcAft>
                <a:spcPct val="0"/>
              </a:spcAft>
            </a:pPr>
            <a:endPar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110761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F142070D-CBDD-6FF9-06BC-367FBA52BE39}"/>
              </a:ext>
            </a:extLst>
          </p:cNvPr>
          <p:cNvSpPr txBox="1">
            <a:spLocks/>
          </p:cNvSpPr>
          <p:nvPr/>
        </p:nvSpPr>
        <p:spPr>
          <a:xfrm>
            <a:off x="2730863" y="1030170"/>
            <a:ext cx="7916862" cy="424497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400" b="1"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Observations</a:t>
            </a:r>
          </a:p>
          <a:p>
            <a:pPr>
              <a:spcAft>
                <a:spcPct val="0"/>
              </a:spcAft>
              <a:buFontTx/>
              <a:buChar char="•"/>
            </a:pPr>
            <a:r>
              <a:rPr lang="en-US" altLang="zh-CN" sz="24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Initially when there are no elements f = 0 and r = -1</a:t>
            </a:r>
          </a:p>
          <a:p>
            <a:pPr>
              <a:spcAft>
                <a:spcPct val="0"/>
              </a:spcAft>
              <a:buFontTx/>
              <a:buChar char="•"/>
            </a:pPr>
            <a:r>
              <a:rPr lang="en-US" altLang="zh-CN" sz="24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Whenever f &gt; r there are no elements in the queue i.e. the queue is empty.</a:t>
            </a:r>
          </a:p>
          <a:p>
            <a:pPr>
              <a:spcAft>
                <a:spcPct val="0"/>
              </a:spcAft>
              <a:buFontTx/>
              <a:buChar char="•"/>
            </a:pPr>
            <a:r>
              <a:rPr lang="en-US" altLang="zh-CN" sz="24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f = r means there is only one element in the queue.</a:t>
            </a:r>
          </a:p>
          <a:p>
            <a:pPr>
              <a:spcAft>
                <a:spcPct val="0"/>
              </a:spcAft>
              <a:buFontTx/>
              <a:buChar char="•"/>
            </a:pPr>
            <a:endParaRPr lang="en-US" altLang="zh-CN" sz="24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266945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6D2C9E5A-9013-8A6F-CBCB-A3EF67CA8A44}"/>
              </a:ext>
            </a:extLst>
          </p:cNvPr>
          <p:cNvSpPr txBox="1"/>
          <p:nvPr/>
        </p:nvSpPr>
        <p:spPr>
          <a:xfrm>
            <a:off x="3042558" y="374507"/>
            <a:ext cx="6106884" cy="3054491"/>
          </a:xfrm>
          <a:prstGeom prst="rect">
            <a:avLst/>
          </a:prstGeom>
          <a:noFill/>
        </p:spPr>
        <p:txBody>
          <a:bodyPr wrap="square">
            <a:spAutoFit/>
          </a:bodyPr>
          <a:lstStyle/>
          <a:p>
            <a:pPr algn="l">
              <a:spcAft>
                <a:spcPct val="0"/>
              </a:spcAft>
            </a:pPr>
            <a:r>
              <a:rPr lang="en-US" altLang="zh-CN" sz="2400" b="1" noProof="1">
                <a:solidFill>
                  <a:schemeClr val="accent5"/>
                </a:solidFill>
                <a:latin typeface="Times New Roman" panose="02020603050405020304" pitchFamily="18" charset="0"/>
                <a:cs typeface="Times New Roman" panose="02020603050405020304" pitchFamily="18" charset="0"/>
                <a:sym typeface="Calibri" panose="020F0502020204030204" pitchFamily="34" charset="0"/>
              </a:rPr>
              <a:t>Insert element into the Queue:</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void insert_rear(int item, int r, int q[])</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if(r = = queuesize-1)</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printf("queue overflow\n");</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return;</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r = r + 1;</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q[r] = item;</a:t>
            </a:r>
          </a:p>
          <a:p>
            <a:pPr algn="l">
              <a:lnSpc>
                <a:spcPct val="7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81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A627443A-6ABE-F677-A2F2-CCCFC603D44D}"/>
              </a:ext>
            </a:extLst>
          </p:cNvPr>
          <p:cNvSpPr txBox="1">
            <a:spLocks/>
          </p:cNvSpPr>
          <p:nvPr/>
        </p:nvSpPr>
        <p:spPr>
          <a:xfrm>
            <a:off x="2642592" y="610587"/>
            <a:ext cx="7950200" cy="51044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400" b="1"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Delete element from the Queue:</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void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delete_front</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(int f, int r, int q[])</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int item;</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if(f &gt; r)</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printf</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 is empty\n");</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return;</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item = q[f];</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printf</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nthe</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item deleted is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d",item</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f = f+1;</a:t>
            </a:r>
          </a:p>
          <a:p>
            <a:pPr marL="114300" indent="0">
              <a:lnSpc>
                <a:spcPct val="30000"/>
              </a:lnSpc>
              <a:spcAft>
                <a:spcPct val="0"/>
              </a:spcAft>
              <a:buNone/>
            </a:pPr>
            <a:endPar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if(f &gt; r)</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f = 0;</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r = -1;</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p>
          <a:p>
            <a:pPr marL="114300" indent="0">
              <a:lnSpc>
                <a:spcPct val="30000"/>
              </a:lnSpc>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p:txBody>
      </p:sp>
    </p:spTree>
    <p:extLst>
      <p:ext uri="{BB962C8B-B14F-4D97-AF65-F5344CB8AC3E}">
        <p14:creationId xmlns:p14="http://schemas.microsoft.com/office/powerpoint/2010/main" val="351666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4" end="1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
                                            <p:txEl>
                                              <p:pRg st="16" end="1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8" end="18"/>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C1C081C8-E028-B841-4E50-6BF9093475D0}"/>
              </a:ext>
            </a:extLst>
          </p:cNvPr>
          <p:cNvSpPr txBox="1">
            <a:spLocks/>
          </p:cNvSpPr>
          <p:nvPr/>
        </p:nvSpPr>
        <p:spPr>
          <a:xfrm>
            <a:off x="2973889" y="402112"/>
            <a:ext cx="8390944" cy="538575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400" b="1" noProof="1">
                <a:solidFill>
                  <a:schemeClr val="accent5"/>
                </a:solidFill>
                <a:latin typeface="Times New Roman" panose="02020603050405020304" pitchFamily="18" charset="0"/>
                <a:cs typeface="Times New Roman" panose="02020603050405020304" pitchFamily="18" charset="0"/>
                <a:sym typeface="Calibri" panose="020F0502020204030204" pitchFamily="34" charset="0"/>
              </a:rPr>
              <a:t>Display contents of Queue:</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void display(int f, int r, int q[])</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int i;</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if(f &gt; r)</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printf("queue is empty\n");</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return;</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printf("the contents of the queue are\n");</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for(i=f; i&lt;=r; i++)</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printf("%d\n",q[i]);</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a:t>
            </a:r>
          </a:p>
        </p:txBody>
      </p:sp>
    </p:spTree>
    <p:extLst>
      <p:ext uri="{BB962C8B-B14F-4D97-AF65-F5344CB8AC3E}">
        <p14:creationId xmlns:p14="http://schemas.microsoft.com/office/powerpoint/2010/main" val="414844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966257C8-647E-9F70-FEDF-28DF9B4CEAAA}"/>
              </a:ext>
            </a:extLst>
          </p:cNvPr>
          <p:cNvSpPr txBox="1">
            <a:spLocks/>
          </p:cNvSpPr>
          <p:nvPr/>
        </p:nvSpPr>
        <p:spPr>
          <a:xfrm>
            <a:off x="2541082" y="407032"/>
            <a:ext cx="8497031" cy="4883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400" b="1" dirty="0">
                <a:solidFill>
                  <a:schemeClr val="accent5"/>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Disadvantages of ordinary queues</a:t>
            </a:r>
          </a:p>
          <a:p>
            <a:pPr>
              <a:lnSpc>
                <a:spcPct val="190000"/>
              </a:lnSpc>
              <a:spcAft>
                <a:spcPct val="0"/>
              </a:spcAft>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The disadvantage of ordinary queue is that once rear reaches (</a:t>
            </a:r>
            <a:r>
              <a:rPr lang="en-US" altLang="zh-CN" sz="2000" dirty="0" err="1">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queuesize</a:t>
            </a: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-1 ) it is not possible to insert any element into the queue even though the queue is not full. This situation is depicted in the following figure.</a:t>
            </a:r>
          </a:p>
          <a:p>
            <a:pPr>
              <a:lnSpc>
                <a:spcPct val="190000"/>
              </a:lnSpc>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3">
            <a:extLst>
              <a:ext uri="{FF2B5EF4-FFF2-40B4-BE49-F238E27FC236}">
                <a16:creationId xmlns:a16="http://schemas.microsoft.com/office/drawing/2014/main" id="{4F154361-B1F1-FC7F-72F5-B587C803987E}"/>
              </a:ext>
            </a:extLst>
          </p:cNvPr>
          <p:cNvGraphicFramePr>
            <a:graphicFrameLocks/>
          </p:cNvGraphicFramePr>
          <p:nvPr/>
        </p:nvGraphicFramePr>
        <p:xfrm>
          <a:off x="3586389" y="3279139"/>
          <a:ext cx="6907440" cy="2446747"/>
        </p:xfrm>
        <a:graphic>
          <a:graphicData uri="http://schemas.openxmlformats.org/presentationml/2006/ole">
            <mc:AlternateContent xmlns:mc="http://schemas.openxmlformats.org/markup-compatibility/2006">
              <mc:Choice xmlns:v="urn:schemas-microsoft-com:vml" Requires="v">
                <p:oleObj r:id="rId4" imgW="6180952" imgH="1390844" progId="Paint.Picture">
                  <p:embed/>
                </p:oleObj>
              </mc:Choice>
              <mc:Fallback>
                <p:oleObj r:id="rId4" imgW="6180952" imgH="1390844" progId="Paint.Picture">
                  <p:embed/>
                  <p:pic>
                    <p:nvPicPr>
                      <p:cNvPr id="3" name="Object 3">
                        <a:extLst>
                          <a:ext uri="{FF2B5EF4-FFF2-40B4-BE49-F238E27FC236}">
                            <a16:creationId xmlns:a16="http://schemas.microsoft.com/office/drawing/2014/main" id="{4F154361-B1F1-FC7F-72F5-B587C803987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6389" y="3279139"/>
                        <a:ext cx="6907440" cy="24467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8833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0CB65040-F3A1-94A2-4E8B-3ACA44F81DD2}"/>
              </a:ext>
            </a:extLst>
          </p:cNvPr>
          <p:cNvSpPr txBox="1">
            <a:spLocks/>
          </p:cNvSpPr>
          <p:nvPr/>
        </p:nvSpPr>
        <p:spPr>
          <a:xfrm>
            <a:off x="2442084" y="445861"/>
            <a:ext cx="8858754" cy="530179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60000"/>
              </a:lnSpc>
              <a:spcAft>
                <a:spcPct val="0"/>
              </a:spcAft>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Even though there are 2 free locations, since the value of r has reached queuesize – 1, we will not be able to insert rear.</a:t>
            </a:r>
          </a:p>
          <a:p>
            <a:pPr algn="just">
              <a:lnSpc>
                <a:spcPct val="160000"/>
              </a:lnSpc>
              <a:spcAft>
                <a:spcPct val="0"/>
              </a:spcAft>
            </a:pPr>
            <a:r>
              <a:rPr lang="en-US" altLang="zh-CN" sz="2400" b="1" noProof="1">
                <a:latin typeface="Times New Roman" panose="02020603050405020304" pitchFamily="18" charset="0"/>
                <a:cs typeface="Times New Roman" panose="02020603050405020304" pitchFamily="18" charset="0"/>
                <a:sym typeface="Calibri" panose="020F0502020204030204" pitchFamily="34" charset="0"/>
              </a:rPr>
              <a:t>Solution 1:</a:t>
            </a: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Shift data to previous locations such that the elements start from the beginning of the queue. This method proves to be costly in terms of computer time if the data being stored is very large.</a:t>
            </a:r>
          </a:p>
          <a:p>
            <a:pPr algn="just">
              <a:lnSpc>
                <a:spcPct val="160000"/>
              </a:lnSpc>
              <a:spcAft>
                <a:spcPct val="0"/>
              </a:spcAft>
            </a:pPr>
            <a:r>
              <a:rPr lang="en-US" altLang="zh-CN" sz="2400" b="1" noProof="1">
                <a:latin typeface="Times New Roman" panose="02020603050405020304" pitchFamily="18" charset="0"/>
                <a:cs typeface="Times New Roman" panose="02020603050405020304" pitchFamily="18" charset="0"/>
                <a:sym typeface="Calibri" panose="020F0502020204030204" pitchFamily="34" charset="0"/>
              </a:rPr>
              <a:t>Solution 2</a:t>
            </a: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Use circular queue to overcome this situation.</a:t>
            </a:r>
          </a:p>
        </p:txBody>
      </p:sp>
    </p:spTree>
    <p:extLst>
      <p:ext uri="{BB962C8B-B14F-4D97-AF65-F5344CB8AC3E}">
        <p14:creationId xmlns:p14="http://schemas.microsoft.com/office/powerpoint/2010/main" val="8436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379B2DA5-8985-1978-376C-4C3C03F97BA7}"/>
              </a:ext>
            </a:extLst>
          </p:cNvPr>
          <p:cNvSpPr txBox="1">
            <a:spLocks/>
          </p:cNvSpPr>
          <p:nvPr/>
        </p:nvSpPr>
        <p:spPr>
          <a:xfrm>
            <a:off x="3138062" y="758824"/>
            <a:ext cx="7987137" cy="434657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400" b="1"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Circular Queue</a:t>
            </a:r>
          </a:p>
          <a:p>
            <a:pPr algn="just">
              <a:lnSpc>
                <a:spcPct val="150000"/>
              </a:lnSpc>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As the name suggests, this queue is not straight but circular; meaning, the last element of the array is logically followed by the first element of the array (element with index 0). It has a structure as shown below.</a:t>
            </a:r>
          </a:p>
          <a:p>
            <a:pPr algn="just">
              <a:lnSpc>
                <a:spcPct val="150000"/>
              </a:lnSpc>
              <a:spcAft>
                <a:spcPct val="0"/>
              </a:spcAft>
            </a:pP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pSp>
        <p:nvGrpSpPr>
          <p:cNvPr id="17" name="Group 1073742904">
            <a:extLst>
              <a:ext uri="{FF2B5EF4-FFF2-40B4-BE49-F238E27FC236}">
                <a16:creationId xmlns:a16="http://schemas.microsoft.com/office/drawing/2014/main" id="{693DCE74-50BC-9C3D-AB51-50A5D627B5C7}"/>
              </a:ext>
            </a:extLst>
          </p:cNvPr>
          <p:cNvGrpSpPr>
            <a:grpSpLocks/>
          </p:cNvGrpSpPr>
          <p:nvPr/>
        </p:nvGrpSpPr>
        <p:grpSpPr bwMode="auto">
          <a:xfrm>
            <a:off x="4995068" y="3502023"/>
            <a:ext cx="3648189" cy="1520688"/>
            <a:chOff x="4020" y="1598"/>
            <a:chExt cx="3469" cy="1980"/>
          </a:xfrm>
        </p:grpSpPr>
        <p:sp>
          <p:nvSpPr>
            <p:cNvPr id="18" name="Text Box 1073742859">
              <a:extLst>
                <a:ext uri="{FF2B5EF4-FFF2-40B4-BE49-F238E27FC236}">
                  <a16:creationId xmlns:a16="http://schemas.microsoft.com/office/drawing/2014/main" id="{E039ED19-6F99-C242-0B17-DC4D2D2F75FA}"/>
                </a:ext>
              </a:extLst>
            </p:cNvPr>
            <p:cNvSpPr txBox="1">
              <a:spLocks noChangeArrowheads="1"/>
            </p:cNvSpPr>
            <p:nvPr/>
          </p:nvSpPr>
          <p:spPr bwMode="auto">
            <a:xfrm>
              <a:off x="4020" y="1598"/>
              <a:ext cx="806" cy="6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   q[3]</a:t>
              </a:r>
            </a:p>
            <a:p>
              <a:pPr eaLnBrk="1" hangingPunct="1">
                <a:buFontTx/>
                <a:buNone/>
              </a:pPr>
              <a:endParaRPr lang="en-US" altLang="zh-CN"/>
            </a:p>
          </p:txBody>
        </p:sp>
        <p:grpSp>
          <p:nvGrpSpPr>
            <p:cNvPr id="19" name="Group 1073742900">
              <a:extLst>
                <a:ext uri="{FF2B5EF4-FFF2-40B4-BE49-F238E27FC236}">
                  <a16:creationId xmlns:a16="http://schemas.microsoft.com/office/drawing/2014/main" id="{0BAF991F-F7DD-5BBA-240B-B4E6F6588F1F}"/>
                </a:ext>
              </a:extLst>
            </p:cNvPr>
            <p:cNvGrpSpPr>
              <a:grpSpLocks/>
            </p:cNvGrpSpPr>
            <p:nvPr/>
          </p:nvGrpSpPr>
          <p:grpSpPr bwMode="auto">
            <a:xfrm>
              <a:off x="4227" y="1598"/>
              <a:ext cx="3262" cy="1980"/>
              <a:chOff x="4227" y="1598"/>
              <a:chExt cx="3262" cy="1980"/>
            </a:xfrm>
          </p:grpSpPr>
          <p:sp>
            <p:nvSpPr>
              <p:cNvPr id="20" name="Text Box 1073742861">
                <a:extLst>
                  <a:ext uri="{FF2B5EF4-FFF2-40B4-BE49-F238E27FC236}">
                    <a16:creationId xmlns:a16="http://schemas.microsoft.com/office/drawing/2014/main" id="{EF180E79-B149-9AA2-F501-55065DFD0B22}"/>
                  </a:ext>
                </a:extLst>
              </p:cNvPr>
              <p:cNvSpPr txBox="1">
                <a:spLocks noChangeArrowheads="1"/>
              </p:cNvSpPr>
              <p:nvPr/>
            </p:nvSpPr>
            <p:spPr bwMode="auto">
              <a:xfrm>
                <a:off x="4227" y="3154"/>
                <a:ext cx="768" cy="4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q[2]</a:t>
                </a:r>
              </a:p>
              <a:p>
                <a:pPr eaLnBrk="1" hangingPunct="1">
                  <a:buFontTx/>
                  <a:buNone/>
                </a:pPr>
                <a:endParaRPr lang="en-US" altLang="zh-CN"/>
              </a:p>
            </p:txBody>
          </p:sp>
          <p:grpSp>
            <p:nvGrpSpPr>
              <p:cNvPr id="21" name="Group 1073742862">
                <a:extLst>
                  <a:ext uri="{FF2B5EF4-FFF2-40B4-BE49-F238E27FC236}">
                    <a16:creationId xmlns:a16="http://schemas.microsoft.com/office/drawing/2014/main" id="{5DC7F0D2-EC0C-E548-2D28-5DC26C520B35}"/>
                  </a:ext>
                </a:extLst>
              </p:cNvPr>
              <p:cNvGrpSpPr>
                <a:grpSpLocks/>
              </p:cNvGrpSpPr>
              <p:nvPr/>
            </p:nvGrpSpPr>
            <p:grpSpPr bwMode="auto">
              <a:xfrm>
                <a:off x="4527" y="1598"/>
                <a:ext cx="2962" cy="1980"/>
                <a:chOff x="4680" y="1620"/>
                <a:chExt cx="2775" cy="2520"/>
              </a:xfrm>
            </p:grpSpPr>
            <p:sp>
              <p:nvSpPr>
                <p:cNvPr id="22" name="Text Box 1073742863">
                  <a:extLst>
                    <a:ext uri="{FF2B5EF4-FFF2-40B4-BE49-F238E27FC236}">
                      <a16:creationId xmlns:a16="http://schemas.microsoft.com/office/drawing/2014/main" id="{C56FCE88-53B6-8ACB-E5E3-FA55BC6B65A4}"/>
                    </a:ext>
                  </a:extLst>
                </p:cNvPr>
                <p:cNvSpPr txBox="1">
                  <a:spLocks noChangeArrowheads="1"/>
                </p:cNvSpPr>
                <p:nvPr/>
              </p:nvSpPr>
              <p:spPr bwMode="auto">
                <a:xfrm>
                  <a:off x="6480" y="3600"/>
                  <a:ext cx="72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q[1]</a:t>
                  </a:r>
                </a:p>
                <a:p>
                  <a:pPr eaLnBrk="1" hangingPunct="1">
                    <a:buFontTx/>
                    <a:buNone/>
                  </a:pPr>
                  <a:endParaRPr lang="en-US" altLang="zh-CN"/>
                </a:p>
              </p:txBody>
            </p:sp>
            <p:grpSp>
              <p:nvGrpSpPr>
                <p:cNvPr id="23" name="Group 1073742864">
                  <a:extLst>
                    <a:ext uri="{FF2B5EF4-FFF2-40B4-BE49-F238E27FC236}">
                      <a16:creationId xmlns:a16="http://schemas.microsoft.com/office/drawing/2014/main" id="{6F90978B-2F39-A74E-1C57-68981759B32B}"/>
                    </a:ext>
                  </a:extLst>
                </p:cNvPr>
                <p:cNvGrpSpPr>
                  <a:grpSpLocks/>
                </p:cNvGrpSpPr>
                <p:nvPr/>
              </p:nvGrpSpPr>
              <p:grpSpPr bwMode="auto">
                <a:xfrm>
                  <a:off x="4680" y="1620"/>
                  <a:ext cx="2775" cy="2434"/>
                  <a:chOff x="4680" y="1620"/>
                  <a:chExt cx="2775" cy="2434"/>
                </a:xfrm>
              </p:grpSpPr>
              <p:sp>
                <p:nvSpPr>
                  <p:cNvPr id="24" name="Text Box 1073742865">
                    <a:extLst>
                      <a:ext uri="{FF2B5EF4-FFF2-40B4-BE49-F238E27FC236}">
                        <a16:creationId xmlns:a16="http://schemas.microsoft.com/office/drawing/2014/main" id="{1E1AD8B8-23E5-1CFB-93C6-2B2598FE079F}"/>
                      </a:ext>
                    </a:extLst>
                  </p:cNvPr>
                  <p:cNvSpPr txBox="1">
                    <a:spLocks noChangeArrowheads="1"/>
                  </p:cNvSpPr>
                  <p:nvPr/>
                </p:nvSpPr>
                <p:spPr bwMode="auto">
                  <a:xfrm>
                    <a:off x="6735" y="1800"/>
                    <a:ext cx="72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q[0]</a:t>
                    </a:r>
                  </a:p>
                  <a:p>
                    <a:pPr eaLnBrk="1" hangingPunct="1">
                      <a:buFontTx/>
                      <a:buNone/>
                    </a:pPr>
                    <a:endParaRPr lang="en-US" altLang="zh-CN"/>
                  </a:p>
                </p:txBody>
              </p:sp>
              <p:grpSp>
                <p:nvGrpSpPr>
                  <p:cNvPr id="25" name="Group 1073742866">
                    <a:extLst>
                      <a:ext uri="{FF2B5EF4-FFF2-40B4-BE49-F238E27FC236}">
                        <a16:creationId xmlns:a16="http://schemas.microsoft.com/office/drawing/2014/main" id="{461C9777-4685-2486-E52A-063621993E39}"/>
                      </a:ext>
                    </a:extLst>
                  </p:cNvPr>
                  <p:cNvGrpSpPr>
                    <a:grpSpLocks/>
                  </p:cNvGrpSpPr>
                  <p:nvPr/>
                </p:nvGrpSpPr>
                <p:grpSpPr bwMode="auto">
                  <a:xfrm>
                    <a:off x="4680" y="1620"/>
                    <a:ext cx="2254" cy="2434"/>
                    <a:chOff x="4680" y="1620"/>
                    <a:chExt cx="2254" cy="2434"/>
                  </a:xfrm>
                </p:grpSpPr>
                <p:sp>
                  <p:nvSpPr>
                    <p:cNvPr id="26" name="Freeform 1073742867">
                      <a:extLst>
                        <a:ext uri="{FF2B5EF4-FFF2-40B4-BE49-F238E27FC236}">
                          <a16:creationId xmlns:a16="http://schemas.microsoft.com/office/drawing/2014/main" id="{6916B9B2-3D40-7225-951B-BBF10711C047}"/>
                        </a:ext>
                      </a:extLst>
                    </p:cNvPr>
                    <p:cNvSpPr>
                      <a:spLocks noChangeAspect="1" noChangeArrowheads="1"/>
                    </p:cNvSpPr>
                    <p:nvPr/>
                  </p:nvSpPr>
                  <p:spPr bwMode="auto">
                    <a:xfrm>
                      <a:off x="4680" y="1620"/>
                      <a:ext cx="2254" cy="2434"/>
                    </a:xfrm>
                    <a:custGeom>
                      <a:avLst/>
                      <a:gdLst>
                        <a:gd name="T0" fmla="*/ 0 w 21600"/>
                        <a:gd name="T1" fmla="*/ 1217 h 21600"/>
                        <a:gd name="T2" fmla="*/ 1127 w 21600"/>
                        <a:gd name="T3" fmla="*/ 0 h 21600"/>
                        <a:gd name="T4" fmla="*/ 2254 w 21600"/>
                        <a:gd name="T5" fmla="*/ 1217 h 21600"/>
                        <a:gd name="T6" fmla="*/ 1127 w 21600"/>
                        <a:gd name="T7" fmla="*/ 2434 h 21600"/>
                        <a:gd name="T8" fmla="*/ 0 w 21600"/>
                        <a:gd name="T9" fmla="*/ 1217 h 21600"/>
                        <a:gd name="T10" fmla="*/ 564 w 21600"/>
                        <a:gd name="T11" fmla="*/ 1217 h 21600"/>
                        <a:gd name="T12" fmla="*/ 1127 w 21600"/>
                        <a:gd name="T13" fmla="*/ 1826 h 21600"/>
                        <a:gd name="T14" fmla="*/ 1691 w 21600"/>
                        <a:gd name="T15" fmla="*/ 1217 h 21600"/>
                        <a:gd name="T16" fmla="*/ 1127 w 21600"/>
                        <a:gd name="T17" fmla="*/ 609 h 21600"/>
                        <a:gd name="T18" fmla="*/ 564 w 21600"/>
                        <a:gd name="T19" fmla="*/ 121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600"/>
                        <a:gd name="T31" fmla="*/ 0 h 21600"/>
                        <a:gd name="T32" fmla="*/ 21600 w 21600"/>
                        <a:gd name="T33" fmla="*/ 216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FF"/>
                    </a:solidFill>
                    <a:ln w="9525">
                      <a:solidFill>
                        <a:srgbClr val="000000"/>
                      </a:solidFill>
                      <a:round/>
                      <a:headEnd/>
                      <a:tailEnd/>
                    </a:ln>
                  </p:spPr>
                  <p:txBody>
                    <a:bodyPr/>
                    <a:lstStyle/>
                    <a:p>
                      <a:endParaRPr lang="en-US"/>
                    </a:p>
                  </p:txBody>
                </p:sp>
                <p:sp>
                  <p:nvSpPr>
                    <p:cNvPr id="27" name="Straight Connector 1073742868">
                      <a:extLst>
                        <a:ext uri="{FF2B5EF4-FFF2-40B4-BE49-F238E27FC236}">
                          <a16:creationId xmlns:a16="http://schemas.microsoft.com/office/drawing/2014/main" id="{97B6EC02-004C-025B-38A8-8DB75FB1BD1E}"/>
                        </a:ext>
                      </a:extLst>
                    </p:cNvPr>
                    <p:cNvSpPr>
                      <a:spLocks noChangeShapeType="1"/>
                    </p:cNvSpPr>
                    <p:nvPr/>
                  </p:nvSpPr>
                  <p:spPr bwMode="auto">
                    <a:xfrm>
                      <a:off x="5760" y="1635"/>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Straight Connector 1073742869">
                      <a:extLst>
                        <a:ext uri="{FF2B5EF4-FFF2-40B4-BE49-F238E27FC236}">
                          <a16:creationId xmlns:a16="http://schemas.microsoft.com/office/drawing/2014/main" id="{6798CEA6-4984-002D-F75A-83A35DEF72FB}"/>
                        </a:ext>
                      </a:extLst>
                    </p:cNvPr>
                    <p:cNvSpPr>
                      <a:spLocks noChangeShapeType="1"/>
                    </p:cNvSpPr>
                    <p:nvPr/>
                  </p:nvSpPr>
                  <p:spPr bwMode="auto">
                    <a:xfrm>
                      <a:off x="5760" y="3465"/>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Straight Connector 1073742870">
                      <a:extLst>
                        <a:ext uri="{FF2B5EF4-FFF2-40B4-BE49-F238E27FC236}">
                          <a16:creationId xmlns:a16="http://schemas.microsoft.com/office/drawing/2014/main" id="{654A9D2C-6198-E3C2-BE04-911FD2E4CA8F}"/>
                        </a:ext>
                      </a:extLst>
                    </p:cNvPr>
                    <p:cNvSpPr>
                      <a:spLocks noChangeShapeType="1"/>
                    </p:cNvSpPr>
                    <p:nvPr/>
                  </p:nvSpPr>
                  <p:spPr bwMode="auto">
                    <a:xfrm>
                      <a:off x="4680" y="285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Straight Connector 1073742871">
                      <a:extLst>
                        <a:ext uri="{FF2B5EF4-FFF2-40B4-BE49-F238E27FC236}">
                          <a16:creationId xmlns:a16="http://schemas.microsoft.com/office/drawing/2014/main" id="{8A18FF2E-6411-1730-F44B-CC4160B5A5F5}"/>
                        </a:ext>
                      </a:extLst>
                    </p:cNvPr>
                    <p:cNvSpPr>
                      <a:spLocks noChangeShapeType="1"/>
                    </p:cNvSpPr>
                    <p:nvPr/>
                  </p:nvSpPr>
                  <p:spPr bwMode="auto">
                    <a:xfrm>
                      <a:off x="6390" y="285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grpSp>
      <p:sp>
        <p:nvSpPr>
          <p:cNvPr id="31" name="Text Box 99">
            <a:extLst>
              <a:ext uri="{FF2B5EF4-FFF2-40B4-BE49-F238E27FC236}">
                <a16:creationId xmlns:a16="http://schemas.microsoft.com/office/drawing/2014/main" id="{16E9D24F-0741-51A4-478E-B53BFCA91D2D}"/>
              </a:ext>
            </a:extLst>
          </p:cNvPr>
          <p:cNvSpPr txBox="1">
            <a:spLocks noChangeArrowheads="1"/>
          </p:cNvSpPr>
          <p:nvPr/>
        </p:nvSpPr>
        <p:spPr bwMode="auto">
          <a:xfrm>
            <a:off x="4240269" y="5022711"/>
            <a:ext cx="508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sz="1600" dirty="0">
                <a:latin typeface="Times New Roman" panose="02020603050405020304" pitchFamily="18" charset="0"/>
                <a:cs typeface="Times New Roman" panose="02020603050405020304" pitchFamily="18" charset="0"/>
              </a:rPr>
              <a:t>// Initially r = -1 and f = 0</a:t>
            </a:r>
          </a:p>
        </p:txBody>
      </p:sp>
    </p:spTree>
    <p:extLst>
      <p:ext uri="{BB962C8B-B14F-4D97-AF65-F5344CB8AC3E}">
        <p14:creationId xmlns:p14="http://schemas.microsoft.com/office/powerpoint/2010/main" val="405921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EBC26249-7DDA-5F62-A287-9F478A08AA91}"/>
              </a:ext>
            </a:extLst>
          </p:cNvPr>
          <p:cNvSpPr txBox="1">
            <a:spLocks/>
          </p:cNvSpPr>
          <p:nvPr/>
        </p:nvSpPr>
        <p:spPr>
          <a:xfrm>
            <a:off x="2994738" y="638628"/>
            <a:ext cx="7950200" cy="43910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After inserting 4 elements and then deleting 2 elements we have the queue structure as shown below.</a:t>
            </a: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marL="114300" indent="0">
              <a:spcAft>
                <a:spcPct val="0"/>
              </a:spcAft>
              <a:buNone/>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r </a:t>
            </a: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marL="114300" indent="0">
              <a:spcAft>
                <a:spcPct val="0"/>
              </a:spcAft>
              <a:buNone/>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f</a:t>
            </a:r>
          </a:p>
        </p:txBody>
      </p:sp>
      <p:grpSp>
        <p:nvGrpSpPr>
          <p:cNvPr id="3" name="Group 1073742937">
            <a:extLst>
              <a:ext uri="{FF2B5EF4-FFF2-40B4-BE49-F238E27FC236}">
                <a16:creationId xmlns:a16="http://schemas.microsoft.com/office/drawing/2014/main" id="{5631FD3B-A389-5FB3-8A06-29836190EBE4}"/>
              </a:ext>
            </a:extLst>
          </p:cNvPr>
          <p:cNvGrpSpPr>
            <a:grpSpLocks/>
          </p:cNvGrpSpPr>
          <p:nvPr/>
        </p:nvGrpSpPr>
        <p:grpSpPr bwMode="auto">
          <a:xfrm>
            <a:off x="6184900" y="1799713"/>
            <a:ext cx="2903538" cy="1789112"/>
            <a:chOff x="4335" y="4464"/>
            <a:chExt cx="3469" cy="1980"/>
          </a:xfrm>
        </p:grpSpPr>
        <p:grpSp>
          <p:nvGrpSpPr>
            <p:cNvPr id="4" name="Group 1073742914">
              <a:extLst>
                <a:ext uri="{FF2B5EF4-FFF2-40B4-BE49-F238E27FC236}">
                  <a16:creationId xmlns:a16="http://schemas.microsoft.com/office/drawing/2014/main" id="{F1E7DF29-80BD-47A7-17B1-D84F25259287}"/>
                </a:ext>
              </a:extLst>
            </p:cNvPr>
            <p:cNvGrpSpPr>
              <a:grpSpLocks/>
            </p:cNvGrpSpPr>
            <p:nvPr/>
          </p:nvGrpSpPr>
          <p:grpSpPr bwMode="auto">
            <a:xfrm>
              <a:off x="4335" y="4464"/>
              <a:ext cx="3469" cy="1980"/>
              <a:chOff x="4020" y="1598"/>
              <a:chExt cx="3469" cy="1980"/>
            </a:xfrm>
          </p:grpSpPr>
          <p:sp>
            <p:nvSpPr>
              <p:cNvPr id="13" name="Text Box 1073742915">
                <a:extLst>
                  <a:ext uri="{FF2B5EF4-FFF2-40B4-BE49-F238E27FC236}">
                    <a16:creationId xmlns:a16="http://schemas.microsoft.com/office/drawing/2014/main" id="{0F6AABDC-E128-9FD0-895A-AA8D66575CD5}"/>
                  </a:ext>
                </a:extLst>
              </p:cNvPr>
              <p:cNvSpPr txBox="1">
                <a:spLocks noChangeArrowheads="1"/>
              </p:cNvSpPr>
              <p:nvPr/>
            </p:nvSpPr>
            <p:spPr bwMode="auto">
              <a:xfrm>
                <a:off x="4020" y="1598"/>
                <a:ext cx="806" cy="6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   q[3]</a:t>
                </a:r>
              </a:p>
              <a:p>
                <a:pPr eaLnBrk="1" hangingPunct="1">
                  <a:buFontTx/>
                  <a:buNone/>
                </a:pPr>
                <a:endParaRPr lang="en-US" altLang="zh-CN"/>
              </a:p>
            </p:txBody>
          </p:sp>
          <p:grpSp>
            <p:nvGrpSpPr>
              <p:cNvPr id="14" name="Group 1073742916">
                <a:extLst>
                  <a:ext uri="{FF2B5EF4-FFF2-40B4-BE49-F238E27FC236}">
                    <a16:creationId xmlns:a16="http://schemas.microsoft.com/office/drawing/2014/main" id="{EEA537E6-43D5-3B6B-0CBD-F5E7C903DE2F}"/>
                  </a:ext>
                </a:extLst>
              </p:cNvPr>
              <p:cNvGrpSpPr>
                <a:grpSpLocks/>
              </p:cNvGrpSpPr>
              <p:nvPr/>
            </p:nvGrpSpPr>
            <p:grpSpPr bwMode="auto">
              <a:xfrm>
                <a:off x="4227" y="1598"/>
                <a:ext cx="3262" cy="1980"/>
                <a:chOff x="4227" y="1598"/>
                <a:chExt cx="3262" cy="1980"/>
              </a:xfrm>
            </p:grpSpPr>
            <p:sp>
              <p:nvSpPr>
                <p:cNvPr id="15" name="Text Box 1073742917">
                  <a:extLst>
                    <a:ext uri="{FF2B5EF4-FFF2-40B4-BE49-F238E27FC236}">
                      <a16:creationId xmlns:a16="http://schemas.microsoft.com/office/drawing/2014/main" id="{DFE53A97-D0A8-E987-7C90-F43F9DD70AB9}"/>
                    </a:ext>
                  </a:extLst>
                </p:cNvPr>
                <p:cNvSpPr txBox="1">
                  <a:spLocks noChangeArrowheads="1"/>
                </p:cNvSpPr>
                <p:nvPr/>
              </p:nvSpPr>
              <p:spPr bwMode="auto">
                <a:xfrm>
                  <a:off x="4227" y="3154"/>
                  <a:ext cx="768" cy="4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q[2]</a:t>
                  </a:r>
                </a:p>
                <a:p>
                  <a:pPr eaLnBrk="1" hangingPunct="1">
                    <a:buFontTx/>
                    <a:buNone/>
                  </a:pPr>
                  <a:endParaRPr lang="en-US" altLang="zh-CN"/>
                </a:p>
              </p:txBody>
            </p:sp>
            <p:grpSp>
              <p:nvGrpSpPr>
                <p:cNvPr id="16" name="Group 1073742918">
                  <a:extLst>
                    <a:ext uri="{FF2B5EF4-FFF2-40B4-BE49-F238E27FC236}">
                      <a16:creationId xmlns:a16="http://schemas.microsoft.com/office/drawing/2014/main" id="{C895A38C-381E-4740-4F13-9FE684766C44}"/>
                    </a:ext>
                  </a:extLst>
                </p:cNvPr>
                <p:cNvGrpSpPr>
                  <a:grpSpLocks/>
                </p:cNvGrpSpPr>
                <p:nvPr/>
              </p:nvGrpSpPr>
              <p:grpSpPr bwMode="auto">
                <a:xfrm>
                  <a:off x="4527" y="1598"/>
                  <a:ext cx="2962" cy="1980"/>
                  <a:chOff x="4680" y="1620"/>
                  <a:chExt cx="2775" cy="2520"/>
                </a:xfrm>
              </p:grpSpPr>
              <p:sp>
                <p:nvSpPr>
                  <p:cNvPr id="17" name="Text Box 1073742919">
                    <a:extLst>
                      <a:ext uri="{FF2B5EF4-FFF2-40B4-BE49-F238E27FC236}">
                        <a16:creationId xmlns:a16="http://schemas.microsoft.com/office/drawing/2014/main" id="{15187046-FEA3-65D6-35FE-0281042FD9ED}"/>
                      </a:ext>
                    </a:extLst>
                  </p:cNvPr>
                  <p:cNvSpPr txBox="1">
                    <a:spLocks noChangeArrowheads="1"/>
                  </p:cNvSpPr>
                  <p:nvPr/>
                </p:nvSpPr>
                <p:spPr bwMode="auto">
                  <a:xfrm>
                    <a:off x="6480" y="3600"/>
                    <a:ext cx="72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q[1]</a:t>
                    </a:r>
                  </a:p>
                  <a:p>
                    <a:pPr eaLnBrk="1" hangingPunct="1">
                      <a:buFontTx/>
                      <a:buNone/>
                    </a:pPr>
                    <a:endParaRPr lang="en-US" altLang="zh-CN"/>
                  </a:p>
                </p:txBody>
              </p:sp>
              <p:grpSp>
                <p:nvGrpSpPr>
                  <p:cNvPr id="18" name="Group 1073742920">
                    <a:extLst>
                      <a:ext uri="{FF2B5EF4-FFF2-40B4-BE49-F238E27FC236}">
                        <a16:creationId xmlns:a16="http://schemas.microsoft.com/office/drawing/2014/main" id="{F1894565-D2E5-2A5C-8D39-A83C99DBE9BA}"/>
                      </a:ext>
                    </a:extLst>
                  </p:cNvPr>
                  <p:cNvGrpSpPr>
                    <a:grpSpLocks/>
                  </p:cNvGrpSpPr>
                  <p:nvPr/>
                </p:nvGrpSpPr>
                <p:grpSpPr bwMode="auto">
                  <a:xfrm>
                    <a:off x="4680" y="1620"/>
                    <a:ext cx="2775" cy="2434"/>
                    <a:chOff x="4680" y="1620"/>
                    <a:chExt cx="2775" cy="2434"/>
                  </a:xfrm>
                </p:grpSpPr>
                <p:sp>
                  <p:nvSpPr>
                    <p:cNvPr id="19" name="Text Box 1073742921">
                      <a:extLst>
                        <a:ext uri="{FF2B5EF4-FFF2-40B4-BE49-F238E27FC236}">
                          <a16:creationId xmlns:a16="http://schemas.microsoft.com/office/drawing/2014/main" id="{98CFB4A6-E0BE-F35D-9065-3A3FFF2D476D}"/>
                        </a:ext>
                      </a:extLst>
                    </p:cNvPr>
                    <p:cNvSpPr txBox="1">
                      <a:spLocks noChangeArrowheads="1"/>
                    </p:cNvSpPr>
                    <p:nvPr/>
                  </p:nvSpPr>
                  <p:spPr bwMode="auto">
                    <a:xfrm>
                      <a:off x="6735" y="1800"/>
                      <a:ext cx="72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q[0]</a:t>
                      </a:r>
                    </a:p>
                    <a:p>
                      <a:pPr eaLnBrk="1" hangingPunct="1">
                        <a:buFontTx/>
                        <a:buNone/>
                      </a:pPr>
                      <a:endParaRPr lang="en-US" altLang="zh-CN"/>
                    </a:p>
                  </p:txBody>
                </p:sp>
                <p:grpSp>
                  <p:nvGrpSpPr>
                    <p:cNvPr id="20" name="Group 1073742922">
                      <a:extLst>
                        <a:ext uri="{FF2B5EF4-FFF2-40B4-BE49-F238E27FC236}">
                          <a16:creationId xmlns:a16="http://schemas.microsoft.com/office/drawing/2014/main" id="{9D836F53-7AD9-D106-4E67-D531520B03F4}"/>
                        </a:ext>
                      </a:extLst>
                    </p:cNvPr>
                    <p:cNvGrpSpPr>
                      <a:grpSpLocks/>
                    </p:cNvGrpSpPr>
                    <p:nvPr/>
                  </p:nvGrpSpPr>
                  <p:grpSpPr bwMode="auto">
                    <a:xfrm>
                      <a:off x="4680" y="1620"/>
                      <a:ext cx="2254" cy="2434"/>
                      <a:chOff x="4680" y="1620"/>
                      <a:chExt cx="2254" cy="2434"/>
                    </a:xfrm>
                  </p:grpSpPr>
                  <p:sp>
                    <p:nvSpPr>
                      <p:cNvPr id="21" name="Freeform 1073742923">
                        <a:extLst>
                          <a:ext uri="{FF2B5EF4-FFF2-40B4-BE49-F238E27FC236}">
                            <a16:creationId xmlns:a16="http://schemas.microsoft.com/office/drawing/2014/main" id="{AB487B33-B31E-409A-79FA-C075B3A87191}"/>
                          </a:ext>
                        </a:extLst>
                      </p:cNvPr>
                      <p:cNvSpPr>
                        <a:spLocks noChangeAspect="1" noChangeArrowheads="1"/>
                      </p:cNvSpPr>
                      <p:nvPr/>
                    </p:nvSpPr>
                    <p:spPr bwMode="auto">
                      <a:xfrm>
                        <a:off x="4680" y="1620"/>
                        <a:ext cx="2254" cy="2434"/>
                      </a:xfrm>
                      <a:custGeom>
                        <a:avLst/>
                        <a:gdLst>
                          <a:gd name="T0" fmla="*/ 0 w 21600"/>
                          <a:gd name="T1" fmla="*/ 1217 h 21600"/>
                          <a:gd name="T2" fmla="*/ 1127 w 21600"/>
                          <a:gd name="T3" fmla="*/ 0 h 21600"/>
                          <a:gd name="T4" fmla="*/ 2254 w 21600"/>
                          <a:gd name="T5" fmla="*/ 1217 h 21600"/>
                          <a:gd name="T6" fmla="*/ 1127 w 21600"/>
                          <a:gd name="T7" fmla="*/ 2434 h 21600"/>
                          <a:gd name="T8" fmla="*/ 0 w 21600"/>
                          <a:gd name="T9" fmla="*/ 1217 h 21600"/>
                          <a:gd name="T10" fmla="*/ 564 w 21600"/>
                          <a:gd name="T11" fmla="*/ 1217 h 21600"/>
                          <a:gd name="T12" fmla="*/ 1127 w 21600"/>
                          <a:gd name="T13" fmla="*/ 1826 h 21600"/>
                          <a:gd name="T14" fmla="*/ 1691 w 21600"/>
                          <a:gd name="T15" fmla="*/ 1217 h 21600"/>
                          <a:gd name="T16" fmla="*/ 1127 w 21600"/>
                          <a:gd name="T17" fmla="*/ 609 h 21600"/>
                          <a:gd name="T18" fmla="*/ 564 w 21600"/>
                          <a:gd name="T19" fmla="*/ 121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600"/>
                          <a:gd name="T31" fmla="*/ 0 h 21600"/>
                          <a:gd name="T32" fmla="*/ 21600 w 21600"/>
                          <a:gd name="T33" fmla="*/ 216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FF"/>
                      </a:solidFill>
                      <a:ln w="9525">
                        <a:solidFill>
                          <a:srgbClr val="000000"/>
                        </a:solidFill>
                        <a:round/>
                        <a:headEnd/>
                        <a:tailEnd/>
                      </a:ln>
                    </p:spPr>
                    <p:txBody>
                      <a:bodyPr/>
                      <a:lstStyle/>
                      <a:p>
                        <a:endParaRPr lang="en-US"/>
                      </a:p>
                    </p:txBody>
                  </p:sp>
                  <p:sp>
                    <p:nvSpPr>
                      <p:cNvPr id="22" name="Straight Connector 1073742924">
                        <a:extLst>
                          <a:ext uri="{FF2B5EF4-FFF2-40B4-BE49-F238E27FC236}">
                            <a16:creationId xmlns:a16="http://schemas.microsoft.com/office/drawing/2014/main" id="{B58DBF69-30DF-E1D1-CE5E-2F751422BF8E}"/>
                          </a:ext>
                        </a:extLst>
                      </p:cNvPr>
                      <p:cNvSpPr>
                        <a:spLocks noChangeShapeType="1"/>
                      </p:cNvSpPr>
                      <p:nvPr/>
                    </p:nvSpPr>
                    <p:spPr bwMode="auto">
                      <a:xfrm>
                        <a:off x="5760" y="1635"/>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Straight Connector 1073742925">
                        <a:extLst>
                          <a:ext uri="{FF2B5EF4-FFF2-40B4-BE49-F238E27FC236}">
                            <a16:creationId xmlns:a16="http://schemas.microsoft.com/office/drawing/2014/main" id="{C0973487-897C-2B4A-E55B-2F68F2578868}"/>
                          </a:ext>
                        </a:extLst>
                      </p:cNvPr>
                      <p:cNvSpPr>
                        <a:spLocks noChangeShapeType="1"/>
                      </p:cNvSpPr>
                      <p:nvPr/>
                    </p:nvSpPr>
                    <p:spPr bwMode="auto">
                      <a:xfrm>
                        <a:off x="5760" y="3465"/>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Straight Connector 1073742926">
                        <a:extLst>
                          <a:ext uri="{FF2B5EF4-FFF2-40B4-BE49-F238E27FC236}">
                            <a16:creationId xmlns:a16="http://schemas.microsoft.com/office/drawing/2014/main" id="{680130B3-DCDA-D27E-AC18-C783F2EF913D}"/>
                          </a:ext>
                        </a:extLst>
                      </p:cNvPr>
                      <p:cNvSpPr>
                        <a:spLocks noChangeShapeType="1"/>
                      </p:cNvSpPr>
                      <p:nvPr/>
                    </p:nvSpPr>
                    <p:spPr bwMode="auto">
                      <a:xfrm>
                        <a:off x="4680" y="285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Straight Connector 1073742927">
                        <a:extLst>
                          <a:ext uri="{FF2B5EF4-FFF2-40B4-BE49-F238E27FC236}">
                            <a16:creationId xmlns:a16="http://schemas.microsoft.com/office/drawing/2014/main" id="{37C04F90-5D78-8B23-83DB-F1BF1EB3D4A5}"/>
                          </a:ext>
                        </a:extLst>
                      </p:cNvPr>
                      <p:cNvSpPr>
                        <a:spLocks noChangeShapeType="1"/>
                      </p:cNvSpPr>
                      <p:nvPr/>
                    </p:nvSpPr>
                    <p:spPr bwMode="auto">
                      <a:xfrm>
                        <a:off x="6390" y="285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grpSp>
        <p:sp>
          <p:nvSpPr>
            <p:cNvPr id="5" name="Text Box 1073742928">
              <a:extLst>
                <a:ext uri="{FF2B5EF4-FFF2-40B4-BE49-F238E27FC236}">
                  <a16:creationId xmlns:a16="http://schemas.microsoft.com/office/drawing/2014/main" id="{499BDBEE-6BD6-C73A-2DC5-651EBB3891A6}"/>
                </a:ext>
              </a:extLst>
            </p:cNvPr>
            <p:cNvSpPr txBox="1">
              <a:spLocks noChangeArrowheads="1"/>
            </p:cNvSpPr>
            <p:nvPr/>
          </p:nvSpPr>
          <p:spPr bwMode="auto">
            <a:xfrm>
              <a:off x="6352" y="4605"/>
              <a:ext cx="577" cy="529"/>
            </a:xfrm>
            <a:prstGeom prst="rect">
              <a:avLst/>
            </a:prstGeom>
            <a:solidFill>
              <a:srgbClr val="FFFFFF"/>
            </a:solidFill>
            <a:ln w="9525">
              <a:solidFill>
                <a:srgbClr val="000000"/>
              </a:solidFill>
              <a:miter lim="800000"/>
              <a:headEnd/>
              <a:tailEnd/>
            </a:ln>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10</a:t>
              </a:r>
            </a:p>
            <a:p>
              <a:pPr eaLnBrk="1" hangingPunct="1">
                <a:buFontTx/>
                <a:buNone/>
              </a:pPr>
              <a:endParaRPr lang="en-US" altLang="zh-CN"/>
            </a:p>
          </p:txBody>
        </p:sp>
        <p:sp>
          <p:nvSpPr>
            <p:cNvPr id="6" name="Text Box 1073742929">
              <a:extLst>
                <a:ext uri="{FF2B5EF4-FFF2-40B4-BE49-F238E27FC236}">
                  <a16:creationId xmlns:a16="http://schemas.microsoft.com/office/drawing/2014/main" id="{CB1063A2-F579-7026-6E26-7452D5A8E8AD}"/>
                </a:ext>
              </a:extLst>
            </p:cNvPr>
            <p:cNvSpPr txBox="1">
              <a:spLocks noChangeArrowheads="1"/>
            </p:cNvSpPr>
            <p:nvPr/>
          </p:nvSpPr>
          <p:spPr bwMode="auto">
            <a:xfrm>
              <a:off x="6448" y="5675"/>
              <a:ext cx="587" cy="430"/>
            </a:xfrm>
            <a:prstGeom prst="rect">
              <a:avLst/>
            </a:prstGeom>
            <a:solidFill>
              <a:srgbClr val="FFFFFF"/>
            </a:solidFill>
            <a:ln w="9525">
              <a:solidFill>
                <a:srgbClr val="000000"/>
              </a:solidFill>
              <a:miter lim="800000"/>
              <a:headEnd/>
              <a:tailEnd/>
            </a:ln>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20</a:t>
              </a:r>
            </a:p>
            <a:p>
              <a:pPr eaLnBrk="1" hangingPunct="1">
                <a:buFontTx/>
                <a:buNone/>
              </a:pPr>
              <a:endParaRPr lang="en-US" altLang="zh-CN"/>
            </a:p>
          </p:txBody>
        </p:sp>
        <p:sp>
          <p:nvSpPr>
            <p:cNvPr id="7" name="Text Box 1073742930">
              <a:extLst>
                <a:ext uri="{FF2B5EF4-FFF2-40B4-BE49-F238E27FC236}">
                  <a16:creationId xmlns:a16="http://schemas.microsoft.com/office/drawing/2014/main" id="{A1C489DA-EC07-7DCC-B426-6FA460A8CA52}"/>
                </a:ext>
              </a:extLst>
            </p:cNvPr>
            <p:cNvSpPr txBox="1">
              <a:spLocks noChangeArrowheads="1"/>
            </p:cNvSpPr>
            <p:nvPr/>
          </p:nvSpPr>
          <p:spPr bwMode="auto">
            <a:xfrm>
              <a:off x="5103" y="4605"/>
              <a:ext cx="577" cy="529"/>
            </a:xfrm>
            <a:prstGeom prst="rect">
              <a:avLst/>
            </a:prstGeom>
            <a:solidFill>
              <a:srgbClr val="FFFFFF"/>
            </a:solidFill>
            <a:ln w="9525">
              <a:solidFill>
                <a:srgbClr val="000000"/>
              </a:solidFill>
              <a:miter lim="800000"/>
              <a:headEnd/>
              <a:tailEnd/>
            </a:ln>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40</a:t>
              </a:r>
            </a:p>
            <a:p>
              <a:pPr eaLnBrk="1" hangingPunct="1">
                <a:buFontTx/>
                <a:buNone/>
              </a:pPr>
              <a:endParaRPr lang="en-US" altLang="zh-CN"/>
            </a:p>
          </p:txBody>
        </p:sp>
        <p:sp>
          <p:nvSpPr>
            <p:cNvPr id="8" name="Text Box 1073742931">
              <a:extLst>
                <a:ext uri="{FF2B5EF4-FFF2-40B4-BE49-F238E27FC236}">
                  <a16:creationId xmlns:a16="http://schemas.microsoft.com/office/drawing/2014/main" id="{8059E2ED-570E-AF77-A983-D0C5C13AE196}"/>
                </a:ext>
              </a:extLst>
            </p:cNvPr>
            <p:cNvSpPr txBox="1">
              <a:spLocks noChangeArrowheads="1"/>
            </p:cNvSpPr>
            <p:nvPr/>
          </p:nvSpPr>
          <p:spPr bwMode="auto">
            <a:xfrm>
              <a:off x="5141" y="5675"/>
              <a:ext cx="539" cy="430"/>
            </a:xfrm>
            <a:prstGeom prst="rect">
              <a:avLst/>
            </a:prstGeom>
            <a:solidFill>
              <a:srgbClr val="FFFFFF"/>
            </a:solidFill>
            <a:ln w="9525">
              <a:solidFill>
                <a:srgbClr val="000000"/>
              </a:solidFill>
              <a:miter lim="800000"/>
              <a:headEnd/>
              <a:tailEnd/>
            </a:ln>
          </p:spPr>
          <p:txBody>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Tx/>
                <a:buNone/>
              </a:pPr>
              <a:r>
                <a:rPr lang="en-US" altLang="zh-CN"/>
                <a:t>30</a:t>
              </a:r>
            </a:p>
            <a:p>
              <a:pPr eaLnBrk="1" hangingPunct="1">
                <a:buFontTx/>
                <a:buNone/>
              </a:pPr>
              <a:endParaRPr lang="en-US" altLang="zh-CN"/>
            </a:p>
          </p:txBody>
        </p:sp>
        <p:cxnSp>
          <p:nvCxnSpPr>
            <p:cNvPr id="9" name="Straight Arrow Connector 1073742932">
              <a:extLst>
                <a:ext uri="{FF2B5EF4-FFF2-40B4-BE49-F238E27FC236}">
                  <a16:creationId xmlns:a16="http://schemas.microsoft.com/office/drawing/2014/main" id="{C66DFD03-D3C6-8B18-CB8C-77FC5E8923B2}"/>
                </a:ext>
              </a:extLst>
            </p:cNvPr>
            <p:cNvCxnSpPr>
              <a:cxnSpLocks noChangeShapeType="1"/>
            </p:cNvCxnSpPr>
            <p:nvPr/>
          </p:nvCxnSpPr>
          <p:spPr bwMode="auto">
            <a:xfrm>
              <a:off x="6247" y="4605"/>
              <a:ext cx="788" cy="52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 name="Straight Arrow Connector 1073742934">
              <a:extLst>
                <a:ext uri="{FF2B5EF4-FFF2-40B4-BE49-F238E27FC236}">
                  <a16:creationId xmlns:a16="http://schemas.microsoft.com/office/drawing/2014/main" id="{48635967-DFDC-BD06-B670-2D336C98446A}"/>
                </a:ext>
              </a:extLst>
            </p:cNvPr>
            <p:cNvCxnSpPr>
              <a:cxnSpLocks noChangeShapeType="1"/>
            </p:cNvCxnSpPr>
            <p:nvPr/>
          </p:nvCxnSpPr>
          <p:spPr bwMode="auto">
            <a:xfrm flipV="1">
              <a:off x="6247" y="4605"/>
              <a:ext cx="788" cy="52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1" name="Straight Arrow Connector 1073742935">
              <a:extLst>
                <a:ext uri="{FF2B5EF4-FFF2-40B4-BE49-F238E27FC236}">
                  <a16:creationId xmlns:a16="http://schemas.microsoft.com/office/drawing/2014/main" id="{54B45DE6-0B01-A482-F9DD-7D28DBF8295C}"/>
                </a:ext>
              </a:extLst>
            </p:cNvPr>
            <p:cNvCxnSpPr>
              <a:cxnSpLocks noChangeShapeType="1"/>
            </p:cNvCxnSpPr>
            <p:nvPr/>
          </p:nvCxnSpPr>
          <p:spPr bwMode="auto">
            <a:xfrm flipH="1">
              <a:off x="6352" y="5675"/>
              <a:ext cx="788" cy="46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2" name="Straight Arrow Connector 1073742936">
              <a:extLst>
                <a:ext uri="{FF2B5EF4-FFF2-40B4-BE49-F238E27FC236}">
                  <a16:creationId xmlns:a16="http://schemas.microsoft.com/office/drawing/2014/main" id="{B84EBB6C-23AF-8FA6-5D78-D99F4603E78B}"/>
                </a:ext>
              </a:extLst>
            </p:cNvPr>
            <p:cNvCxnSpPr>
              <a:cxnSpLocks noChangeShapeType="1"/>
            </p:cNvCxnSpPr>
            <p:nvPr/>
          </p:nvCxnSpPr>
          <p:spPr bwMode="auto">
            <a:xfrm>
              <a:off x="6352" y="5614"/>
              <a:ext cx="788" cy="52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82287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F1A700A0-C031-22DF-DE3C-51581AE753B1}"/>
              </a:ext>
            </a:extLst>
          </p:cNvPr>
          <p:cNvSpPr txBox="1">
            <a:spLocks/>
          </p:cNvSpPr>
          <p:nvPr/>
        </p:nvSpPr>
        <p:spPr>
          <a:xfrm>
            <a:off x="2716258" y="482779"/>
            <a:ext cx="7869237" cy="44148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just">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If we try to insert an element to the queue we follow 2 steps </a:t>
            </a:r>
          </a:p>
          <a:p>
            <a:pPr algn="just">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Increment rear pointer.</a:t>
            </a:r>
          </a:p>
          <a:p>
            <a:pPr algn="just">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Insert item to q[ ] pointed by rear.</a:t>
            </a:r>
          </a:p>
          <a:p>
            <a:pPr algn="just">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Since this is a circular queue, once rear pointer reaches the end position the next one will be the first position. To attain this we use the statement r = ( r + 1 ) %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queuesize</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algn="just">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EX: ( 3 + 1 ) % 4 = 4 % 4 = 0 (first position)</a:t>
            </a:r>
          </a:p>
          <a:p>
            <a:pPr algn="just">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If this approach is used, to check for queue overflow and underflow, we use a variable called as ‘count’. Count contains the number of items or elements present in the queue at any instant. Therefore, count = 0 means the queue is empty and count =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queuesize</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means the queue is full.</a:t>
            </a:r>
          </a:p>
        </p:txBody>
      </p:sp>
    </p:spTree>
    <p:extLst>
      <p:ext uri="{BB962C8B-B14F-4D97-AF65-F5344CB8AC3E}">
        <p14:creationId xmlns:p14="http://schemas.microsoft.com/office/powerpoint/2010/main" val="391975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1AFBBB42-E102-A6AF-6F92-FBA5DBF225BC}"/>
              </a:ext>
            </a:extLst>
          </p:cNvPr>
          <p:cNvSpPr txBox="1">
            <a:spLocks/>
          </p:cNvSpPr>
          <p:nvPr/>
        </p:nvSpPr>
        <p:spPr>
          <a:xfrm>
            <a:off x="2716258" y="77016"/>
            <a:ext cx="8584580" cy="6858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110000"/>
              </a:lnSpc>
              <a:spcAft>
                <a:spcPct val="0"/>
              </a:spcAft>
              <a:buNone/>
            </a:pP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Note:</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1.In a queue (circular or linear), if we want to insert we follow insert rear and if we want to delete we follow delete front.</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2.When an item is inserted and if rear points to the last position, we can insert one more item if and only if the queue does not contain any item in the first position, otherwise it will be queue overflow state.</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3.For a circular queue to</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Insert we follow</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r = ( r + 1 ) % </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queuesize</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q[r] = item</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count = count + 1</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Delete we follow</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item = q[f]</a:t>
            </a: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f = ( f + 1 ) % </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queuesize</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gn="just">
              <a:lnSpc>
                <a:spcPct val="110000"/>
              </a:lnSpc>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count = count – 1</a:t>
            </a:r>
          </a:p>
        </p:txBody>
      </p:sp>
    </p:spTree>
    <p:extLst>
      <p:ext uri="{BB962C8B-B14F-4D97-AF65-F5344CB8AC3E}">
        <p14:creationId xmlns:p14="http://schemas.microsoft.com/office/powerpoint/2010/main" val="3196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1B95A09C-7DD0-256C-3957-4D73D92356AE}"/>
              </a:ext>
            </a:extLst>
          </p:cNvPr>
          <p:cNvSpPr txBox="1">
            <a:spLocks/>
          </p:cNvSpPr>
          <p:nvPr/>
        </p:nvSpPr>
        <p:spPr>
          <a:xfrm>
            <a:off x="3516241" y="331309"/>
            <a:ext cx="7316787" cy="4289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85750" indent="-285750">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 empty and full we follow</a:t>
            </a:r>
          </a:p>
          <a:p>
            <a:pPr marL="285750" indent="-285750">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count = 0 for queue is empty</a:t>
            </a:r>
          </a:p>
          <a:p>
            <a:pPr marL="285750" indent="-285750">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count =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queuesize</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for queue is full</a:t>
            </a:r>
          </a:p>
        </p:txBody>
      </p:sp>
    </p:spTree>
    <p:extLst>
      <p:ext uri="{BB962C8B-B14F-4D97-AF65-F5344CB8AC3E}">
        <p14:creationId xmlns:p14="http://schemas.microsoft.com/office/powerpoint/2010/main" val="2902223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A023D4B0-E472-C1BF-511E-CBA3148925AC}"/>
              </a:ext>
            </a:extLst>
          </p:cNvPr>
          <p:cNvSpPr txBox="1">
            <a:spLocks/>
          </p:cNvSpPr>
          <p:nvPr/>
        </p:nvSpPr>
        <p:spPr>
          <a:xfrm>
            <a:off x="2541083" y="659039"/>
            <a:ext cx="7735887" cy="41433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void insert_rear(int item, int r, int count, int q[])</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if(count = = queuesize)</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printf("queue overflow\n");</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return;</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rear = (rear+1) % queuesize;</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q[rear] = item;</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count = count + 1;</a:t>
            </a:r>
          </a:p>
          <a:p>
            <a:pPr marL="114300" indent="0">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a:t>
            </a:r>
          </a:p>
        </p:txBody>
      </p:sp>
    </p:spTree>
    <p:extLst>
      <p:ext uri="{BB962C8B-B14F-4D97-AF65-F5344CB8AC3E}">
        <p14:creationId xmlns:p14="http://schemas.microsoft.com/office/powerpoint/2010/main" val="391982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8E5B2D8C-31E0-389B-DFAF-CD3CECF39EA9}"/>
              </a:ext>
            </a:extLst>
          </p:cNvPr>
          <p:cNvSpPr txBox="1">
            <a:spLocks/>
          </p:cNvSpPr>
          <p:nvPr/>
        </p:nvSpPr>
        <p:spPr>
          <a:xfrm>
            <a:off x="2826483" y="797083"/>
            <a:ext cx="8168088" cy="510297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void delete_front(int f, int count, int q[])</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int item;</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if(count = = 0)</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printf("queue is empty\n");</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return;</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item = q[front];</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printf("\nthe item deleted is %d",item);</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front = (front+1) % queuesize;</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  count = count - 1;</a:t>
            </a:r>
          </a:p>
          <a:p>
            <a:pPr marL="114300" indent="0">
              <a:lnSpc>
                <a:spcPct val="80000"/>
              </a:lnSpc>
              <a:spcAft>
                <a:spcPct val="0"/>
              </a:spcAft>
              <a:buNone/>
            </a:pPr>
            <a:r>
              <a:rPr lang="en-US" altLang="zh-CN" sz="2000" noProof="1">
                <a:latin typeface="Times New Roman" panose="02020603050405020304" pitchFamily="18" charset="0"/>
                <a:cs typeface="Times New Roman" panose="02020603050405020304" pitchFamily="18" charset="0"/>
                <a:sym typeface="Calibri" panose="020F0502020204030204" pitchFamily="34" charset="0"/>
              </a:rPr>
              <a:t>}</a:t>
            </a:r>
          </a:p>
        </p:txBody>
      </p:sp>
    </p:spTree>
    <p:extLst>
      <p:ext uri="{BB962C8B-B14F-4D97-AF65-F5344CB8AC3E}">
        <p14:creationId xmlns:p14="http://schemas.microsoft.com/office/powerpoint/2010/main" val="175451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2206AE82-3ABC-6C67-2D6B-6054DE1233E5}"/>
              </a:ext>
            </a:extLst>
          </p:cNvPr>
          <p:cNvSpPr txBox="1">
            <a:spLocks/>
          </p:cNvSpPr>
          <p:nvPr/>
        </p:nvSpPr>
        <p:spPr>
          <a:xfrm>
            <a:off x="2779117" y="651668"/>
            <a:ext cx="7418387" cy="456088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void display(int f, int count, int q[])</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int i;</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if(count = = 0)</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printf("queue is empty\n");</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return;</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printf("the contents of the queue are\n");</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for(i=1,f=front;i&lt;=count;i++)</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printf("%d\n",q[f]);</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f = (f+1) % queuesize;</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6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a:t>
            </a:r>
          </a:p>
        </p:txBody>
      </p:sp>
    </p:spTree>
    <p:extLst>
      <p:ext uri="{BB962C8B-B14F-4D97-AF65-F5344CB8AC3E}">
        <p14:creationId xmlns:p14="http://schemas.microsoft.com/office/powerpoint/2010/main" val="145173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9CA75C28-82B8-CC33-42B3-56AFC3495AC1}"/>
              </a:ext>
            </a:extLst>
          </p:cNvPr>
          <p:cNvSpPr txBox="1">
            <a:spLocks/>
          </p:cNvSpPr>
          <p:nvPr/>
        </p:nvSpPr>
        <p:spPr>
          <a:xfrm>
            <a:off x="2826483" y="434521"/>
            <a:ext cx="8266060" cy="5552622"/>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150000"/>
              </a:lnSpc>
              <a:spcAft>
                <a:spcPct val="0"/>
              </a:spcAft>
              <a:buNone/>
            </a:pPr>
            <a:r>
              <a:rPr lang="en-US" altLang="zh-CN" sz="2000" b="1"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Applications of Queues</a:t>
            </a:r>
          </a:p>
          <a:p>
            <a:pPr algn="just">
              <a:lnSpc>
                <a:spcPct val="150000"/>
              </a:lnSpc>
              <a:spcAft>
                <a:spcPct val="0"/>
              </a:spcAft>
              <a:buFontTx/>
              <a:buChar char="•"/>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One major application of queue is in simulation which is studied as queuing theory in operation research. The main objective of this simulation is to study the real life situation (problem) under the control of various parameters (waiting time, input flow rate, servicing time </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etc</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which affects the queuing problem.</a:t>
            </a:r>
          </a:p>
          <a:p>
            <a:pPr algn="just">
              <a:lnSpc>
                <a:spcPct val="150000"/>
              </a:lnSpc>
              <a:spcAft>
                <a:spcPct val="0"/>
              </a:spcAft>
              <a:buFontTx/>
              <a:buChar char="•"/>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Queues are used in time sharing systems in which processes form a queue while waiting to be executed.</a:t>
            </a:r>
          </a:p>
          <a:p>
            <a:pPr algn="just">
              <a:lnSpc>
                <a:spcPct val="150000"/>
              </a:lnSpc>
              <a:spcAft>
                <a:spcPct val="0"/>
              </a:spcAft>
              <a:buFontTx/>
              <a:buChar char="•"/>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They are used in network communication systems.</a:t>
            </a:r>
          </a:p>
          <a:p>
            <a:pPr algn="just">
              <a:lnSpc>
                <a:spcPct val="150000"/>
              </a:lnSpc>
              <a:spcAft>
                <a:spcPct val="0"/>
              </a:spcAft>
              <a:buFontTx/>
              <a:buChar char="•"/>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They are used in operating system to handle </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 request, while waiting for a specific device to get the service.</a:t>
            </a:r>
          </a:p>
        </p:txBody>
      </p:sp>
    </p:spTree>
    <p:extLst>
      <p:ext uri="{BB962C8B-B14F-4D97-AF65-F5344CB8AC3E}">
        <p14:creationId xmlns:p14="http://schemas.microsoft.com/office/powerpoint/2010/main" val="1851204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D4506E73-1533-8ED3-8569-A4C71E17553A}"/>
              </a:ext>
            </a:extLst>
          </p:cNvPr>
          <p:cNvSpPr txBox="1">
            <a:spLocks/>
          </p:cNvSpPr>
          <p:nvPr/>
        </p:nvSpPr>
        <p:spPr>
          <a:xfrm>
            <a:off x="2442084" y="571727"/>
            <a:ext cx="8775343" cy="502651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Circular Queues using Dynamic Arrays (with the concept of array doubling)</a:t>
            </a:r>
          </a:p>
          <a:p>
            <a:pPr>
              <a:spcAft>
                <a:spcPct val="0"/>
              </a:spcAft>
            </a:pP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Disadvantage of using arrays to implement queue are shown below:</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If arrays are used to implement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queues,the</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maximum size of the queue(QUE_SIZE) should be known during compilation.</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Once the Size of the queue is fixed during compilation ,it is not possible to alter the size of the queue during execution.</a:t>
            </a:r>
          </a:p>
          <a:p>
            <a:pPr>
              <a:spcAft>
                <a:spcPct val="0"/>
              </a:spcAft>
              <a:buFontTx/>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This disadvantage can overcome using dynamic arrays.</a:t>
            </a:r>
          </a:p>
          <a:p>
            <a:pPr>
              <a:spcAft>
                <a:spcPct val="0"/>
              </a:spcAft>
              <a:buFontTx/>
              <a:buNone/>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144335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756A0A9C-F4FD-D613-6857-FCB8FDB230A2}"/>
              </a:ext>
            </a:extLst>
          </p:cNvPr>
          <p:cNvSpPr txBox="1">
            <a:spLocks/>
          </p:cNvSpPr>
          <p:nvPr/>
        </p:nvSpPr>
        <p:spPr>
          <a:xfrm>
            <a:off x="2331859" y="370997"/>
            <a:ext cx="8885568" cy="421005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 this case just doubling the array size is not sufficient because as ordering of elements and re-initialization of front and rear pointers need to be done. </a:t>
            </a:r>
          </a:p>
          <a:p>
            <a:pPr>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For example consider a circular queue with queue size 5, after inserting 5 elements the structure is as shown below.</a:t>
            </a:r>
          </a:p>
          <a:p>
            <a:pPr>
              <a:spcAft>
                <a:spcPct val="0"/>
              </a:spcAft>
            </a:pPr>
            <a:endParaRPr lang="en-US" altLang="zh-CN" sz="18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4">
            <a:extLst>
              <a:ext uri="{FF2B5EF4-FFF2-40B4-BE49-F238E27FC236}">
                <a16:creationId xmlns:a16="http://schemas.microsoft.com/office/drawing/2014/main" id="{E6DB500D-255E-23C4-8F6E-247701032FBE}"/>
              </a:ext>
            </a:extLst>
          </p:cNvPr>
          <p:cNvGraphicFramePr>
            <a:graphicFrameLocks/>
          </p:cNvGraphicFramePr>
          <p:nvPr/>
        </p:nvGraphicFramePr>
        <p:xfrm>
          <a:off x="3696259" y="2476022"/>
          <a:ext cx="7102641" cy="2665018"/>
        </p:xfrm>
        <a:graphic>
          <a:graphicData uri="http://schemas.openxmlformats.org/presentationml/2006/ole">
            <mc:AlternateContent xmlns:mc="http://schemas.openxmlformats.org/markup-compatibility/2006">
              <mc:Choice xmlns:v="urn:schemas-microsoft-com:vml" Requires="v">
                <p:oleObj r:id="rId4" imgW="5315692" imgH="1181265" progId="Paint.Picture">
                  <p:embed/>
                </p:oleObj>
              </mc:Choice>
              <mc:Fallback>
                <p:oleObj r:id="rId4" imgW="5315692" imgH="1181265" progId="Paint.Picture">
                  <p:embed/>
                  <p:pic>
                    <p:nvPicPr>
                      <p:cNvPr id="3" name="Object 4">
                        <a:extLst>
                          <a:ext uri="{FF2B5EF4-FFF2-40B4-BE49-F238E27FC236}">
                            <a16:creationId xmlns:a16="http://schemas.microsoft.com/office/drawing/2014/main" id="{E6DB500D-255E-23C4-8F6E-247701032FB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259" y="2476022"/>
                        <a:ext cx="7102641" cy="266501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27001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78EF6CF6-9A18-6380-BD38-E82DAF189290}"/>
              </a:ext>
            </a:extLst>
          </p:cNvPr>
          <p:cNvSpPr txBox="1">
            <a:spLocks/>
          </p:cNvSpPr>
          <p:nvPr/>
        </p:nvSpPr>
        <p:spPr>
          <a:xfrm>
            <a:off x="2777464" y="0"/>
            <a:ext cx="7793038" cy="429101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After deleting 3 elements we obtain the following structure</a:t>
            </a:r>
            <a:r>
              <a:rPr lang="en-US" altLang="zh-CN" sz="18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a:t>
            </a:r>
          </a:p>
          <a:p>
            <a:pPr>
              <a:spcAft>
                <a:spcPct val="0"/>
              </a:spcAft>
            </a:pPr>
            <a:endParaRPr lang="en-US" altLang="zh-CN" sz="18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3">
            <a:extLst>
              <a:ext uri="{FF2B5EF4-FFF2-40B4-BE49-F238E27FC236}">
                <a16:creationId xmlns:a16="http://schemas.microsoft.com/office/drawing/2014/main" id="{771FB604-98FB-1EB3-0F1D-EEBC726A5B66}"/>
              </a:ext>
            </a:extLst>
          </p:cNvPr>
          <p:cNvGraphicFramePr>
            <a:graphicFrameLocks/>
          </p:cNvGraphicFramePr>
          <p:nvPr/>
        </p:nvGraphicFramePr>
        <p:xfrm>
          <a:off x="4786445" y="1059655"/>
          <a:ext cx="4956269" cy="1456286"/>
        </p:xfrm>
        <a:graphic>
          <a:graphicData uri="http://schemas.openxmlformats.org/presentationml/2006/ole">
            <mc:AlternateContent xmlns:mc="http://schemas.openxmlformats.org/markup-compatibility/2006">
              <mc:Choice xmlns:v="urn:schemas-microsoft-com:vml" Requires="v">
                <p:oleObj r:id="rId4" imgW="3772427" imgH="1085714" progId="Paint.Picture">
                  <p:embed/>
                </p:oleObj>
              </mc:Choice>
              <mc:Fallback>
                <p:oleObj r:id="rId4" imgW="3772427" imgH="1085714" progId="Paint.Picture">
                  <p:embed/>
                  <p:pic>
                    <p:nvPicPr>
                      <p:cNvPr id="3" name="Object 3">
                        <a:extLst>
                          <a:ext uri="{FF2B5EF4-FFF2-40B4-BE49-F238E27FC236}">
                            <a16:creationId xmlns:a16="http://schemas.microsoft.com/office/drawing/2014/main" id="{771FB604-98FB-1EB3-0F1D-EEBC726A5B6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6445" y="1059655"/>
                        <a:ext cx="4956269" cy="1456286"/>
                      </a:xfrm>
                      <a:prstGeom prst="rect">
                        <a:avLst/>
                      </a:prstGeom>
                      <a:noFill/>
                      <a:ln>
                        <a:noFill/>
                      </a:ln>
                    </p:spPr>
                  </p:pic>
                </p:oleObj>
              </mc:Fallback>
            </mc:AlternateContent>
          </a:graphicData>
        </a:graphic>
      </p:graphicFrame>
      <p:sp>
        <p:nvSpPr>
          <p:cNvPr id="4" name="Text Box 99">
            <a:extLst>
              <a:ext uri="{FF2B5EF4-FFF2-40B4-BE49-F238E27FC236}">
                <a16:creationId xmlns:a16="http://schemas.microsoft.com/office/drawing/2014/main" id="{AF6E37BE-2C57-FCB7-B810-D028511BD45A}"/>
              </a:ext>
            </a:extLst>
          </p:cNvPr>
          <p:cNvSpPr txBox="1">
            <a:spLocks noChangeArrowheads="1"/>
          </p:cNvSpPr>
          <p:nvPr/>
        </p:nvSpPr>
        <p:spPr bwMode="auto">
          <a:xfrm>
            <a:off x="3327870" y="2699068"/>
            <a:ext cx="74120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spcBef>
                <a:spcPts val="1000"/>
              </a:spcBef>
              <a:buClr>
                <a:srgbClr val="353535"/>
              </a:buClr>
              <a:buFontTx/>
              <a:buNone/>
            </a:pPr>
            <a:r>
              <a:rPr lang="en-US" altLang="zh-CN" sz="2000" dirty="0">
                <a:solidFill>
                  <a:srgbClr val="404040"/>
                </a:solidFill>
                <a:latin typeface="Times New Roman" panose="02020603050405020304" pitchFamily="18" charset="0"/>
                <a:cs typeface="Times New Roman" panose="02020603050405020304" pitchFamily="18" charset="0"/>
              </a:rPr>
              <a:t>Now insert 3 elements into the queue we get the following structure.</a:t>
            </a:r>
          </a:p>
        </p:txBody>
      </p:sp>
      <p:graphicFrame>
        <p:nvGraphicFramePr>
          <p:cNvPr id="5" name="Object 5">
            <a:extLst>
              <a:ext uri="{FF2B5EF4-FFF2-40B4-BE49-F238E27FC236}">
                <a16:creationId xmlns:a16="http://schemas.microsoft.com/office/drawing/2014/main" id="{F10D0E28-0DE1-D6CE-247E-567184A226C3}"/>
              </a:ext>
            </a:extLst>
          </p:cNvPr>
          <p:cNvGraphicFramePr>
            <a:graphicFrameLocks/>
          </p:cNvGraphicFramePr>
          <p:nvPr/>
        </p:nvGraphicFramePr>
        <p:xfrm>
          <a:off x="4126281" y="3775697"/>
          <a:ext cx="6062747" cy="1917532"/>
        </p:xfrm>
        <a:graphic>
          <a:graphicData uri="http://schemas.openxmlformats.org/presentationml/2006/ole">
            <mc:AlternateContent xmlns:mc="http://schemas.openxmlformats.org/markup-compatibility/2006">
              <mc:Choice xmlns:v="urn:schemas-microsoft-com:vml" Requires="v">
                <p:oleObj r:id="rId6" imgW="5504762" imgH="1047619" progId="Paint.Picture">
                  <p:embed/>
                </p:oleObj>
              </mc:Choice>
              <mc:Fallback>
                <p:oleObj r:id="rId6" imgW="5504762" imgH="1047619" progId="Paint.Picture">
                  <p:embed/>
                  <p:pic>
                    <p:nvPicPr>
                      <p:cNvPr id="5" name="Object 5">
                        <a:extLst>
                          <a:ext uri="{FF2B5EF4-FFF2-40B4-BE49-F238E27FC236}">
                            <a16:creationId xmlns:a16="http://schemas.microsoft.com/office/drawing/2014/main" id="{F10D0E28-0DE1-D6CE-247E-567184A226C3}"/>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6281" y="3775697"/>
                        <a:ext cx="6062747" cy="191753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32425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E2FE9DC3-B273-C772-96D2-5B468CE2B426}"/>
              </a:ext>
            </a:extLst>
          </p:cNvPr>
          <p:cNvSpPr txBox="1">
            <a:spLocks/>
          </p:cNvSpPr>
          <p:nvPr/>
        </p:nvSpPr>
        <p:spPr>
          <a:xfrm>
            <a:off x="2541083" y="550227"/>
            <a:ext cx="8676344" cy="39735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nSpc>
                <a:spcPct val="150000"/>
              </a:lnSpc>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this point, just doubling the array size is not sufficient, the elements need to be copied in correct order, and the front and rear pointers need be re-initialized appropriately.</a:t>
            </a:r>
          </a:p>
          <a:p>
            <a:pPr>
              <a:spcAft>
                <a:spcPct val="0"/>
              </a:spcAft>
            </a:pPr>
            <a:endParaRPr lang="en-US" altLang="zh-CN" sz="18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3">
            <a:extLst>
              <a:ext uri="{FF2B5EF4-FFF2-40B4-BE49-F238E27FC236}">
                <a16:creationId xmlns:a16="http://schemas.microsoft.com/office/drawing/2014/main" id="{DEACF94F-6CEF-8A67-F71A-1BC6218CBE3D}"/>
              </a:ext>
            </a:extLst>
          </p:cNvPr>
          <p:cNvGraphicFramePr>
            <a:graphicFrameLocks/>
          </p:cNvGraphicFramePr>
          <p:nvPr/>
        </p:nvGraphicFramePr>
        <p:xfrm>
          <a:off x="3104962" y="2701689"/>
          <a:ext cx="7728065" cy="1511082"/>
        </p:xfrm>
        <a:graphic>
          <a:graphicData uri="http://schemas.openxmlformats.org/presentationml/2006/ole">
            <mc:AlternateContent xmlns:mc="http://schemas.openxmlformats.org/markup-compatibility/2006">
              <mc:Choice xmlns:v="urn:schemas-microsoft-com:vml" Requires="v">
                <p:oleObj r:id="rId4" imgW="6590476" imgH="990738" progId="Paint.Picture">
                  <p:embed/>
                </p:oleObj>
              </mc:Choice>
              <mc:Fallback>
                <p:oleObj r:id="rId4" imgW="6590476" imgH="990738" progId="Paint.Picture">
                  <p:embed/>
                  <p:pic>
                    <p:nvPicPr>
                      <p:cNvPr id="3" name="Object 3">
                        <a:extLst>
                          <a:ext uri="{FF2B5EF4-FFF2-40B4-BE49-F238E27FC236}">
                            <a16:creationId xmlns:a16="http://schemas.microsoft.com/office/drawing/2014/main" id="{DEACF94F-6CEF-8A67-F71A-1BC6218CBE3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4962" y="2701689"/>
                        <a:ext cx="7728065" cy="151108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84223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0DDEB5C0-C413-51C9-103C-B054544A7208}"/>
              </a:ext>
            </a:extLst>
          </p:cNvPr>
          <p:cNvSpPr txBox="1">
            <a:spLocks/>
          </p:cNvSpPr>
          <p:nvPr/>
        </p:nvSpPr>
        <p:spPr>
          <a:xfrm>
            <a:off x="2442083" y="402270"/>
            <a:ext cx="8775343" cy="547601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400" b="1"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Multiple Stacks </a:t>
            </a:r>
          </a:p>
          <a:p>
            <a:pPr>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If we have to represent 2 stacks in a single array, then we can use</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s[0] to represent the bottom element of stack 1 and s[</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stack_size</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to represent the bottom element of stack 2.</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top1 corresponding to stack 1 will be initialized to -1 and top2 corresponding to stack 2 will be initialized to stack_size-1.</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stack 1 will grow towards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stack_size</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-1 </a:t>
            </a:r>
          </a:p>
        </p:txBody>
      </p:sp>
    </p:spTree>
    <p:extLst>
      <p:ext uri="{BB962C8B-B14F-4D97-AF65-F5344CB8AC3E}">
        <p14:creationId xmlns:p14="http://schemas.microsoft.com/office/powerpoint/2010/main" val="404947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8AA108F7-CDBB-2D48-883A-11F188DD21A6}"/>
              </a:ext>
            </a:extLst>
          </p:cNvPr>
          <p:cNvSpPr txBox="1">
            <a:spLocks/>
          </p:cNvSpPr>
          <p:nvPr/>
        </p:nvSpPr>
        <p:spPr>
          <a:xfrm>
            <a:off x="2541083" y="375759"/>
            <a:ext cx="7599363" cy="42005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With this representation, we can efficiently use all the available space and the idea is as shown in the below figure.</a:t>
            </a:r>
          </a:p>
          <a:p>
            <a:pPr>
              <a:spcAft>
                <a:spcPct val="0"/>
              </a:spcAft>
            </a:pPr>
            <a:endParaRPr lang="en-US" altLang="zh-CN" sz="18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1">
            <a:extLst>
              <a:ext uri="{FF2B5EF4-FFF2-40B4-BE49-F238E27FC236}">
                <a16:creationId xmlns:a16="http://schemas.microsoft.com/office/drawing/2014/main" id="{66718409-7803-A90A-EEA5-5B52EE4366CA}"/>
              </a:ext>
            </a:extLst>
          </p:cNvPr>
          <p:cNvGraphicFramePr>
            <a:graphicFrameLocks/>
          </p:cNvGraphicFramePr>
          <p:nvPr/>
        </p:nvGraphicFramePr>
        <p:xfrm>
          <a:off x="3327688" y="1780695"/>
          <a:ext cx="6812757" cy="2301447"/>
        </p:xfrm>
        <a:graphic>
          <a:graphicData uri="http://schemas.openxmlformats.org/presentationml/2006/ole">
            <mc:AlternateContent xmlns:mc="http://schemas.openxmlformats.org/markup-compatibility/2006">
              <mc:Choice xmlns:v="urn:schemas-microsoft-com:vml" Requires="v">
                <p:oleObj r:id="rId4" imgW="6020640" imgH="1390844" progId="Paint.Picture">
                  <p:embed/>
                </p:oleObj>
              </mc:Choice>
              <mc:Fallback>
                <p:oleObj r:id="rId4" imgW="6020640" imgH="1390844" progId="Paint.Picture">
                  <p:embed/>
                  <p:pic>
                    <p:nvPicPr>
                      <p:cNvPr id="3" name="Object 1">
                        <a:extLst>
                          <a:ext uri="{FF2B5EF4-FFF2-40B4-BE49-F238E27FC236}">
                            <a16:creationId xmlns:a16="http://schemas.microsoft.com/office/drawing/2014/main" id="{66718409-7803-A90A-EEA5-5B52EE4366C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7688" y="1780695"/>
                        <a:ext cx="6812757" cy="23014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861170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0018C7F6-88AF-730A-B167-6F1D73CAC4B2}"/>
              </a:ext>
            </a:extLst>
          </p:cNvPr>
          <p:cNvSpPr txBox="1">
            <a:spLocks/>
          </p:cNvSpPr>
          <p:nvPr/>
        </p:nvSpPr>
        <p:spPr>
          <a:xfrm>
            <a:off x="2777464" y="470807"/>
            <a:ext cx="7691438" cy="42560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Representing more than 2 stacks in a single array poses problems since we no longer have an obvious point for the bottom element of each stack. Two possible solutions for ‘n’ stacks in a single array are</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Divide the array into ‘n’ segments based on the expected sizes of various stacks.</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Divide the array into ‘n’ equal segments.</a:t>
            </a: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149546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4E5A66DF-AA61-BFEC-9278-2D9D872A40C1}"/>
              </a:ext>
            </a:extLst>
          </p:cNvPr>
          <p:cNvSpPr txBox="1">
            <a:spLocks/>
          </p:cNvSpPr>
          <p:nvPr/>
        </p:nvSpPr>
        <p:spPr>
          <a:xfrm>
            <a:off x="2777464" y="561020"/>
            <a:ext cx="7554913" cy="43910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For dividing the array into ‘n’ equal segments the following pseudocode can be used.</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#define </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stack_size</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100	// memory size</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#define </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max_stacks</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10	// maximum number of stacks</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int s[</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stack_size</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 stack array</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int n;			// number of stacks</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int top[</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max_stacks</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 variable top for each of the ‘n’ stacks</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int boundary[</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max_stacks</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 to check for boundary conditions</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a:spcAft>
                <a:spcPct val="0"/>
              </a:spcAft>
            </a:pPr>
            <a:endParaRPr lang="en-US" altLang="zh-CN" sz="16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2609801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166983" y="5060430"/>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A0C79663-AA66-D571-42F4-834CF28B5B28}"/>
              </a:ext>
            </a:extLst>
          </p:cNvPr>
          <p:cNvSpPr txBox="1">
            <a:spLocks/>
          </p:cNvSpPr>
          <p:nvPr/>
        </p:nvSpPr>
        <p:spPr>
          <a:xfrm>
            <a:off x="2460068" y="470128"/>
            <a:ext cx="7804150" cy="431323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for(j = 0; j &lt;= n; j + + )</a:t>
            </a:r>
          </a:p>
          <a:p>
            <a:pPr marL="114300" indent="0">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marL="114300" indent="0">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top[j] = boundary[j] = </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stack_size</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 n * j – 1;</a:t>
            </a:r>
          </a:p>
          <a:p>
            <a:pPr marL="114300" indent="0">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marL="114300" indent="0">
              <a:spcAft>
                <a:spcPct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diagrammatic representation of this is as shown below.</a:t>
            </a:r>
          </a:p>
          <a:p>
            <a:pPr>
              <a:spcAft>
                <a:spcPct val="0"/>
              </a:spcAft>
            </a:pPr>
            <a:endParaRPr lang="en-US" altLang="zh-CN" sz="18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3">
            <a:extLst>
              <a:ext uri="{FF2B5EF4-FFF2-40B4-BE49-F238E27FC236}">
                <a16:creationId xmlns:a16="http://schemas.microsoft.com/office/drawing/2014/main" id="{EAC3175B-A378-8011-9C33-1BBE3EEF8373}"/>
              </a:ext>
            </a:extLst>
          </p:cNvPr>
          <p:cNvGraphicFramePr>
            <a:graphicFrameLocks/>
          </p:cNvGraphicFramePr>
          <p:nvPr/>
        </p:nvGraphicFramePr>
        <p:xfrm>
          <a:off x="2541083" y="2788549"/>
          <a:ext cx="8867146" cy="2686965"/>
        </p:xfrm>
        <a:graphic>
          <a:graphicData uri="http://schemas.openxmlformats.org/presentationml/2006/ole">
            <mc:AlternateContent xmlns:mc="http://schemas.openxmlformats.org/markup-compatibility/2006">
              <mc:Choice xmlns:v="urn:schemas-microsoft-com:vml" Requires="v">
                <p:oleObj r:id="rId4" imgW="9450119" imgH="2790476" progId="Paint.Picture">
                  <p:embed/>
                </p:oleObj>
              </mc:Choice>
              <mc:Fallback>
                <p:oleObj r:id="rId4" imgW="9450119" imgH="2790476" progId="Paint.Picture">
                  <p:embed/>
                  <p:pic>
                    <p:nvPicPr>
                      <p:cNvPr id="3" name="Object 3">
                        <a:extLst>
                          <a:ext uri="{FF2B5EF4-FFF2-40B4-BE49-F238E27FC236}">
                            <a16:creationId xmlns:a16="http://schemas.microsoft.com/office/drawing/2014/main" id="{EAC3175B-A378-8011-9C33-1BBE3EEF837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1083" y="2788549"/>
                        <a:ext cx="8867146" cy="268696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8953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83CF853B-B80E-E5F9-07F6-DD62659A0CA0}"/>
              </a:ext>
            </a:extLst>
          </p:cNvPr>
          <p:cNvSpPr txBox="1">
            <a:spLocks/>
          </p:cNvSpPr>
          <p:nvPr/>
        </p:nvSpPr>
        <p:spPr>
          <a:xfrm>
            <a:off x="2716258" y="605470"/>
            <a:ext cx="7781925" cy="434657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pPr>
            <a:r>
              <a:rPr lang="en-US" altLang="zh-CN" sz="2400" b="1" dirty="0">
                <a:solidFill>
                  <a:schemeClr val="accent5"/>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Dequeue: </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is a special type of data structure in which insertions are done from both ends and deletions are done at both ends.</a:t>
            </a:r>
          </a:p>
          <a:p>
            <a:pPr marL="114300" indent="0">
              <a:spcAft>
                <a:spcPct val="0"/>
              </a:spcAft>
              <a:buNone/>
            </a:pPr>
            <a:r>
              <a:rPr lang="en-US" altLang="zh-CN" sz="2400" dirty="0">
                <a:solidFill>
                  <a:srgbClr val="0C4E67"/>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operations that can be performed on dequeue are:</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Insert an item from front end</a:t>
            </a:r>
          </a:p>
          <a:p>
            <a:pPr>
              <a:spcAft>
                <a:spcPct val="0"/>
              </a:spcAft>
              <a:buFontTx/>
              <a:buChar char="•"/>
            </a:pPr>
            <a:r>
              <a:rPr lang="en-US" altLang="zh-CN" sz="24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Insert an item from rear end</a:t>
            </a:r>
          </a:p>
          <a:p>
            <a:pPr>
              <a:spcAft>
                <a:spcPct val="0"/>
              </a:spcAft>
              <a:buFontTx/>
              <a:buChar char="•"/>
            </a:pPr>
            <a:r>
              <a:rPr lang="en-US" altLang="zh-CN" sz="24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Delete an item from front end</a:t>
            </a:r>
          </a:p>
          <a:p>
            <a:pPr>
              <a:spcAft>
                <a:spcPct val="0"/>
              </a:spcAf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Delete an item from rear end</a:t>
            </a:r>
          </a:p>
          <a:p>
            <a:pPr>
              <a:spcAft>
                <a:spcPct val="0"/>
              </a:spcAft>
              <a:buFontTx/>
              <a:buChar char="•"/>
            </a:pPr>
            <a:r>
              <a:rPr lang="en-US" altLang="zh-CN" sz="24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Display the contents of queue</a:t>
            </a:r>
          </a:p>
          <a:p>
            <a:pPr>
              <a:spcAft>
                <a:spcPct val="0"/>
              </a:spcAft>
            </a:pPr>
            <a:endParaRPr lang="en-US" altLang="zh-CN" sz="24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a:spcAft>
                <a:spcPct val="0"/>
              </a:spcAft>
            </a:pPr>
            <a:endParaRPr lang="en-US" altLang="zh-CN" sz="24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a:spcAft>
                <a:spcPct val="0"/>
              </a:spcAft>
            </a:pPr>
            <a:endParaRPr lang="en-US" altLang="zh-CN" sz="24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155096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2CE69136-5D5F-8B24-80EE-28D523B2EA52}"/>
              </a:ext>
            </a:extLst>
          </p:cNvPr>
          <p:cNvSpPr txBox="1">
            <a:spLocks/>
          </p:cNvSpPr>
          <p:nvPr/>
        </p:nvSpPr>
        <p:spPr>
          <a:xfrm>
            <a:off x="3009343" y="384083"/>
            <a:ext cx="8007984" cy="5755459"/>
          </a:xfrm>
          <a:prstGeom prst="rect">
            <a:avLst/>
          </a:prstGeom>
          <a:noFill/>
          <a:ln>
            <a:noFill/>
            <a:miter lim="800000"/>
            <a:headEnd/>
            <a:tailEnd/>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342900">
              <a:spcAft>
                <a:spcPct val="0"/>
              </a:spcAft>
              <a:buFont typeface="Wingdings" panose="05000000000000000000" charset="0"/>
              <a:buChar char="Ø"/>
              <a:defRPr/>
            </a:pPr>
            <a:r>
              <a:rPr lang="en-US" altLang="zh-CN" sz="2000" noProof="1">
                <a:gradFill>
                  <a:gsLst>
                    <a:gs pos="0">
                      <a:srgbClr val="012D86"/>
                    </a:gs>
                    <a:gs pos="100000">
                      <a:srgbClr val="0E2557"/>
                    </a:gs>
                  </a:gsLst>
                  <a:lin scaled="0"/>
                </a:gradFill>
                <a:ea typeface="Arial" panose="020B0604020202020204"/>
                <a:cs typeface="Arial" panose="020B0604020202020204"/>
              </a:rPr>
              <a:t>Insert at the front end:</a:t>
            </a:r>
          </a:p>
          <a:p>
            <a:pPr marL="342900">
              <a:spcAft>
                <a:spcPct val="0"/>
              </a:spcAft>
              <a:defRPr/>
            </a:pPr>
            <a:r>
              <a:rPr lang="en-US" altLang="zh-CN" sz="2000" noProof="1">
                <a:solidFill>
                  <a:schemeClr val="accent2"/>
                </a:solidFill>
                <a:ea typeface="Arial" panose="020B0604020202020204"/>
                <a:cs typeface="Arial" panose="020B0604020202020204"/>
              </a:rPr>
              <a:t>case 1: Queue empty: </a:t>
            </a:r>
            <a:r>
              <a:rPr lang="en-US" altLang="zh-CN" sz="2000" noProof="1">
                <a:solidFill>
                  <a:schemeClr val="tx2">
                    <a:lumMod val="25000"/>
                  </a:schemeClr>
                </a:solidFill>
                <a:ea typeface="Arial" panose="020B0604020202020204"/>
                <a:cs typeface="Arial" panose="020B0604020202020204"/>
              </a:rPr>
              <a:t>When queue is empty ,an item can be inserted at the front end first by incrementing r by 1 and then insert an item.</a:t>
            </a:r>
          </a:p>
          <a:p>
            <a:pPr>
              <a:spcAft>
                <a:spcPct val="0"/>
              </a:spcAft>
              <a:defRPr/>
            </a:pPr>
            <a:endParaRPr lang="en-US" altLang="zh-CN" sz="2000" noProof="1">
              <a:solidFill>
                <a:schemeClr val="tx2">
                  <a:lumMod val="25000"/>
                </a:schemeClr>
              </a:solidFill>
              <a:ea typeface="Arial" panose="020B0604020202020204"/>
              <a:cs typeface="Arial" panose="020B0604020202020204"/>
            </a:endParaRPr>
          </a:p>
          <a:p>
            <a:pPr>
              <a:spcAft>
                <a:spcPct val="0"/>
              </a:spcAft>
              <a:defRPr/>
            </a:pPr>
            <a:endParaRPr lang="en-US" altLang="zh-CN" sz="2000" noProof="1">
              <a:solidFill>
                <a:schemeClr val="tx2">
                  <a:lumMod val="25000"/>
                </a:schemeClr>
              </a:solidFill>
              <a:ea typeface="Arial" panose="020B0604020202020204"/>
              <a:cs typeface="Arial" panose="020B0604020202020204"/>
            </a:endParaRPr>
          </a:p>
          <a:p>
            <a:pPr>
              <a:spcAft>
                <a:spcPct val="0"/>
              </a:spcAft>
              <a:defRPr/>
            </a:pPr>
            <a:endParaRPr lang="en-US" altLang="zh-CN" sz="2000" noProof="1">
              <a:solidFill>
                <a:schemeClr val="tx2">
                  <a:lumMod val="25000"/>
                </a:schemeClr>
              </a:solidFill>
              <a:ea typeface="Arial" panose="020B0604020202020204"/>
              <a:cs typeface="Arial" panose="020B0604020202020204"/>
            </a:endParaRPr>
          </a:p>
          <a:p>
            <a:pPr marL="114300" indent="0">
              <a:spcAft>
                <a:spcPct val="0"/>
              </a:spcAft>
              <a:buNone/>
              <a:defRPr/>
            </a:pPr>
            <a:endParaRPr lang="en-US" altLang="zh-CN" sz="2000" noProof="1">
              <a:solidFill>
                <a:schemeClr val="tx2">
                  <a:lumMod val="25000"/>
                </a:schemeClr>
              </a:solidFill>
              <a:ea typeface="Arial" panose="020B0604020202020204"/>
              <a:cs typeface="Arial" panose="020B0604020202020204"/>
            </a:endParaRPr>
          </a:p>
          <a:p>
            <a:pPr marL="114300" indent="0">
              <a:spcAft>
                <a:spcPct val="0"/>
              </a:spcAft>
              <a:buNone/>
              <a:defRPr/>
            </a:pPr>
            <a:endParaRPr lang="en-US" altLang="zh-CN" sz="2000" noProof="1">
              <a:solidFill>
                <a:schemeClr val="tx2">
                  <a:lumMod val="25000"/>
                </a:schemeClr>
              </a:solidFill>
              <a:ea typeface="Arial" panose="020B0604020202020204"/>
              <a:cs typeface="Arial" panose="020B0604020202020204"/>
            </a:endParaRPr>
          </a:p>
          <a:p>
            <a:pPr marL="114300" indent="0">
              <a:spcAft>
                <a:spcPct val="0"/>
              </a:spcAft>
              <a:buNone/>
              <a:defRPr/>
            </a:pPr>
            <a:endParaRPr lang="en-US" altLang="zh-CN" sz="2000" noProof="1">
              <a:solidFill>
                <a:schemeClr val="tx2">
                  <a:lumMod val="25000"/>
                </a:schemeClr>
              </a:solidFill>
              <a:ea typeface="Arial" panose="020B0604020202020204"/>
              <a:cs typeface="Arial" panose="020B0604020202020204"/>
            </a:endParaRPr>
          </a:p>
          <a:p>
            <a:pPr marL="114300" indent="0">
              <a:spcAft>
                <a:spcPct val="0"/>
              </a:spcAft>
              <a:buNone/>
              <a:defRPr/>
            </a:pPr>
            <a:r>
              <a:rPr lang="en-US" altLang="zh-CN" sz="2000" noProof="1">
                <a:solidFill>
                  <a:schemeClr val="tx2">
                    <a:lumMod val="25000"/>
                  </a:schemeClr>
                </a:solidFill>
                <a:ea typeface="Arial" panose="020B0604020202020204"/>
                <a:cs typeface="Arial" panose="020B0604020202020204"/>
              </a:rPr>
              <a:t>The equivalent code for this can be written as shown below:</a:t>
            </a:r>
          </a:p>
          <a:p>
            <a:pPr marL="114300" indent="0">
              <a:lnSpc>
                <a:spcPct val="50000"/>
              </a:lnSpc>
              <a:spcAft>
                <a:spcPct val="0"/>
              </a:spcAft>
              <a:buNone/>
              <a:defRPr/>
            </a:pPr>
            <a:r>
              <a:rPr lang="en-US" altLang="zh-CN" sz="2000" noProof="1">
                <a:solidFill>
                  <a:schemeClr val="tx2">
                    <a:lumMod val="25000"/>
                  </a:schemeClr>
                </a:solidFill>
                <a:ea typeface="Arial" panose="020B0604020202020204"/>
                <a:cs typeface="Arial" panose="020B0604020202020204"/>
              </a:rPr>
              <a:t>		if(f==0&amp;&amp;r==-1)</a:t>
            </a:r>
          </a:p>
          <a:p>
            <a:pPr marL="114300" indent="0">
              <a:lnSpc>
                <a:spcPct val="50000"/>
              </a:lnSpc>
              <a:spcAft>
                <a:spcPct val="0"/>
              </a:spcAft>
              <a:buNone/>
              <a:defRPr/>
            </a:pPr>
            <a:r>
              <a:rPr lang="en-US" altLang="zh-CN" sz="2000" noProof="1">
                <a:solidFill>
                  <a:schemeClr val="tx2">
                    <a:lumMod val="25000"/>
                  </a:schemeClr>
                </a:solidFill>
                <a:ea typeface="Arial" panose="020B0604020202020204"/>
                <a:cs typeface="Arial" panose="020B0604020202020204"/>
              </a:rPr>
              <a:t>		{</a:t>
            </a:r>
          </a:p>
          <a:p>
            <a:pPr marL="114300" indent="0">
              <a:lnSpc>
                <a:spcPct val="50000"/>
              </a:lnSpc>
              <a:spcAft>
                <a:spcPct val="0"/>
              </a:spcAft>
              <a:buNone/>
              <a:defRPr/>
            </a:pPr>
            <a:r>
              <a:rPr lang="en-US" altLang="zh-CN" sz="2000" noProof="1">
                <a:solidFill>
                  <a:schemeClr val="tx2">
                    <a:lumMod val="25000"/>
                  </a:schemeClr>
                </a:solidFill>
                <a:ea typeface="Arial" panose="020B0604020202020204"/>
                <a:cs typeface="Arial" panose="020B0604020202020204"/>
              </a:rPr>
              <a:t>			q[++r]=item;</a:t>
            </a:r>
          </a:p>
          <a:p>
            <a:pPr marL="114300" indent="0">
              <a:lnSpc>
                <a:spcPct val="50000"/>
              </a:lnSpc>
              <a:spcAft>
                <a:spcPct val="0"/>
              </a:spcAft>
              <a:buNone/>
              <a:defRPr/>
            </a:pPr>
            <a:r>
              <a:rPr lang="en-US" altLang="zh-CN" sz="2000" noProof="1">
                <a:solidFill>
                  <a:schemeClr val="tx2">
                    <a:lumMod val="25000"/>
                  </a:schemeClr>
                </a:solidFill>
                <a:ea typeface="Arial" panose="020B0604020202020204"/>
                <a:cs typeface="Arial" panose="020B0604020202020204"/>
              </a:rPr>
              <a:t>			return;</a:t>
            </a:r>
          </a:p>
          <a:p>
            <a:pPr marL="114300" indent="0">
              <a:lnSpc>
                <a:spcPct val="50000"/>
              </a:lnSpc>
              <a:spcAft>
                <a:spcPct val="0"/>
              </a:spcAft>
              <a:buNone/>
              <a:defRPr/>
            </a:pPr>
            <a:r>
              <a:rPr lang="en-US" altLang="zh-CN" sz="2000" noProof="1">
                <a:solidFill>
                  <a:schemeClr val="tx2">
                    <a:lumMod val="25000"/>
                  </a:schemeClr>
                </a:solidFill>
                <a:ea typeface="Arial" panose="020B0604020202020204"/>
                <a:cs typeface="Arial" panose="020B0604020202020204"/>
              </a:rPr>
              <a:t>		}</a:t>
            </a:r>
          </a:p>
          <a:p>
            <a:pPr>
              <a:spcAft>
                <a:spcPct val="0"/>
              </a:spcAft>
              <a:defRPr/>
            </a:pPr>
            <a:endParaRPr lang="en-US" altLang="zh-CN" sz="2000" noProof="1">
              <a:solidFill>
                <a:schemeClr val="accent6">
                  <a:lumMod val="50000"/>
                </a:schemeClr>
              </a:solidFill>
              <a:ea typeface="Arial" panose="020B0604020202020204"/>
              <a:cs typeface="Arial" panose="020B0604020202020204"/>
            </a:endParaRPr>
          </a:p>
          <a:p>
            <a:pPr>
              <a:spcAft>
                <a:spcPct val="0"/>
              </a:spcAft>
              <a:defRPr/>
            </a:pPr>
            <a:endParaRPr lang="en-US" altLang="zh-CN" sz="2000" noProof="1">
              <a:solidFill>
                <a:schemeClr val="accent6">
                  <a:lumMod val="50000"/>
                </a:schemeClr>
              </a:solidFill>
              <a:ea typeface="Arial" panose="020B0604020202020204"/>
              <a:cs typeface="Arial" panose="020B0604020202020204"/>
            </a:endParaRPr>
          </a:p>
        </p:txBody>
      </p:sp>
      <p:graphicFrame>
        <p:nvGraphicFramePr>
          <p:cNvPr id="3" name="Object 1">
            <a:extLst>
              <a:ext uri="{FF2B5EF4-FFF2-40B4-BE49-F238E27FC236}">
                <a16:creationId xmlns:a16="http://schemas.microsoft.com/office/drawing/2014/main" id="{8AFE7BA8-6875-257E-B210-F75A196DA788}"/>
              </a:ext>
            </a:extLst>
          </p:cNvPr>
          <p:cNvGraphicFramePr>
            <a:graphicFrameLocks/>
          </p:cNvGraphicFramePr>
          <p:nvPr/>
        </p:nvGraphicFramePr>
        <p:xfrm>
          <a:off x="3155922" y="1666240"/>
          <a:ext cx="7169150" cy="2230385"/>
        </p:xfrm>
        <a:graphic>
          <a:graphicData uri="http://schemas.openxmlformats.org/presentationml/2006/ole">
            <mc:AlternateContent xmlns:mc="http://schemas.openxmlformats.org/markup-compatibility/2006">
              <mc:Choice xmlns:v="urn:schemas-microsoft-com:vml" Requires="v">
                <p:oleObj r:id="rId4" imgW="7163800" imgH="1152381" progId="Paint.Picture">
                  <p:embed/>
                </p:oleObj>
              </mc:Choice>
              <mc:Fallback>
                <p:oleObj r:id="rId4" imgW="7163800" imgH="1152381" progId="Paint.Picture">
                  <p:embed/>
                  <p:pic>
                    <p:nvPicPr>
                      <p:cNvPr id="3" name="Object 1">
                        <a:extLst>
                          <a:ext uri="{FF2B5EF4-FFF2-40B4-BE49-F238E27FC236}">
                            <a16:creationId xmlns:a16="http://schemas.microsoft.com/office/drawing/2014/main" id="{8AFE7BA8-6875-257E-B210-F75A196DA78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5922" y="1666240"/>
                        <a:ext cx="7169150" cy="223038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7922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07BC0A74-4BC4-4020-BD5D-E1D7F0194B58}"/>
              </a:ext>
            </a:extLst>
          </p:cNvPr>
          <p:cNvSpPr txBox="1">
            <a:spLocks/>
          </p:cNvSpPr>
          <p:nvPr/>
        </p:nvSpPr>
        <p:spPr>
          <a:xfrm>
            <a:off x="2699220" y="513896"/>
            <a:ext cx="8382437" cy="6050190"/>
          </a:xfrm>
          <a:prstGeom prst="rect">
            <a:avLst/>
          </a:prstGeom>
          <a:noFill/>
          <a:ln>
            <a:noFill/>
          </a:ln>
        </p:spPr>
        <p:txBody>
          <a:bodyPr spcFirstLastPara="1" wrap="square" lIns="91425" tIns="45700" rIns="91425" bIns="45700" anchor="t" anchorCtr="0">
            <a:normAutofit fontScale="550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just">
              <a:lnSpc>
                <a:spcPct val="120000"/>
              </a:lnSpc>
              <a:spcAft>
                <a:spcPct val="0"/>
              </a:spcAft>
              <a:buNone/>
            </a:pPr>
            <a:r>
              <a:rPr lang="en-US" altLang="zh-CN" sz="3200" dirty="0">
                <a:solidFill>
                  <a:schemeClr val="accent2"/>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case 2: Some items are deleted: </a:t>
            </a: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Consider the following situation where 10,20 and 30 were inserted earlier and 10 and 20 have been deleted from the front </a:t>
            </a:r>
            <a:r>
              <a:rPr lang="en-US" altLang="zh-CN" sz="3200" dirty="0" err="1">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end.Now,there</a:t>
            </a: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is only one item in </a:t>
            </a:r>
            <a:r>
              <a:rPr lang="en-US" altLang="zh-CN" sz="3200" dirty="0" err="1">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queue.Here</a:t>
            </a: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an item can be inserted by decrementing the front index f by 1 and then inserting an item at that position as shown below:</a:t>
            </a:r>
          </a:p>
          <a:p>
            <a:pPr marL="114300" indent="0" algn="just">
              <a:lnSpc>
                <a:spcPct val="120000"/>
              </a:lnSpc>
              <a:spcAft>
                <a:spcPct val="0"/>
              </a:spcAft>
              <a:buNone/>
            </a:pPr>
            <a:endPar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gn="just">
              <a:lnSpc>
                <a:spcPct val="120000"/>
              </a:lnSpc>
              <a:spcAft>
                <a:spcPct val="0"/>
              </a:spcAft>
              <a:buNone/>
            </a:pPr>
            <a:endPar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gn="just">
              <a:lnSpc>
                <a:spcPct val="120000"/>
              </a:lnSpc>
              <a:spcAft>
                <a:spcPct val="0"/>
              </a:spcAft>
              <a:buNone/>
            </a:pPr>
            <a:endPar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gn="just">
              <a:lnSpc>
                <a:spcPct val="120000"/>
              </a:lnSpc>
              <a:spcAft>
                <a:spcPct val="0"/>
              </a:spcAft>
              <a:buNone/>
            </a:pPr>
            <a:endPar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gn="just">
              <a:lnSpc>
                <a:spcPct val="120000"/>
              </a:lnSpc>
              <a:spcAft>
                <a:spcPct val="0"/>
              </a:spcAft>
              <a:buNone/>
            </a:pPr>
            <a:r>
              <a:rPr lang="en-US" altLang="zh-CN" sz="3200" dirty="0">
                <a:solidFill>
                  <a:srgbClr val="244149"/>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equivalent code for this can be written as shown below:</a:t>
            </a:r>
          </a:p>
          <a:p>
            <a:pPr marL="114300" indent="0" algn="just">
              <a:lnSpc>
                <a:spcPct val="120000"/>
              </a:lnSpc>
              <a:spcAft>
                <a:spcPct val="0"/>
              </a:spcAft>
              <a:buNone/>
            </a:pP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if(f!=0)</a:t>
            </a:r>
          </a:p>
          <a:p>
            <a:pPr marL="114300" indent="0" algn="just">
              <a:lnSpc>
                <a:spcPct val="120000"/>
              </a:lnSpc>
              <a:spcAft>
                <a:spcPct val="0"/>
              </a:spcAft>
              <a:buNone/>
            </a:pP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p>
          <a:p>
            <a:pPr marL="114300" indent="0" algn="just">
              <a:lnSpc>
                <a:spcPct val="120000"/>
              </a:lnSpc>
              <a:spcAft>
                <a:spcPct val="0"/>
              </a:spcAft>
              <a:buNone/>
            </a:pP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q[--f]=item;</a:t>
            </a:r>
          </a:p>
          <a:p>
            <a:pPr marL="114300" indent="0" algn="just">
              <a:lnSpc>
                <a:spcPct val="120000"/>
              </a:lnSpc>
              <a:spcAft>
                <a:spcPct val="0"/>
              </a:spcAft>
              <a:buNone/>
            </a:pP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return;</a:t>
            </a:r>
          </a:p>
          <a:p>
            <a:pPr marL="114300" indent="0" algn="just">
              <a:lnSpc>
                <a:spcPct val="120000"/>
              </a:lnSpc>
              <a:spcAft>
                <a:spcPct val="0"/>
              </a:spcAft>
              <a:buNone/>
            </a:pPr>
            <a:r>
              <a:rPr lang="en-US" altLang="zh-CN" sz="32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p>
          <a:p>
            <a:pPr marL="114300" indent="0" algn="just">
              <a:lnSpc>
                <a:spcPct val="120000"/>
              </a:lnSpc>
              <a:spcAft>
                <a:spcPct val="0"/>
              </a:spcAft>
              <a:buNone/>
            </a:pP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p>
        </p:txBody>
      </p:sp>
      <p:graphicFrame>
        <p:nvGraphicFramePr>
          <p:cNvPr id="3" name="Object 1">
            <a:extLst>
              <a:ext uri="{FF2B5EF4-FFF2-40B4-BE49-F238E27FC236}">
                <a16:creationId xmlns:a16="http://schemas.microsoft.com/office/drawing/2014/main" id="{34D6D31D-A47C-3267-CB1A-A36924C3B884}"/>
              </a:ext>
            </a:extLst>
          </p:cNvPr>
          <p:cNvGraphicFramePr>
            <a:graphicFrameLocks/>
          </p:cNvGraphicFramePr>
          <p:nvPr/>
        </p:nvGraphicFramePr>
        <p:xfrm>
          <a:off x="3009343" y="1905955"/>
          <a:ext cx="8072314" cy="1523045"/>
        </p:xfrm>
        <a:graphic>
          <a:graphicData uri="http://schemas.openxmlformats.org/presentationml/2006/ole">
            <mc:AlternateContent xmlns:mc="http://schemas.openxmlformats.org/markup-compatibility/2006">
              <mc:Choice xmlns:v="urn:schemas-microsoft-com:vml" Requires="v">
                <p:oleObj r:id="rId4" imgW="7163800" imgH="961905" progId="Paint.Picture">
                  <p:embed/>
                </p:oleObj>
              </mc:Choice>
              <mc:Fallback>
                <p:oleObj r:id="rId4" imgW="7163800" imgH="961905" progId="Paint.Picture">
                  <p:embed/>
                  <p:pic>
                    <p:nvPicPr>
                      <p:cNvPr id="3" name="Object 1">
                        <a:extLst>
                          <a:ext uri="{FF2B5EF4-FFF2-40B4-BE49-F238E27FC236}">
                            <a16:creationId xmlns:a16="http://schemas.microsoft.com/office/drawing/2014/main" id="{34D6D31D-A47C-3267-CB1A-A36924C3B88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9343" y="1905955"/>
                        <a:ext cx="8072314" cy="152304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7657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2D9F9148-5532-51E7-C43D-E44B95991B01}"/>
              </a:ext>
            </a:extLst>
          </p:cNvPr>
          <p:cNvSpPr txBox="1">
            <a:spLocks/>
          </p:cNvSpPr>
          <p:nvPr/>
        </p:nvSpPr>
        <p:spPr>
          <a:xfrm>
            <a:off x="2541083" y="428122"/>
            <a:ext cx="8018463" cy="4578350"/>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just">
              <a:spcAft>
                <a:spcPct val="0"/>
              </a:spcAft>
              <a:buNone/>
            </a:pPr>
            <a:r>
              <a:rPr lang="en-US" altLang="zh-CN" sz="2600" dirty="0">
                <a:solidFill>
                  <a:schemeClr val="accent2"/>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case 3: Some items are inserted(not deleted):</a:t>
            </a:r>
            <a:r>
              <a:rPr lang="en-US" altLang="zh-CN" sz="26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Consider the following situation where 10,20 and 30 were inserted into queue.</a:t>
            </a:r>
          </a:p>
          <a:p>
            <a:pPr algn="just">
              <a:spcAft>
                <a:spcPct val="0"/>
              </a:spcAft>
            </a:pPr>
            <a:endPar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algn="just">
              <a:spcAft>
                <a:spcPct val="0"/>
              </a:spcAft>
            </a:pPr>
            <a:endPar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marL="114300" indent="0" algn="just">
              <a:spcAft>
                <a:spcPct val="0"/>
              </a:spcAft>
              <a:buNone/>
            </a:pPr>
            <a:endPar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marL="114300" indent="0" algn="just">
              <a:spcAft>
                <a:spcPct val="0"/>
              </a:spcAft>
              <a:buNone/>
            </a:pPr>
            <a:endPar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marL="114300" indent="0" algn="just">
              <a:spcAft>
                <a:spcPct val="0"/>
              </a:spcAft>
              <a:buNone/>
            </a:pPr>
            <a:endPar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marL="114300" indent="0" algn="just">
              <a:spcAft>
                <a:spcPct val="0"/>
              </a:spcAft>
              <a:buNone/>
            </a:pPr>
            <a:endPar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marL="114300" indent="0" algn="just">
              <a:spcAft>
                <a:spcPct val="0"/>
              </a:spcAft>
              <a:buNone/>
            </a:pPr>
            <a:r>
              <a:rPr lang="en-US" altLang="zh-CN" sz="2400" dirty="0" err="1">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Now,Observe</a:t>
            </a: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that, in the above situation it is not possible to insert an any item at the front end and we should display the appropriate message .</a:t>
            </a:r>
          </a:p>
          <a:p>
            <a:pPr marL="114300" indent="0" algn="just">
              <a:spcAft>
                <a:spcPct val="0"/>
              </a:spcAft>
              <a:buNone/>
            </a:pP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this is achieved using the following statement:</a:t>
            </a:r>
          </a:p>
          <a:p>
            <a:pPr marL="114300" indent="0" algn="just">
              <a:spcAft>
                <a:spcPct val="0"/>
              </a:spcAft>
              <a:buNone/>
            </a:pP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r>
              <a:rPr lang="en-US" altLang="zh-CN" sz="2400" dirty="0" err="1">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printf</a:t>
            </a: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(“front insertion not possible\n”);</a:t>
            </a:r>
          </a:p>
          <a:p>
            <a:pPr marL="114300" indent="0" algn="just">
              <a:spcAft>
                <a:spcPct val="0"/>
              </a:spcAft>
              <a:buNone/>
            </a:pPr>
            <a:endPar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algn="just">
              <a:spcAft>
                <a:spcPct val="0"/>
              </a:spcAft>
            </a:pPr>
            <a:endParaRPr lang="en-US" altLang="zh-CN" sz="2000" dirty="0">
              <a:solidFill>
                <a:srgbClr val="FF0000"/>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graphicFrame>
        <p:nvGraphicFramePr>
          <p:cNvPr id="3" name="Object 5">
            <a:extLst>
              <a:ext uri="{FF2B5EF4-FFF2-40B4-BE49-F238E27FC236}">
                <a16:creationId xmlns:a16="http://schemas.microsoft.com/office/drawing/2014/main" id="{5105B5BF-09C1-B0ED-208D-6047232266D7}"/>
              </a:ext>
            </a:extLst>
          </p:cNvPr>
          <p:cNvGraphicFramePr>
            <a:graphicFrameLocks/>
          </p:cNvGraphicFramePr>
          <p:nvPr/>
        </p:nvGraphicFramePr>
        <p:xfrm>
          <a:off x="4430032" y="1458958"/>
          <a:ext cx="5040539" cy="1425756"/>
        </p:xfrm>
        <a:graphic>
          <a:graphicData uri="http://schemas.openxmlformats.org/presentationml/2006/ole">
            <mc:AlternateContent xmlns:mc="http://schemas.openxmlformats.org/markup-compatibility/2006">
              <mc:Choice xmlns:v="urn:schemas-microsoft-com:vml" Requires="v">
                <p:oleObj r:id="rId4" imgW="3657143" imgH="771429" progId="Paint.Picture">
                  <p:embed/>
                </p:oleObj>
              </mc:Choice>
              <mc:Fallback>
                <p:oleObj r:id="rId4" imgW="3657143" imgH="771429" progId="Paint.Picture">
                  <p:embed/>
                  <p:pic>
                    <p:nvPicPr>
                      <p:cNvPr id="3" name="Object 5">
                        <a:extLst>
                          <a:ext uri="{FF2B5EF4-FFF2-40B4-BE49-F238E27FC236}">
                            <a16:creationId xmlns:a16="http://schemas.microsoft.com/office/drawing/2014/main" id="{5105B5BF-09C1-B0ED-208D-6047232266D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0032" y="1458958"/>
                        <a:ext cx="5040539" cy="142575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8619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04CEEE6A-C24E-3AB9-557F-26095F0F4EF2}"/>
              </a:ext>
            </a:extLst>
          </p:cNvPr>
          <p:cNvSpPr txBox="1">
            <a:spLocks/>
          </p:cNvSpPr>
          <p:nvPr/>
        </p:nvSpPr>
        <p:spPr>
          <a:xfrm>
            <a:off x="3519035" y="546327"/>
            <a:ext cx="7793037" cy="417671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The complete C function to insert an item at the front end</a:t>
            </a:r>
          </a:p>
          <a:p>
            <a:pPr marL="114300" indent="0">
              <a:lnSpc>
                <a:spcPct val="40000"/>
              </a:lnSpc>
              <a:spcAft>
                <a:spcPct val="0"/>
              </a:spcAft>
              <a:buNone/>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void </a:t>
            </a:r>
            <a:r>
              <a:rPr lang="en-US" altLang="zh-CN" sz="2000" dirty="0" err="1">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Insert_Front</a:t>
            </a: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a:t>
            </a:r>
          </a:p>
          <a:p>
            <a:pPr marL="114300" indent="0">
              <a:lnSpc>
                <a:spcPct val="40000"/>
              </a:lnSpc>
              <a:spcAft>
                <a:spcPct val="0"/>
              </a:spcAft>
              <a:buNone/>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a:t>
            </a:r>
          </a:p>
          <a:p>
            <a:pPr marL="114300" indent="0">
              <a:lnSpc>
                <a:spcPct val="40000"/>
              </a:lnSpc>
              <a:spcAft>
                <a:spcPct val="0"/>
              </a:spcAft>
              <a:buNone/>
            </a:pPr>
            <a:r>
              <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r>
              <a:rPr lang="en-US" altLang="zh-CN" sz="2000" dirty="0">
                <a:solidFill>
                  <a:srgbClr val="244149"/>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if(f==0&amp;&amp;r==-1)</a:t>
            </a:r>
          </a:p>
          <a:p>
            <a:pPr marL="114300" indent="0">
              <a:lnSpc>
                <a:spcPct val="40000"/>
              </a:lnSpc>
              <a:spcAft>
                <a:spcPct val="0"/>
              </a:spcAft>
              <a:buNone/>
            </a:pPr>
            <a:r>
              <a:rPr lang="en-US" altLang="zh-CN" sz="2000" dirty="0">
                <a:solidFill>
                  <a:srgbClr val="244149"/>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p>
          <a:p>
            <a:pPr marL="114300" indent="0">
              <a:lnSpc>
                <a:spcPct val="40000"/>
              </a:lnSpc>
              <a:spcAft>
                <a:spcPct val="0"/>
              </a:spcAft>
              <a:buNone/>
            </a:pPr>
            <a:r>
              <a:rPr lang="en-US" altLang="zh-CN" sz="2000" dirty="0">
                <a:solidFill>
                  <a:srgbClr val="244149"/>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q[++r]=item;</a:t>
            </a:r>
          </a:p>
          <a:p>
            <a:pPr marL="114300" indent="0">
              <a:lnSpc>
                <a:spcPct val="40000"/>
              </a:lnSpc>
              <a:spcAft>
                <a:spcPct val="0"/>
              </a:spcAft>
              <a:buNone/>
            </a:pPr>
            <a:r>
              <a:rPr lang="en-US" altLang="zh-CN" sz="2000" dirty="0">
                <a:solidFill>
                  <a:srgbClr val="244149"/>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return;</a:t>
            </a:r>
          </a:p>
          <a:p>
            <a:pPr marL="114300" indent="0">
              <a:lnSpc>
                <a:spcPct val="40000"/>
              </a:lnSpc>
              <a:spcAft>
                <a:spcPct val="0"/>
              </a:spcAft>
              <a:buNone/>
            </a:pPr>
            <a:r>
              <a:rPr lang="en-US" altLang="zh-CN" sz="2000" dirty="0">
                <a:solidFill>
                  <a:srgbClr val="244149"/>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p>
          <a:p>
            <a:pPr marL="114300" indent="0" algn="just">
              <a:lnSpc>
                <a:spcPct val="40000"/>
              </a:lnSpc>
              <a:spcAft>
                <a:spcPct val="0"/>
              </a:spcAft>
              <a:buNone/>
            </a:pPr>
            <a:r>
              <a:rPr lang="en-US" altLang="zh-CN" sz="2000" dirty="0">
                <a:solidFill>
                  <a:srgbClr val="244149"/>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if(f!=0)</a:t>
            </a:r>
          </a:p>
          <a:p>
            <a:pPr marL="114300" indent="0" algn="just">
              <a:lnSpc>
                <a:spcPct val="40000"/>
              </a:lnSpc>
              <a:spcAft>
                <a:spcPct val="0"/>
              </a:spcAft>
              <a:buNone/>
            </a:pP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p>
          <a:p>
            <a:pPr marL="114300" indent="0" algn="just">
              <a:lnSpc>
                <a:spcPct val="40000"/>
              </a:lnSpc>
              <a:spcAft>
                <a:spcPct val="0"/>
              </a:spcAft>
              <a:buNone/>
            </a:pP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q[--f]=item;</a:t>
            </a:r>
          </a:p>
          <a:p>
            <a:pPr marL="114300" indent="0" algn="just">
              <a:lnSpc>
                <a:spcPct val="40000"/>
              </a:lnSpc>
              <a:spcAft>
                <a:spcPct val="0"/>
              </a:spcAft>
              <a:buNone/>
            </a:pP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return;</a:t>
            </a:r>
          </a:p>
          <a:p>
            <a:pPr marL="114300" indent="0" algn="just">
              <a:lnSpc>
                <a:spcPct val="40000"/>
              </a:lnSpc>
              <a:spcAft>
                <a:spcPct val="0"/>
              </a:spcAft>
              <a:buNone/>
            </a:pP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p>
          <a:p>
            <a:pPr marL="114300" indent="0" algn="just">
              <a:lnSpc>
                <a:spcPct val="40000"/>
              </a:lnSpc>
              <a:spcAft>
                <a:spcPct val="0"/>
              </a:spcAft>
              <a:buNone/>
            </a:pP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	</a:t>
            </a:r>
            <a:r>
              <a:rPr lang="en-US" altLang="zh-CN" sz="2000" dirty="0" err="1">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printf</a:t>
            </a: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(“front insertion not possible\n”);</a:t>
            </a:r>
          </a:p>
          <a:p>
            <a:pPr marL="114300" indent="0" algn="just">
              <a:lnSpc>
                <a:spcPct val="40000"/>
              </a:lnSpc>
              <a:spcAft>
                <a:spcPct val="0"/>
              </a:spcAft>
              <a:buNone/>
            </a:pPr>
            <a:r>
              <a:rPr lang="en-US" altLang="zh-CN" sz="2000" dirty="0">
                <a:solidFill>
                  <a:schemeClr val="tx1"/>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rPr>
              <a:t>}</a:t>
            </a:r>
          </a:p>
          <a:p>
            <a:pPr>
              <a:lnSpc>
                <a:spcPct val="50000"/>
              </a:lnSpc>
              <a:spcAft>
                <a:spcPct val="0"/>
              </a:spcAft>
            </a:pPr>
            <a:endParaRPr lang="en-US" altLang="zh-CN" sz="2000" dirty="0">
              <a:solidFill>
                <a:srgbClr val="244149"/>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25991435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E6A01EDA-EA37-D255-1454-FDEDBDD5980D}"/>
              </a:ext>
            </a:extLst>
          </p:cNvPr>
          <p:cNvSpPr txBox="1">
            <a:spLocks/>
          </p:cNvSpPr>
          <p:nvPr/>
        </p:nvSpPr>
        <p:spPr>
          <a:xfrm>
            <a:off x="3392322" y="290987"/>
            <a:ext cx="8007985" cy="4370070"/>
          </a:xfrm>
          <a:prstGeom prst="rect">
            <a:avLst/>
          </a:prstGeom>
          <a:noFill/>
          <a:ln>
            <a:noFill/>
            <a:miter lim="800000"/>
            <a:headEnd/>
            <a:tailEnd/>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342900">
              <a:buFont typeface="Wingdings" panose="05000000000000000000" charset="0"/>
              <a:buChar char="Ø"/>
              <a:defRPr/>
            </a:pPr>
            <a:r>
              <a:rPr lang="en-US" altLang="zh-CN" sz="2000" noProof="1">
                <a:gradFill>
                  <a:gsLst>
                    <a:gs pos="0">
                      <a:srgbClr val="012D86"/>
                    </a:gs>
                    <a:gs pos="100000">
                      <a:srgbClr val="0E2557"/>
                    </a:gs>
                  </a:gsLst>
                  <a:lin scaled="0"/>
                </a:gradFill>
                <a:ea typeface="Arial" panose="020B0604020202020204"/>
                <a:cs typeface="Arial" panose="020B0604020202020204"/>
              </a:rPr>
              <a:t>Delete from the Rear End:</a:t>
            </a:r>
            <a:endParaRPr lang="en-US" altLang="zh-CN" sz="2000" noProof="1">
              <a:solidFill>
                <a:schemeClr val="tx1"/>
              </a:solidFill>
              <a:ea typeface="Arial" panose="020B0604020202020204"/>
              <a:cs typeface="Arial" panose="020B0604020202020204"/>
            </a:endParaRPr>
          </a:p>
          <a:p>
            <a:pPr>
              <a:buFont typeface="Wingdings" panose="05000000000000000000" charset="0"/>
              <a:buNone/>
              <a:defRPr/>
            </a:pPr>
            <a:r>
              <a:rPr lang="en-US" altLang="zh-CN" sz="2000" noProof="1">
                <a:solidFill>
                  <a:schemeClr val="tx1"/>
                </a:solidFill>
                <a:ea typeface="Arial" panose="020B0604020202020204"/>
                <a:cs typeface="Arial" panose="020B0604020202020204"/>
              </a:rPr>
              <a:t>Consider the following situation where 3 items are already inserted into queue and one item is deleted.</a:t>
            </a:r>
          </a:p>
          <a:p>
            <a:pPr>
              <a:buFont typeface="Wingdings" panose="05000000000000000000" charset="0"/>
              <a:buNone/>
              <a:defRPr/>
            </a:pPr>
            <a:endParaRPr lang="en-US" altLang="zh-CN" sz="2000" noProof="1">
              <a:solidFill>
                <a:schemeClr val="tx1"/>
              </a:solidFill>
              <a:ea typeface="Arial" panose="020B0604020202020204"/>
              <a:cs typeface="Arial" panose="020B0604020202020204"/>
            </a:endParaRPr>
          </a:p>
          <a:p>
            <a:pPr>
              <a:buFont typeface="Wingdings" panose="05000000000000000000" charset="0"/>
              <a:buNone/>
              <a:defRPr/>
            </a:pPr>
            <a:endParaRPr lang="en-US" altLang="zh-CN" sz="2000" noProof="1">
              <a:solidFill>
                <a:schemeClr val="tx1"/>
              </a:solidFill>
              <a:ea typeface="Arial" panose="020B0604020202020204"/>
              <a:cs typeface="Arial" panose="020B0604020202020204"/>
            </a:endParaRPr>
          </a:p>
          <a:p>
            <a:pPr>
              <a:buFont typeface="Wingdings" panose="05000000000000000000" charset="0"/>
              <a:buNone/>
              <a:defRPr/>
            </a:pPr>
            <a:endParaRPr lang="en-US" altLang="zh-CN" sz="2000" noProof="1">
              <a:solidFill>
                <a:schemeClr val="tx1"/>
              </a:solidFill>
              <a:ea typeface="Arial" panose="020B0604020202020204"/>
              <a:cs typeface="Arial" panose="020B0604020202020204"/>
            </a:endParaRPr>
          </a:p>
          <a:p>
            <a:pPr>
              <a:buFont typeface="Wingdings" panose="05000000000000000000" charset="0"/>
              <a:buNone/>
              <a:defRPr/>
            </a:pPr>
            <a:endParaRPr lang="en-US" altLang="zh-CN" sz="2000" noProof="1">
              <a:gradFill>
                <a:gsLst>
                  <a:gs pos="0">
                    <a:srgbClr val="012D86"/>
                  </a:gs>
                  <a:gs pos="100000">
                    <a:srgbClr val="0E2557"/>
                  </a:gs>
                </a:gsLst>
                <a:lin scaled="0"/>
              </a:gradFill>
              <a:ea typeface="Arial" panose="020B0604020202020204"/>
              <a:cs typeface="Arial" panose="020B0604020202020204"/>
            </a:endParaRPr>
          </a:p>
          <a:p>
            <a:pPr>
              <a:defRPr/>
            </a:pPr>
            <a:endParaRPr lang="en-US" noProof="1"/>
          </a:p>
        </p:txBody>
      </p:sp>
      <p:graphicFrame>
        <p:nvGraphicFramePr>
          <p:cNvPr id="3" name="Object 3">
            <a:extLst>
              <a:ext uri="{FF2B5EF4-FFF2-40B4-BE49-F238E27FC236}">
                <a16:creationId xmlns:a16="http://schemas.microsoft.com/office/drawing/2014/main" id="{4DE3C0C9-E508-136F-8E14-D24F8FB14DCB}"/>
              </a:ext>
            </a:extLst>
          </p:cNvPr>
          <p:cNvGraphicFramePr>
            <a:graphicFrameLocks/>
          </p:cNvGraphicFramePr>
          <p:nvPr/>
        </p:nvGraphicFramePr>
        <p:xfrm>
          <a:off x="3405954" y="2125456"/>
          <a:ext cx="7427074" cy="1902258"/>
        </p:xfrm>
        <a:graphic>
          <a:graphicData uri="http://schemas.openxmlformats.org/presentationml/2006/ole">
            <mc:AlternateContent xmlns:mc="http://schemas.openxmlformats.org/markup-compatibility/2006">
              <mc:Choice xmlns:v="urn:schemas-microsoft-com:vml" Requires="v">
                <p:oleObj r:id="rId4" imgW="7125695" imgH="961905" progId="Paint.Picture">
                  <p:embed/>
                </p:oleObj>
              </mc:Choice>
              <mc:Fallback>
                <p:oleObj r:id="rId4" imgW="7125695" imgH="961905" progId="Paint.Picture">
                  <p:embed/>
                  <p:pic>
                    <p:nvPicPr>
                      <p:cNvPr id="3" name="Object 3">
                        <a:extLst>
                          <a:ext uri="{FF2B5EF4-FFF2-40B4-BE49-F238E27FC236}">
                            <a16:creationId xmlns:a16="http://schemas.microsoft.com/office/drawing/2014/main" id="{4DE3C0C9-E508-136F-8E14-D24F8FB14DC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5954" y="2125456"/>
                        <a:ext cx="7427074" cy="190225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8377989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E4E56B50-A8F1-0B18-87AA-46B054FE6C81}"/>
              </a:ext>
            </a:extLst>
          </p:cNvPr>
          <p:cNvSpPr txBox="1">
            <a:spLocks/>
          </p:cNvSpPr>
          <p:nvPr/>
        </p:nvSpPr>
        <p:spPr>
          <a:xfrm>
            <a:off x="2541083" y="765174"/>
            <a:ext cx="7951787" cy="4333875"/>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int </a:t>
            </a:r>
            <a:r>
              <a:rPr lang="en-US" altLang="zh-CN" sz="2400"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Delete_Rear</a:t>
            </a: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int item;</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if(f&gt;r)       </a:t>
            </a:r>
            <a:r>
              <a:rPr lang="en-US" altLang="zh-CN" sz="2400" b="1" dirty="0">
                <a:solidFill>
                  <a:srgbClr val="FFC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 is empty*/</a:t>
            </a:r>
            <a:endPar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return  -1;</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item=q[r--];</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if(f&gt;r) f=0,r=-1;    </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r>
              <a:rPr lang="en-US" altLang="zh-CN" sz="2400" b="1" dirty="0">
                <a:solidFill>
                  <a:srgbClr val="FFC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/*Reset to initial state of empty queue*/</a:t>
            </a:r>
            <a:endParaRPr lang="en-US" altLang="zh-CN" sz="2400" dirty="0">
              <a:solidFill>
                <a:srgbClr val="FFC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return item;</a:t>
            </a:r>
          </a:p>
          <a:p>
            <a:pPr marL="114300" indent="0">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t>
            </a:r>
          </a:p>
          <a:p>
            <a:pPr>
              <a:spcAft>
                <a:spcPct val="0"/>
              </a:spcAft>
            </a:pPr>
            <a:endParaRPr lang="en-US" altLang="zh-CN" sz="2000" dirty="0">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29656031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0AF5D436-109E-90CE-4939-3EEE9177C917}"/>
              </a:ext>
            </a:extLst>
          </p:cNvPr>
          <p:cNvSpPr txBox="1">
            <a:spLocks/>
          </p:cNvSpPr>
          <p:nvPr/>
        </p:nvSpPr>
        <p:spPr>
          <a:xfrm>
            <a:off x="2661726" y="756920"/>
            <a:ext cx="8738581" cy="593779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Aft>
                <a:spcPct val="0"/>
              </a:spcAft>
              <a:defRPr/>
            </a:pPr>
            <a:r>
              <a:rPr lang="en-US" altLang="zh-CN" sz="2400" noProof="1">
                <a:solidFill>
                  <a:schemeClr val="accent2"/>
                </a:solidFill>
                <a:latin typeface="Times New Roman" panose="02020603050405020304" pitchFamily="18" charset="0"/>
                <a:ea typeface="Arial" panose="020B0604020202020204"/>
                <a:cs typeface="Times New Roman" panose="02020603050405020304" pitchFamily="18" charset="0"/>
              </a:rPr>
              <a:t>Priority Queue:</a:t>
            </a:r>
          </a:p>
          <a:p>
            <a:pPr marL="342900" algn="just">
              <a:lnSpc>
                <a:spcPct val="150000"/>
              </a:lnSpc>
              <a:spcAft>
                <a:spcPct val="0"/>
              </a:spcAft>
              <a:buFont typeface="Wingdings" panose="05000000000000000000" charset="0"/>
              <a:buChar char="Ø"/>
              <a:defRPr/>
            </a:pPr>
            <a:r>
              <a:rPr lang="en-US" altLang="zh-CN" sz="2000" noProof="1">
                <a:ea typeface="Arial" panose="020B0604020202020204"/>
                <a:cs typeface="Arial" panose="020B0604020202020204"/>
              </a:rPr>
              <a:t>A queue in which we are able to insert items or remove items from any position based on some priority is often referred to as a priority queue.</a:t>
            </a:r>
          </a:p>
          <a:p>
            <a:pPr marL="342900" algn="just">
              <a:lnSpc>
                <a:spcPct val="150000"/>
              </a:lnSpc>
              <a:spcAft>
                <a:spcPct val="0"/>
              </a:spcAft>
              <a:buFont typeface="Wingdings" panose="05000000000000000000" charset="0"/>
              <a:buChar char="Ø"/>
              <a:defRPr/>
            </a:pPr>
            <a:r>
              <a:rPr lang="en-US" altLang="zh-CN" sz="2000" noProof="1">
                <a:ea typeface="Arial" panose="020B0604020202020204"/>
                <a:cs typeface="Arial" panose="020B0604020202020204"/>
              </a:rPr>
              <a:t>Always an element with highest priority is processed before processing any of the lower priority elements.</a:t>
            </a:r>
          </a:p>
          <a:p>
            <a:pPr marL="342900" algn="just">
              <a:lnSpc>
                <a:spcPct val="150000"/>
              </a:lnSpc>
              <a:spcAft>
                <a:spcPct val="0"/>
              </a:spcAft>
              <a:buFont typeface="Wingdings" panose="05000000000000000000" charset="0"/>
              <a:buChar char="Ø"/>
              <a:defRPr/>
            </a:pPr>
            <a:r>
              <a:rPr lang="en-US" altLang="zh-CN" sz="2000" noProof="1">
                <a:ea typeface="Arial" panose="020B0604020202020204"/>
                <a:cs typeface="Arial" panose="020B0604020202020204"/>
              </a:rPr>
              <a:t>If the elements in the queue are of same priority,then the element,which is inserted first into the queue ,is processed .</a:t>
            </a:r>
          </a:p>
          <a:p>
            <a:pPr marL="342900" algn="just">
              <a:lnSpc>
                <a:spcPct val="150000"/>
              </a:lnSpc>
              <a:spcAft>
                <a:spcPct val="0"/>
              </a:spcAft>
              <a:buFont typeface="Wingdings" panose="05000000000000000000" charset="0"/>
              <a:buChar char="Ø"/>
              <a:defRPr/>
            </a:pPr>
            <a:r>
              <a:rPr lang="en-US" altLang="zh-CN" sz="2000" noProof="1">
                <a:ea typeface="Arial" panose="020B0604020202020204"/>
                <a:cs typeface="Arial" panose="020B0604020202020204"/>
              </a:rPr>
              <a:t>priority queues are used in job scheduling algorithms in the design of operating system where the jobs with highest priorities have to be processed first.</a:t>
            </a:r>
          </a:p>
        </p:txBody>
      </p:sp>
    </p:spTree>
    <p:extLst>
      <p:ext uri="{BB962C8B-B14F-4D97-AF65-F5344CB8AC3E}">
        <p14:creationId xmlns:p14="http://schemas.microsoft.com/office/powerpoint/2010/main" val="9676953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20EC0BED-27AB-ADCC-8450-5CF83E4A0E90}"/>
              </a:ext>
            </a:extLst>
          </p:cNvPr>
          <p:cNvSpPr txBox="1">
            <a:spLocks/>
          </p:cNvSpPr>
          <p:nvPr/>
        </p:nvSpPr>
        <p:spPr>
          <a:xfrm>
            <a:off x="2777463" y="570544"/>
            <a:ext cx="8622843" cy="58193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just">
              <a:spcAft>
                <a:spcPct val="0"/>
              </a:spcAft>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priority queues are classified into two groups:</a:t>
            </a:r>
          </a:p>
          <a:p>
            <a:pPr marL="114300" indent="0" algn="just">
              <a:spcAft>
                <a:spcPct val="0"/>
              </a:spcAft>
              <a:buNone/>
            </a:pPr>
            <a:r>
              <a:rPr lang="en-US" altLang="zh-CN" sz="2400" dirty="0">
                <a:solidFill>
                  <a:schemeClr val="accent2"/>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Ascending Priority queue:</a:t>
            </a:r>
          </a:p>
          <a:p>
            <a:pPr marL="114300" indent="0" algn="just">
              <a:spcAft>
                <a:spcPct val="0"/>
              </a:spcAft>
              <a:buNone/>
            </a:pPr>
            <a:r>
              <a:rPr lang="en-US" altLang="zh-CN" sz="24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 an ascending priority queue elements can be inserted in any </a:t>
            </a:r>
            <a:r>
              <a:rPr lang="en-US" altLang="zh-CN" sz="2400" dirty="0" err="1">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order.but</a:t>
            </a: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while deleting an element from queue ,only the smallest element is removed first.</a:t>
            </a:r>
            <a:endParaRPr lang="en-US" altLang="zh-CN" sz="24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endParaRPr>
          </a:p>
          <a:p>
            <a:pPr marL="114300" indent="0" algn="just">
              <a:spcAft>
                <a:spcPct val="0"/>
              </a:spcAft>
              <a:buNone/>
            </a:pPr>
            <a:r>
              <a:rPr lang="en-US" altLang="zh-CN" sz="2400" dirty="0">
                <a:solidFill>
                  <a:schemeClr val="accent2"/>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Descending Priority queue:</a:t>
            </a:r>
          </a:p>
          <a:p>
            <a:pPr marL="114300" indent="0" algn="just">
              <a:spcAft>
                <a:spcPct val="0"/>
              </a:spcAft>
              <a:buNone/>
            </a:pPr>
            <a:r>
              <a:rPr lang="en-US" altLang="zh-CN" sz="24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a:t>
            </a: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In descending priority also elements can be inserted in any </a:t>
            </a:r>
            <a:r>
              <a:rPr lang="en-US" altLang="zh-CN" sz="2400" dirty="0" err="1">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order.but</a:t>
            </a: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while deleting an element from the </a:t>
            </a:r>
            <a:r>
              <a:rPr lang="en-US" altLang="zh-CN" sz="2400" dirty="0" err="1">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queue,only</a:t>
            </a:r>
            <a:r>
              <a:rPr lang="en-US" altLang="zh-CN"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the largest element is deleted first.</a:t>
            </a:r>
          </a:p>
        </p:txBody>
      </p:sp>
    </p:spTree>
    <p:extLst>
      <p:ext uri="{BB962C8B-B14F-4D97-AF65-F5344CB8AC3E}">
        <p14:creationId xmlns:p14="http://schemas.microsoft.com/office/powerpoint/2010/main" val="6883074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01A50416-CF34-3F01-5027-06A3BA5402AF}"/>
              </a:ext>
            </a:extLst>
          </p:cNvPr>
          <p:cNvSpPr txBox="1">
            <a:spLocks/>
          </p:cNvSpPr>
          <p:nvPr/>
        </p:nvSpPr>
        <p:spPr>
          <a:xfrm>
            <a:off x="2460068" y="240028"/>
            <a:ext cx="8031163" cy="447198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defRPr/>
            </a:pPr>
            <a:r>
              <a:rPr lang="en-US" sz="2400" noProof="1">
                <a:latin typeface="Times New Roman" panose="02020603050405020304" pitchFamily="18" charset="0"/>
                <a:cs typeface="Times New Roman" panose="02020603050405020304" pitchFamily="18" charset="0"/>
              </a:rPr>
              <a:t>There are various methods of implementing priority queues using arrays.</a:t>
            </a:r>
          </a:p>
          <a:p>
            <a:pPr>
              <a:defRPr/>
            </a:pPr>
            <a:r>
              <a:rPr lang="en-US" sz="2400" noProof="1">
                <a:latin typeface="Times New Roman" panose="02020603050405020304" pitchFamily="18" charset="0"/>
                <a:cs typeface="Times New Roman" panose="02020603050405020304" pitchFamily="18" charset="0"/>
              </a:rPr>
              <a:t>Implentation is as follows:</a:t>
            </a:r>
          </a:p>
          <a:p>
            <a:pPr marL="342900">
              <a:defRPr/>
            </a:pPr>
            <a:r>
              <a:rPr lang="en-US" sz="2400" noProof="1">
                <a:latin typeface="Times New Roman" panose="02020603050405020304" pitchFamily="18" charset="0"/>
                <a:cs typeface="Times New Roman" panose="02020603050405020304" pitchFamily="18" charset="0"/>
              </a:rPr>
              <a:t>Insert the items based on the priority.</a:t>
            </a:r>
          </a:p>
          <a:p>
            <a:pPr marL="342900">
              <a:defRPr/>
            </a:pPr>
            <a:r>
              <a:rPr lang="en-US" sz="2400" noProof="1">
                <a:latin typeface="Times New Roman" panose="02020603050405020304" pitchFamily="18" charset="0"/>
                <a:cs typeface="Times New Roman" panose="02020603050405020304" pitchFamily="18" charset="0"/>
              </a:rPr>
              <a:t>Assume the item to be inserted itself denotes the priority.</a:t>
            </a:r>
          </a:p>
          <a:p>
            <a:pPr marL="342900">
              <a:defRPr/>
            </a:pPr>
            <a:r>
              <a:rPr lang="en-US" sz="2400" noProof="1">
                <a:latin typeface="Times New Roman" panose="02020603050405020304" pitchFamily="18" charset="0"/>
                <a:cs typeface="Times New Roman" panose="02020603050405020304" pitchFamily="18" charset="0"/>
              </a:rPr>
              <a:t>so,the items with least value can be considered as the items with highest priority and items with highest value can be considered as the </a:t>
            </a:r>
            <a:r>
              <a:rPr lang="en-US" sz="2400" noProof="1">
                <a:latin typeface="Times New Roman" panose="02020603050405020304" pitchFamily="18" charset="0"/>
                <a:cs typeface="Times New Roman" panose="02020603050405020304" pitchFamily="18" charset="0"/>
                <a:sym typeface="+mn-ea"/>
              </a:rPr>
              <a:t>items with least priority.</a:t>
            </a:r>
          </a:p>
          <a:p>
            <a:pPr marL="342900">
              <a:defRPr/>
            </a:pPr>
            <a:r>
              <a:rPr lang="en-US" sz="2400" noProof="1">
                <a:latin typeface="Times New Roman" panose="02020603050405020304" pitchFamily="18" charset="0"/>
                <a:cs typeface="Times New Roman" panose="02020603050405020304" pitchFamily="18" charset="0"/>
                <a:sym typeface="+mn-ea"/>
              </a:rPr>
              <a:t>To implement priority queue,we insert the elements into queue in such a way that they are always ordered in increasing order. </a:t>
            </a:r>
          </a:p>
          <a:p>
            <a:pPr marL="342900">
              <a:defRPr/>
            </a:pPr>
            <a:r>
              <a:rPr lang="en-US" sz="2400" noProof="1">
                <a:latin typeface="Times New Roman" panose="02020603050405020304" pitchFamily="18" charset="0"/>
                <a:cs typeface="Times New Roman" panose="02020603050405020304" pitchFamily="18" charset="0"/>
              </a:rPr>
              <a:t>with this technique the highest priority elements are at the front end of the queue and lowest priority elements are at the rear end of the queue.</a:t>
            </a:r>
          </a:p>
        </p:txBody>
      </p:sp>
    </p:spTree>
    <p:extLst>
      <p:ext uri="{BB962C8B-B14F-4D97-AF65-F5344CB8AC3E}">
        <p14:creationId xmlns:p14="http://schemas.microsoft.com/office/powerpoint/2010/main" val="733669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E4B8825B-AB56-E181-C862-463652FEDB4F}"/>
              </a:ext>
            </a:extLst>
          </p:cNvPr>
          <p:cNvSpPr txBox="1">
            <a:spLocks/>
          </p:cNvSpPr>
          <p:nvPr/>
        </p:nvSpPr>
        <p:spPr>
          <a:xfrm>
            <a:off x="2541083" y="370203"/>
            <a:ext cx="8859224" cy="522804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342900">
              <a:spcAft>
                <a:spcPct val="0"/>
              </a:spcAft>
              <a:buFont typeface="Wingdings" panose="05000000000000000000" pitchFamily="2" charset="2"/>
              <a:buChar char="Ø"/>
            </a:pPr>
            <a:r>
              <a:rPr lang="en-US" altLang="zh-CN"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Hence,while</a:t>
            </a:r>
            <a:r>
              <a:rPr lang="en-US" altLang="zh-CN"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deleting an </a:t>
            </a:r>
            <a:r>
              <a:rPr lang="en-US" altLang="zh-CN" dirty="0" err="1">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item,always</a:t>
            </a:r>
            <a:r>
              <a:rPr lang="en-US" altLang="zh-CN"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delete from the front end so that highest priority element is deleted first. </a:t>
            </a:r>
          </a:p>
          <a:p>
            <a:pPr marL="342900">
              <a:spcAft>
                <a:spcPct val="0"/>
              </a:spcAft>
            </a:pPr>
            <a:r>
              <a:rPr lang="en-US" altLang="zh-CN" dirty="0">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The function to insert an item at the appropriate place is shown below:</a:t>
            </a:r>
          </a:p>
          <a:p>
            <a:pPr marL="342900">
              <a:spcAft>
                <a:spcPct val="0"/>
              </a:spcAft>
            </a:pPr>
            <a:r>
              <a:rPr lang="en-US" altLang="zh-CN" dirty="0" err="1">
                <a:solidFill>
                  <a:srgbClr val="00B0F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Note:To</a:t>
            </a:r>
            <a:r>
              <a:rPr lang="en-US" altLang="zh-CN" dirty="0">
                <a:solidFill>
                  <a:srgbClr val="00B0F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insert an element into appropriate place so that elements are arranged in ascending </a:t>
            </a:r>
            <a:r>
              <a:rPr lang="en-US" altLang="zh-CN" dirty="0" err="1">
                <a:solidFill>
                  <a:srgbClr val="00B0F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order,insertion</a:t>
            </a:r>
            <a:r>
              <a:rPr lang="en-US" altLang="zh-CN" dirty="0">
                <a:solidFill>
                  <a:srgbClr val="00B0F0"/>
                </a:solidFill>
                <a:latin typeface="Times New Roman" panose="02020603050405020304" pitchFamily="18" charset="0"/>
                <a:ea typeface="SimSun" panose="02010600030101010101" pitchFamily="2" charset="-122"/>
                <a:cs typeface="Times New Roman" panose="02020603050405020304" pitchFamily="18" charset="0"/>
                <a:sym typeface="Calibri" panose="020F0502020204030204" pitchFamily="34" charset="0"/>
              </a:rPr>
              <a:t> sort technique is used.</a:t>
            </a:r>
          </a:p>
          <a:p>
            <a:pPr marL="342900">
              <a:spcAft>
                <a:spcPct val="0"/>
              </a:spcAft>
            </a:pPr>
            <a:endParaRPr lang="en-US" altLang="zh-CN" sz="2000" dirty="0">
              <a:solidFill>
                <a:srgbClr val="00B0F0"/>
              </a:solidFill>
              <a:latin typeface="Calibri" panose="020F0502020204030204" pitchFamily="34" charset="0"/>
              <a:ea typeface="SimSun" panose="02010600030101010101" pitchFamily="2" charset="-122"/>
              <a:cs typeface="Arial" panose="020B0604020202020204" pitchFamily="34" charset="0"/>
              <a:sym typeface="Calibri" panose="020F0502020204030204" pitchFamily="34" charset="0"/>
            </a:endParaRPr>
          </a:p>
        </p:txBody>
      </p:sp>
    </p:spTree>
    <p:extLst>
      <p:ext uri="{BB962C8B-B14F-4D97-AF65-F5344CB8AC3E}">
        <p14:creationId xmlns:p14="http://schemas.microsoft.com/office/powerpoint/2010/main" val="22317437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5942CDAE-421E-47D9-74CF-1E58C7859C8A}"/>
              </a:ext>
            </a:extLst>
          </p:cNvPr>
          <p:cNvSpPr txBox="1">
            <a:spLocks/>
          </p:cNvSpPr>
          <p:nvPr/>
        </p:nvSpPr>
        <p:spPr>
          <a:xfrm>
            <a:off x="2541083" y="882015"/>
            <a:ext cx="8018463" cy="44259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void Insert_item(int item,int q[],int *r)</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int j;</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if(*r==queue_size-1)</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printf("Q is full\n");</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return;</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j=*r;</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while(j&gt;=0&amp;&amp;item&lt;q[j])</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q[j+1]=q[j];</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j--;</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q[j+1]=item;</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	*r=*r+1;</a:t>
            </a:r>
          </a:p>
          <a:p>
            <a:pPr marL="114300" indent="0">
              <a:lnSpc>
                <a:spcPct val="40000"/>
              </a:lnSpc>
              <a:spcAft>
                <a:spcPct val="0"/>
              </a:spcAft>
              <a:buNone/>
            </a:pPr>
            <a:r>
              <a:rPr lang="en-US" altLang="zh-CN" sz="2400" noProof="1">
                <a:latin typeface="Times New Roman" panose="02020603050405020304" pitchFamily="18" charset="0"/>
                <a:cs typeface="Times New Roman" panose="02020603050405020304" pitchFamily="18" charset="0"/>
                <a:sym typeface="Calibri" panose="020F0502020204030204" pitchFamily="34" charset="0"/>
              </a:rPr>
              <a:t>}</a:t>
            </a:r>
          </a:p>
        </p:txBody>
      </p:sp>
    </p:spTree>
    <p:extLst>
      <p:ext uri="{BB962C8B-B14F-4D97-AF65-F5344CB8AC3E}">
        <p14:creationId xmlns:p14="http://schemas.microsoft.com/office/powerpoint/2010/main" val="419876613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
        <p:nvSpPr>
          <p:cNvPr id="2" name="Subtitle 2">
            <a:extLst>
              <a:ext uri="{FF2B5EF4-FFF2-40B4-BE49-F238E27FC236}">
                <a16:creationId xmlns:a16="http://schemas.microsoft.com/office/drawing/2014/main" id="{A5769126-C868-46A8-4F04-CCAA50FB090C}"/>
              </a:ext>
            </a:extLst>
          </p:cNvPr>
          <p:cNvSpPr txBox="1">
            <a:spLocks/>
          </p:cNvSpPr>
          <p:nvPr/>
        </p:nvSpPr>
        <p:spPr>
          <a:xfrm>
            <a:off x="2913743" y="325753"/>
            <a:ext cx="7678737" cy="430053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70000"/>
              </a:lnSpc>
              <a:spcAft>
                <a:spcPct val="0"/>
              </a:spcAft>
            </a:pPr>
            <a:r>
              <a:rPr lang="en-US" altLang="zh-CN" sz="2000" noProof="1">
                <a:solidFill>
                  <a:srgbClr val="00B0F0"/>
                </a:solidFill>
                <a:latin typeface="Calibri" panose="020F0502020204030204" pitchFamily="34" charset="0"/>
                <a:cs typeface="Calibri" panose="020F0502020204030204" pitchFamily="34" charset="0"/>
                <a:sym typeface="Calibri" panose="020F0502020204030204" pitchFamily="34" charset="0"/>
              </a:rPr>
              <a:t>Note:</a:t>
            </a:r>
            <a:r>
              <a:rPr lang="en-US" altLang="zh-CN" sz="2000" noProof="1">
                <a:latin typeface="Calibri" panose="020F0502020204030204" pitchFamily="34" charset="0"/>
                <a:cs typeface="Calibri" panose="020F0502020204030204" pitchFamily="34" charset="0"/>
                <a:sym typeface="Calibri" panose="020F0502020204030204" pitchFamily="34" charset="0"/>
              </a:rPr>
              <a:t>To implement priority queue,insert an item such that items are arranged in ascending order.But always delete an item from the front end.The functions delete_front() and display() remains unaltered.</a:t>
            </a:r>
          </a:p>
        </p:txBody>
      </p:sp>
    </p:spTree>
    <p:extLst>
      <p:ext uri="{BB962C8B-B14F-4D97-AF65-F5344CB8AC3E}">
        <p14:creationId xmlns:p14="http://schemas.microsoft.com/office/powerpoint/2010/main" val="13942514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2eff20282af_0_109"/>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213" name="Google Shape;213;g2eff20282af_0_109"/>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grpSp>
        <p:nvGrpSpPr>
          <p:cNvPr id="214" name="Google Shape;214;g2eff20282af_0_109"/>
          <p:cNvGrpSpPr/>
          <p:nvPr/>
        </p:nvGrpSpPr>
        <p:grpSpPr>
          <a:xfrm>
            <a:off x="53470" y="1474470"/>
            <a:ext cx="2278380" cy="3049270"/>
            <a:chOff x="122" y="2322"/>
            <a:chExt cx="3588" cy="4802"/>
          </a:xfrm>
        </p:grpSpPr>
        <p:sp>
          <p:nvSpPr>
            <p:cNvPr id="215" name="Google Shape;215;g2eff20282af_0_109"/>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216" name="Google Shape;216;g2eff20282af_0_109"/>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217" name="Google Shape;217;g2eff20282af_0_109" descr="Image"/>
            <p:cNvPicPr preferRelativeResize="0"/>
            <p:nvPr/>
          </p:nvPicPr>
          <p:blipFill rotWithShape="1">
            <a:blip r:embed="rId3">
              <a:alphaModFix/>
            </a:blip>
            <a:srcRect/>
            <a:stretch/>
          </p:blipFill>
          <p:spPr>
            <a:xfrm>
              <a:off x="987" y="3715"/>
              <a:ext cx="1683" cy="1805"/>
            </a:xfrm>
            <a:prstGeom prst="rect">
              <a:avLst/>
            </a:prstGeom>
            <a:noFill/>
            <a:ln>
              <a:noFill/>
            </a:ln>
          </p:spPr>
        </p:pic>
      </p:grpSp>
      <p:pic>
        <p:nvPicPr>
          <p:cNvPr id="218" name="Google Shape;218;g2eff20282af_0_109"/>
          <p:cNvPicPr preferRelativeResize="0"/>
          <p:nvPr/>
        </p:nvPicPr>
        <p:blipFill>
          <a:blip r:embed="rId4">
            <a:alphaModFix/>
          </a:blip>
          <a:stretch>
            <a:fillRect/>
          </a:stretch>
        </p:blipFill>
        <p:spPr>
          <a:xfrm>
            <a:off x="4321900" y="1198225"/>
            <a:ext cx="5962650" cy="4219575"/>
          </a:xfrm>
          <a:prstGeom prst="rect">
            <a:avLst/>
          </a:prstGeom>
          <a:noFill/>
          <a:ln>
            <a:noFill/>
          </a:ln>
        </p:spPr>
      </p:pic>
      <p:sp>
        <p:nvSpPr>
          <p:cNvPr id="219" name="Google Shape;219;g2eff20282af_0_109"/>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CSE(DS)</a:t>
            </a:r>
            <a:endParaRPr sz="1400" i="0" u="none" strike="noStrike" cap="none" dirty="0">
              <a:solidFill>
                <a:srgbClr val="FFFFF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3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5569</TotalTime>
  <Words>8421</Words>
  <Application>Microsoft Office PowerPoint</Application>
  <PresentationFormat>Widescreen</PresentationFormat>
  <Paragraphs>1049</Paragraphs>
  <Slides>106</Slides>
  <Notes>106</Notes>
  <HiddenSlides>0</HiddenSlides>
  <MMClips>0</MMClips>
  <ScaleCrop>false</ScaleCrop>
  <HeadingPairs>
    <vt:vector size="8" baseType="variant">
      <vt:variant>
        <vt:lpstr>Fonts Used</vt:lpstr>
      </vt:variant>
      <vt:variant>
        <vt:i4>7</vt:i4>
      </vt:variant>
      <vt:variant>
        <vt:lpstr>Theme</vt:lpstr>
      </vt:variant>
      <vt:variant>
        <vt:i4>5</vt:i4>
      </vt:variant>
      <vt:variant>
        <vt:lpstr>Embedded OLE Servers</vt:lpstr>
      </vt:variant>
      <vt:variant>
        <vt:i4>1</vt:i4>
      </vt:variant>
      <vt:variant>
        <vt:lpstr>Slide Titles</vt:lpstr>
      </vt:variant>
      <vt:variant>
        <vt:i4>106</vt:i4>
      </vt:variant>
    </vt:vector>
  </HeadingPairs>
  <TitlesOfParts>
    <vt:vector size="119" baseType="lpstr">
      <vt:lpstr>Calibri Light</vt:lpstr>
      <vt:lpstr>Poppins</vt:lpstr>
      <vt:lpstr>Arial</vt:lpstr>
      <vt:lpstr>Calibri</vt:lpstr>
      <vt:lpstr>Times New Roman</vt:lpstr>
      <vt:lpstr>Wingdings</vt:lpstr>
      <vt:lpstr>Noto Sans Symbols</vt:lpstr>
      <vt:lpstr>3_Custom Design</vt:lpstr>
      <vt:lpstr>1_Custom Design</vt:lpstr>
      <vt:lpstr>5_Custom Design</vt:lpstr>
      <vt:lpstr>4_Custom Design</vt:lpstr>
      <vt:lpstr>Custom Design</vt:lpstr>
      <vt:lpstr>Paintbrush Picture</vt:lpstr>
      <vt:lpstr>PowerPoint Presentation</vt:lpstr>
      <vt:lpstr>PowerPoint Presentation</vt:lpstr>
      <vt:lpstr>PowerPoint Presentation</vt:lpstr>
      <vt:lpstr>PowerPoint Presentation</vt:lpstr>
      <vt:lpstr>Example:stack of cards and plates</vt:lpstr>
      <vt:lpstr>PowerPoint Presentation</vt:lpstr>
      <vt:lpstr>Implementation of Stack Data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Principal aip</dc:creator>
  <cp:lastModifiedBy>Hi</cp:lastModifiedBy>
  <cp:revision>23</cp:revision>
  <dcterms:created xsi:type="dcterms:W3CDTF">2021-09-07T04:22:00Z</dcterms:created>
  <dcterms:modified xsi:type="dcterms:W3CDTF">2026-10-27T13:30:45Z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0398283ACE364599A240D38F3F474187_13</vt:lpwstr>
  </property>
  <property fmtid="{D5CDD505-2E9C-101B-9397-08002B2CF9AE}" pid="3" name="KSOProductBuildVer">
    <vt:lpwstr>1033-12.2.0.13489</vt:lpwstr>
  </property>
</Properties>
</file>