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96" r:id="rId2"/>
    <p:sldMasterId id="2147483684" r:id="rId3"/>
    <p:sldMasterId id="2147483661" r:id="rId4"/>
    <p:sldMasterId id="2147483672" r:id="rId5"/>
  </p:sldMasterIdLst>
  <p:notesMasterIdLst>
    <p:notesMasterId r:id="rId88"/>
  </p:notesMasterIdLst>
  <p:sldIdLst>
    <p:sldId id="256" r:id="rId6"/>
    <p:sldId id="265" r:id="rId7"/>
    <p:sldId id="266" r:id="rId8"/>
    <p:sldId id="268" r:id="rId9"/>
    <p:sldId id="269" r:id="rId10"/>
    <p:sldId id="270" r:id="rId11"/>
    <p:sldId id="271" r:id="rId12"/>
    <p:sldId id="273" r:id="rId13"/>
    <p:sldId id="272" r:id="rId14"/>
    <p:sldId id="267" r:id="rId15"/>
    <p:sldId id="274" r:id="rId16"/>
    <p:sldId id="275" r:id="rId17"/>
    <p:sldId id="277" r:id="rId18"/>
    <p:sldId id="276" r:id="rId19"/>
    <p:sldId id="279" r:id="rId20"/>
    <p:sldId id="282" r:id="rId21"/>
    <p:sldId id="281" r:id="rId22"/>
    <p:sldId id="280" r:id="rId23"/>
    <p:sldId id="278"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63"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0" r:id="rId82"/>
    <p:sldId id="341" r:id="rId83"/>
    <p:sldId id="342" r:id="rId84"/>
    <p:sldId id="343" r:id="rId85"/>
    <p:sldId id="384" r:id="rId86"/>
    <p:sldId id="264" r:id="rId87"/>
  </p:sldIdLst>
  <p:sldSz cx="12192000" cy="6858000"/>
  <p:notesSz cx="6858000" cy="9144000"/>
  <p:embeddedFontLst>
    <p:embeddedFont>
      <p:font typeface="Poppins" panose="00000500000000000000" pitchFamily="2" charset="0"/>
      <p:regular r:id="rId89"/>
      <p:bold r:id="rId90"/>
      <p:italic r:id="rId91"/>
      <p:boldItalic r:id="rId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49">
          <p15:clr>
            <a:srgbClr val="A4A3A4"/>
          </p15:clr>
        </p15:guide>
        <p15:guide id="2" pos="232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7" roundtripDataSignature="AMtx7mj2tfnw/z739FrauExb7XE+xxQB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996" y="66"/>
      </p:cViewPr>
      <p:guideLst>
        <p:guide orient="horz" pos="1049"/>
        <p:guide pos="23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font" Target="fonts/font1.fntdata"/><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font" Target="fonts/font2.fntdata"/><Relationship Id="rId181" Type="http://schemas.openxmlformats.org/officeDocument/2006/relationships/tableStyles" Target="tableStyle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notesMaster" Target="notesMasters/notesMaster1.xml"/><Relationship Id="rId91" Type="http://schemas.openxmlformats.org/officeDocument/2006/relationships/font" Target="fonts/font3.fntdata"/><Relationship Id="rId17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177" Type="http://customschemas.google.com/relationships/presentationmetadata" Target="metadata"/><Relationship Id="rId4" Type="http://schemas.openxmlformats.org/officeDocument/2006/relationships/slideMaster" Target="slideMasters/slideMaster4.xml"/><Relationship Id="rId9" Type="http://schemas.openxmlformats.org/officeDocument/2006/relationships/slide" Target="slides/slide4.xml"/><Relationship Id="rId180" Type="http://schemas.openxmlformats.org/officeDocument/2006/relationships/theme" Target="theme/theme1.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font" Target="fonts/font4.fntdata"/><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78"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L="914400" marR="0" lvl="1"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2pPr>
            <a:lvl3pPr marL="1371600" marR="0" lvl="2"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3pPr>
            <a:lvl4pPr marL="1828800" marR="0" lvl="3"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4pPr>
            <a:lvl5pPr marL="2286000" marR="0" lvl="4"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5pPr>
            <a:lvl6pPr marL="2743200" marR="0" lvl="5"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6pPr>
            <a:lvl7pPr marL="3200400" marR="0" lvl="6"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7pPr>
            <a:lvl8pPr marL="3657600" marR="0" lvl="7"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8pPr>
            <a:lvl9pPr marL="4114800" marR="0" lvl="8"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oppins"/>
                <a:ea typeface="Poppins"/>
                <a:cs typeface="Poppins"/>
                <a:sym typeface="Poppins"/>
              </a:rPr>
              <a:t>‹#›</a:t>
            </a:fld>
            <a:endParaRPr sz="1200" b="0" i="0" u="none" strike="noStrike" cap="none">
              <a:solidFill>
                <a:schemeClr val="dk1"/>
              </a:solidFill>
              <a:latin typeface="Poppins"/>
              <a:ea typeface="Poppins"/>
              <a:cs typeface="Poppins"/>
              <a:sym typeface="Poppi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253571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317643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389366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315036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223390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044712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799477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172175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080599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286888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839685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274260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890080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682025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47311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071324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183831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651711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589124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8480481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190376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0938133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1093839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2387377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632488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868080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3857379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34696095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5702236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22584729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9596951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735226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3343567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22147489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1311102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32253070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19854733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1704115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2982797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33984145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10807833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18729010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18139274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34471944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24755001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7811745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24556303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1890765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30742802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8894169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15934458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6401058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extLst>
      <p:ext uri="{BB962C8B-B14F-4D97-AF65-F5344CB8AC3E}">
        <p14:creationId xmlns:p14="http://schemas.microsoft.com/office/powerpoint/2010/main" val="23290776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extLst>
      <p:ext uri="{BB962C8B-B14F-4D97-AF65-F5344CB8AC3E}">
        <p14:creationId xmlns:p14="http://schemas.microsoft.com/office/powerpoint/2010/main" val="8753620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41560229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extLst>
      <p:ext uri="{BB962C8B-B14F-4D97-AF65-F5344CB8AC3E}">
        <p14:creationId xmlns:p14="http://schemas.microsoft.com/office/powerpoint/2010/main" val="15338334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309766930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25737613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6653477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3827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36319775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extLst>
      <p:ext uri="{BB962C8B-B14F-4D97-AF65-F5344CB8AC3E}">
        <p14:creationId xmlns:p14="http://schemas.microsoft.com/office/powerpoint/2010/main" val="22307788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extLst>
      <p:ext uri="{BB962C8B-B14F-4D97-AF65-F5344CB8AC3E}">
        <p14:creationId xmlns:p14="http://schemas.microsoft.com/office/powerpoint/2010/main" val="4371526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extLst>
      <p:ext uri="{BB962C8B-B14F-4D97-AF65-F5344CB8AC3E}">
        <p14:creationId xmlns:p14="http://schemas.microsoft.com/office/powerpoint/2010/main" val="98781908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extLst>
      <p:ext uri="{BB962C8B-B14F-4D97-AF65-F5344CB8AC3E}">
        <p14:creationId xmlns:p14="http://schemas.microsoft.com/office/powerpoint/2010/main" val="21386338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extLst>
      <p:ext uri="{BB962C8B-B14F-4D97-AF65-F5344CB8AC3E}">
        <p14:creationId xmlns:p14="http://schemas.microsoft.com/office/powerpoint/2010/main" val="99548388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extLst>
      <p:ext uri="{BB962C8B-B14F-4D97-AF65-F5344CB8AC3E}">
        <p14:creationId xmlns:p14="http://schemas.microsoft.com/office/powerpoint/2010/main" val="105908119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extLst>
      <p:ext uri="{BB962C8B-B14F-4D97-AF65-F5344CB8AC3E}">
        <p14:creationId xmlns:p14="http://schemas.microsoft.com/office/powerpoint/2010/main" val="96514784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extLst>
      <p:ext uri="{BB962C8B-B14F-4D97-AF65-F5344CB8AC3E}">
        <p14:creationId xmlns:p14="http://schemas.microsoft.com/office/powerpoint/2010/main" val="13448722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extLst>
      <p:ext uri="{BB962C8B-B14F-4D97-AF65-F5344CB8AC3E}">
        <p14:creationId xmlns:p14="http://schemas.microsoft.com/office/powerpoint/2010/main" val="392744476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72</a:t>
            </a:fld>
            <a:endParaRPr/>
          </a:p>
        </p:txBody>
      </p:sp>
    </p:spTree>
    <p:extLst>
      <p:ext uri="{BB962C8B-B14F-4D97-AF65-F5344CB8AC3E}">
        <p14:creationId xmlns:p14="http://schemas.microsoft.com/office/powerpoint/2010/main" val="28809832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73</a:t>
            </a:fld>
            <a:endParaRPr/>
          </a:p>
        </p:txBody>
      </p:sp>
    </p:spTree>
    <p:extLst>
      <p:ext uri="{BB962C8B-B14F-4D97-AF65-F5344CB8AC3E}">
        <p14:creationId xmlns:p14="http://schemas.microsoft.com/office/powerpoint/2010/main" val="29498737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178968614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75</a:t>
            </a:fld>
            <a:endParaRPr/>
          </a:p>
        </p:txBody>
      </p:sp>
    </p:spTree>
    <p:extLst>
      <p:ext uri="{BB962C8B-B14F-4D97-AF65-F5344CB8AC3E}">
        <p14:creationId xmlns:p14="http://schemas.microsoft.com/office/powerpoint/2010/main" val="75361937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76</a:t>
            </a:fld>
            <a:endParaRPr/>
          </a:p>
        </p:txBody>
      </p:sp>
    </p:spTree>
    <p:extLst>
      <p:ext uri="{BB962C8B-B14F-4D97-AF65-F5344CB8AC3E}">
        <p14:creationId xmlns:p14="http://schemas.microsoft.com/office/powerpoint/2010/main" val="39575594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77</a:t>
            </a:fld>
            <a:endParaRPr/>
          </a:p>
        </p:txBody>
      </p:sp>
    </p:spTree>
    <p:extLst>
      <p:ext uri="{BB962C8B-B14F-4D97-AF65-F5344CB8AC3E}">
        <p14:creationId xmlns:p14="http://schemas.microsoft.com/office/powerpoint/2010/main" val="353836585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78</a:t>
            </a:fld>
            <a:endParaRPr/>
          </a:p>
        </p:txBody>
      </p:sp>
    </p:spTree>
    <p:extLst>
      <p:ext uri="{BB962C8B-B14F-4D97-AF65-F5344CB8AC3E}">
        <p14:creationId xmlns:p14="http://schemas.microsoft.com/office/powerpoint/2010/main" val="46576146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15924300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80</a:t>
            </a:fld>
            <a:endParaRPr/>
          </a:p>
        </p:txBody>
      </p:sp>
    </p:spTree>
    <p:extLst>
      <p:ext uri="{BB962C8B-B14F-4D97-AF65-F5344CB8AC3E}">
        <p14:creationId xmlns:p14="http://schemas.microsoft.com/office/powerpoint/2010/main" val="167334131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81</a:t>
            </a:fld>
            <a:endParaRPr/>
          </a:p>
        </p:txBody>
      </p:sp>
    </p:spTree>
    <p:extLst>
      <p:ext uri="{BB962C8B-B14F-4D97-AF65-F5344CB8AC3E}">
        <p14:creationId xmlns:p14="http://schemas.microsoft.com/office/powerpoint/2010/main" val="282805323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eff20282af_0_1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2eff20282af_0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E32FA-F928-3B61-EF7C-9C9D775ACF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671296-9A0F-EB64-35D9-30EFACACFB7D}"/>
              </a:ext>
            </a:extLst>
          </p:cNvPr>
          <p:cNvSpPr>
            <a:spLocks noGrp="1"/>
          </p:cNvSpPr>
          <p:nvPr>
            <p:ph type="dt" idx="10"/>
          </p:nvPr>
        </p:nvSpPr>
        <p:spPr/>
        <p:txBody>
          <a:bodyPr/>
          <a:lstStyle/>
          <a:p>
            <a:endParaRPr lang="en-US"/>
          </a:p>
        </p:txBody>
      </p:sp>
      <p:sp>
        <p:nvSpPr>
          <p:cNvPr id="4" name="Footer Placeholder 3">
            <a:extLst>
              <a:ext uri="{FF2B5EF4-FFF2-40B4-BE49-F238E27FC236}">
                <a16:creationId xmlns:a16="http://schemas.microsoft.com/office/drawing/2014/main" id="{91EC2877-B2D0-9884-04BF-168464A0493C}"/>
              </a:ext>
            </a:extLst>
          </p:cNvPr>
          <p:cNvSpPr>
            <a:spLocks noGrp="1"/>
          </p:cNvSpPr>
          <p:nvPr>
            <p:ph type="ftr" idx="11"/>
          </p:nvPr>
        </p:nvSpPr>
        <p:spPr/>
        <p:txBody>
          <a:bodyPr/>
          <a:lstStyle/>
          <a:p>
            <a:endParaRPr lang="en-US"/>
          </a:p>
        </p:txBody>
      </p:sp>
      <p:sp>
        <p:nvSpPr>
          <p:cNvPr id="5" name="Slide Number Placeholder 4">
            <a:extLst>
              <a:ext uri="{FF2B5EF4-FFF2-40B4-BE49-F238E27FC236}">
                <a16:creationId xmlns:a16="http://schemas.microsoft.com/office/drawing/2014/main" id="{EA2FEB19-561A-46DD-4FFE-D82EBCA09A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50652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3"/>
          <p:cNvSpPr>
            <a:spLocks noGrp="1"/>
          </p:cNvSpPr>
          <p:nvPr>
            <p:ph type="pic" idx="2"/>
          </p:nvPr>
        </p:nvSpPr>
        <p:spPr>
          <a:xfrm>
            <a:off x="5183188" y="987425"/>
            <a:ext cx="6172200" cy="4873625"/>
          </a:xfrm>
          <a:prstGeom prst="rect">
            <a:avLst/>
          </a:prstGeom>
          <a:noFill/>
          <a:ln>
            <a:noFill/>
          </a:ln>
        </p:spPr>
      </p:sp>
      <p:sp>
        <p:nvSpPr>
          <p:cNvPr id="68" name="Google Shape;68;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F440-A790-5E52-3D38-7F70A3768D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558A91-3E96-57A2-24FA-5214699ACE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C11C52-F168-783B-E729-4A9220CAA157}"/>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C90072B1-3421-A5E9-146C-F14BA74628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7C547E-9091-ADBB-C5D9-F0DCEE7E9340}"/>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3694108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27EA-5D72-A534-62D9-84835A4415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507AD7-B244-88A5-9EA8-7697B6489E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0CFBA5-F186-23C1-9F0A-B20C8A2AC225}"/>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7987732A-E841-7FBE-250B-C61B03DCF4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5AE74E-BD92-F8D0-F9A7-058014139D59}"/>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3029973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56536-3E38-2F29-6701-8F00F25EE5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83F81B-2B6A-C294-5AD4-7043733842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BDFD89-C045-FEE0-F16C-E325C51BE61B}"/>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BF2668DE-57EF-72CE-1C65-F187D0F613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86343-E044-3648-2CBB-0BF3FCA7D58C}"/>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6167100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4A4E3-75F6-CB8A-8A45-898C402D8B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1B81A1-4D84-AD9C-5E09-C9C2EB2B17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991DC2-403C-87BD-835B-34A67FC029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48E20E-DDEE-519E-30CC-BEF074CA6C78}"/>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6" name="Footer Placeholder 5">
            <a:extLst>
              <a:ext uri="{FF2B5EF4-FFF2-40B4-BE49-F238E27FC236}">
                <a16:creationId xmlns:a16="http://schemas.microsoft.com/office/drawing/2014/main" id="{ADFC4A9F-DA5E-78D4-4B04-F426723C86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62F751-FEEE-F22F-8486-F7609D05248E}"/>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1238649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B57B-B3F7-C765-5AD8-27804AF57E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98614B-5D2E-91D4-254C-A80ACA2D3C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CD8B52-50C4-64C9-F438-1FC72CBAF0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4F047D-118C-CF6A-DB3C-DA4370A1C5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204070-9FEF-AFCE-52E2-4144EEC594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8FD130-35B9-5279-332D-6524C23E8344}"/>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8" name="Footer Placeholder 7">
            <a:extLst>
              <a:ext uri="{FF2B5EF4-FFF2-40B4-BE49-F238E27FC236}">
                <a16:creationId xmlns:a16="http://schemas.microsoft.com/office/drawing/2014/main" id="{62346359-8858-BC53-AEDC-25E841341C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4AF35E-39F4-2888-C173-BF81A38B003D}"/>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429026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99B51-3E47-A2D7-5F63-797482BC81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B342A1-D83F-FD38-87A8-8F3BE01AA739}"/>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4" name="Footer Placeholder 3">
            <a:extLst>
              <a:ext uri="{FF2B5EF4-FFF2-40B4-BE49-F238E27FC236}">
                <a16:creationId xmlns:a16="http://schemas.microsoft.com/office/drawing/2014/main" id="{2FA13253-EA73-7320-B2B6-F9DDABD84B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2B699E-9BBE-B2A0-49B0-8F0A4712AFA9}"/>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811526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E3FDA6-158D-E7AD-9D86-27F1CDF485F2}"/>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3" name="Footer Placeholder 2">
            <a:extLst>
              <a:ext uri="{FF2B5EF4-FFF2-40B4-BE49-F238E27FC236}">
                <a16:creationId xmlns:a16="http://schemas.microsoft.com/office/drawing/2014/main" id="{0C966C46-32A8-26EB-ABEC-ACC7954669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0EB2A7-FE95-BB74-9E41-49EA9E8EAA84}"/>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29404418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8238B-2737-C6E8-83DC-048A6CBA69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D93FF1-8CCB-E484-3D59-5AD1247CB3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F4541E-8C02-82A3-E46D-A32CB4985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B987AB-1271-5E00-5764-BF593E79F1CB}"/>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6" name="Footer Placeholder 5">
            <a:extLst>
              <a:ext uri="{FF2B5EF4-FFF2-40B4-BE49-F238E27FC236}">
                <a16:creationId xmlns:a16="http://schemas.microsoft.com/office/drawing/2014/main" id="{EF5809B6-C648-FEB4-9373-456AD2B3D7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F92D04-D25B-AA69-2BA3-379A6FC2241E}"/>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3939624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09C83-A9C1-6C93-13F7-62B569676A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113125-5C29-2774-3C5F-4D182407B3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DD6BEB-34E2-6466-B721-02301E698D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804200-92C7-524E-DDCF-D5148FAE41EA}"/>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6" name="Footer Placeholder 5">
            <a:extLst>
              <a:ext uri="{FF2B5EF4-FFF2-40B4-BE49-F238E27FC236}">
                <a16:creationId xmlns:a16="http://schemas.microsoft.com/office/drawing/2014/main" id="{62C9CAC3-E63E-A96B-4FB1-45A864508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BD5B0F-5D3C-FAFD-2546-BA7C5B0D1058}"/>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30232282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FE2FD-9A84-15E0-6AEB-C7F7F57EF5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A4BE25-CE94-DEB9-D42D-816E756BE7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35A4CF-8F3B-EF0A-605F-CE901E5E1E35}"/>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7ABF0C20-788B-728B-AB44-232EE87D7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F22FFE-1133-9D77-D2DB-BD68C98A158C}"/>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6051080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A77AFA-8329-2EA5-A7BC-3C9A90DCDC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A4AEAF-DF91-0307-1A7B-B45719294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FD8722-9E5E-F6F4-848F-C7B4BC003CBD}"/>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09197C3E-1EEA-1F05-573A-8DA4314A31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D60163-BEDD-9D40-B09B-3EBB17444F45}"/>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12681146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3592E-BDAD-C455-02FB-D11D0DAFAD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1C529A-B80A-F2F8-BA8A-DE71CD5EF508}"/>
              </a:ext>
            </a:extLst>
          </p:cNvPr>
          <p:cNvSpPr>
            <a:spLocks noGrp="1"/>
          </p:cNvSpPr>
          <p:nvPr>
            <p:ph type="dt" sz="half" idx="10"/>
          </p:nvPr>
        </p:nvSpPr>
        <p:spPr/>
        <p:txBody>
          <a:bodyPr/>
          <a:lstStyle/>
          <a:p>
            <a:fld id="{B9B872AF-DB9D-4471-A99B-28B3ACF64023}" type="datetimeFigureOut">
              <a:rPr lang="en-US" smtClean="0"/>
              <a:t>10/27/2026</a:t>
            </a:fld>
            <a:endParaRPr lang="en-US"/>
          </a:p>
        </p:txBody>
      </p:sp>
      <p:sp>
        <p:nvSpPr>
          <p:cNvPr id="4" name="Footer Placeholder 3">
            <a:extLst>
              <a:ext uri="{FF2B5EF4-FFF2-40B4-BE49-F238E27FC236}">
                <a16:creationId xmlns:a16="http://schemas.microsoft.com/office/drawing/2014/main" id="{3D8B0204-58AC-2C9C-5DB1-D9A607F84C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108000-A867-421A-DAAA-826355C3755F}"/>
              </a:ext>
            </a:extLst>
          </p:cNvPr>
          <p:cNvSpPr>
            <a:spLocks noGrp="1"/>
          </p:cNvSpPr>
          <p:nvPr>
            <p:ph type="sldNum" sz="quarter" idx="12"/>
          </p:nvPr>
        </p:nvSpPr>
        <p:spPr/>
        <p:txBody>
          <a:bodyPr/>
          <a:lstStyle/>
          <a:p>
            <a:fld id="{69696220-D115-49E9-84B9-64EE2B9D578B}" type="slidenum">
              <a:rPr lang="en-US" smtClean="0"/>
              <a:t>‹#›</a:t>
            </a:fld>
            <a:endParaRPr lang="en-US"/>
          </a:p>
        </p:txBody>
      </p:sp>
    </p:spTree>
    <p:extLst>
      <p:ext uri="{BB962C8B-B14F-4D97-AF65-F5344CB8AC3E}">
        <p14:creationId xmlns:p14="http://schemas.microsoft.com/office/powerpoint/2010/main" val="957831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694819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E32FA-F928-3B61-EF7C-9C9D775ACF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671296-9A0F-EB64-35D9-30EFACACFB7D}"/>
              </a:ext>
            </a:extLst>
          </p:cNvPr>
          <p:cNvSpPr>
            <a:spLocks noGrp="1"/>
          </p:cNvSpPr>
          <p:nvPr>
            <p:ph type="dt" idx="10"/>
          </p:nvPr>
        </p:nvSpPr>
        <p:spPr/>
        <p:txBody>
          <a:bodyPr/>
          <a:lstStyle/>
          <a:p>
            <a:endParaRPr lang="en-US"/>
          </a:p>
        </p:txBody>
      </p:sp>
      <p:sp>
        <p:nvSpPr>
          <p:cNvPr id="4" name="Footer Placeholder 3">
            <a:extLst>
              <a:ext uri="{FF2B5EF4-FFF2-40B4-BE49-F238E27FC236}">
                <a16:creationId xmlns:a16="http://schemas.microsoft.com/office/drawing/2014/main" id="{91EC2877-B2D0-9884-04BF-168464A0493C}"/>
              </a:ext>
            </a:extLst>
          </p:cNvPr>
          <p:cNvSpPr>
            <a:spLocks noGrp="1"/>
          </p:cNvSpPr>
          <p:nvPr>
            <p:ph type="ftr" idx="11"/>
          </p:nvPr>
        </p:nvSpPr>
        <p:spPr/>
        <p:txBody>
          <a:bodyPr/>
          <a:lstStyle/>
          <a:p>
            <a:endParaRPr lang="en-US"/>
          </a:p>
        </p:txBody>
      </p:sp>
      <p:sp>
        <p:nvSpPr>
          <p:cNvPr id="5" name="Slide Number Placeholder 4">
            <a:extLst>
              <a:ext uri="{FF2B5EF4-FFF2-40B4-BE49-F238E27FC236}">
                <a16:creationId xmlns:a16="http://schemas.microsoft.com/office/drawing/2014/main" id="{EA2FEB19-561A-46DD-4FFE-D82EBCA09A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46666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086391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605067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696582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35487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54"/>
        <p:cNvGrpSpPr/>
        <p:nvPr/>
      </p:nvGrpSpPr>
      <p:grpSpPr>
        <a:xfrm>
          <a:off x="0" y="0"/>
          <a:ext cx="0" cy="0"/>
          <a:chOff x="0" y="0"/>
          <a:chExt cx="0" cy="0"/>
        </a:xfrm>
      </p:grpSpPr>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382303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89984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3"/>
          <p:cNvSpPr>
            <a:spLocks noGrp="1"/>
          </p:cNvSpPr>
          <p:nvPr>
            <p:ph type="pic" idx="2"/>
          </p:nvPr>
        </p:nvSpPr>
        <p:spPr>
          <a:xfrm>
            <a:off x="5183188" y="987425"/>
            <a:ext cx="6172200" cy="4873625"/>
          </a:xfrm>
          <a:prstGeom prst="rect">
            <a:avLst/>
          </a:prstGeom>
          <a:noFill/>
          <a:ln>
            <a:noFill/>
          </a:ln>
        </p:spPr>
      </p:sp>
      <p:sp>
        <p:nvSpPr>
          <p:cNvPr id="68" name="Google Shape;68;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667349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34679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714761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3686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168560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59941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14668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632180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54"/>
        <p:cNvGrpSpPr/>
        <p:nvPr/>
      </p:nvGrpSpPr>
      <p:grpSpPr>
        <a:xfrm>
          <a:off x="0" y="0"/>
          <a:ext cx="0" cy="0"/>
          <a:chOff x="0" y="0"/>
          <a:chExt cx="0" cy="0"/>
        </a:xfrm>
      </p:grpSpPr>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716737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015460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3"/>
          <p:cNvSpPr>
            <a:spLocks noGrp="1"/>
          </p:cNvSpPr>
          <p:nvPr>
            <p:ph type="pic" idx="2"/>
          </p:nvPr>
        </p:nvSpPr>
        <p:spPr>
          <a:xfrm>
            <a:off x="5183188" y="987425"/>
            <a:ext cx="6172200" cy="4873625"/>
          </a:xfrm>
          <a:prstGeom prst="rect">
            <a:avLst/>
          </a:prstGeom>
          <a:noFill/>
          <a:ln>
            <a:noFill/>
          </a:ln>
        </p:spPr>
      </p:sp>
      <p:sp>
        <p:nvSpPr>
          <p:cNvPr id="68" name="Google Shape;68;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534903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9880005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067665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5513B-EF9B-0716-08D8-0EA446B9EA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14E86F-82C6-31F7-67FD-ACD9B6AB2B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412191-1B7A-ECF5-1E4D-10234BF9BE48}"/>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C5895DE4-A923-80D2-00A0-49076135E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D88DEE-74C8-DBB0-8066-8335DD9D3FC0}"/>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41359597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D2BED-DBB8-E9B8-37A0-BAA50F4631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D61B6A-AAD4-4204-FA31-361A308D2A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370BC-D09B-1232-6DA5-2F51101F1809}"/>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69A8349A-0FB3-C08D-81BD-8AAAC9798A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560025-342E-8453-F829-ED1B79E12C29}"/>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3691558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42157-B572-E624-1997-8371D2563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F5FF4C-CBFB-F00A-0546-796AFDFEA7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FBC9D4-B69D-2B52-93C1-2BB0EE3BA759}"/>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70CA67EF-6323-DE2C-BF44-332E20A990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2EB5A-9D93-46E0-D7D8-014B34149B33}"/>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27447072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F79EB-D269-4E80-6125-24451AE378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5C7802-AE20-966C-0B56-38A8FC8409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FA986F-0FA8-A1EF-0244-E24762909C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9C14F5-D24E-4B06-BAB7-2B698BFECDE0}"/>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6" name="Footer Placeholder 5">
            <a:extLst>
              <a:ext uri="{FF2B5EF4-FFF2-40B4-BE49-F238E27FC236}">
                <a16:creationId xmlns:a16="http://schemas.microsoft.com/office/drawing/2014/main" id="{70670A84-F010-0FF2-E4C6-599D5FB32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D17535-1357-130F-28C9-DEBD673DF428}"/>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41359091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F37D6-BC8F-FBA8-B485-2FDA3A1D39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930F82-A65E-D81A-7B66-04396F14B5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C6A1D7-F774-19BB-0006-DC9F1959C2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D254DB-4D42-DE9C-0EB7-9210FEBCF6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944A9-1AAC-A220-F3DE-057AC0E7E6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B97D99-4272-475A-7015-CB85182261C5}"/>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8" name="Footer Placeholder 7">
            <a:extLst>
              <a:ext uri="{FF2B5EF4-FFF2-40B4-BE49-F238E27FC236}">
                <a16:creationId xmlns:a16="http://schemas.microsoft.com/office/drawing/2014/main" id="{72A4C391-0550-89CF-0F10-71EF0841A3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7D7ABF-19C0-135E-2AB8-82F67185DF3C}"/>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39504621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35F68-702B-2018-E205-4A852CD3A9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A27514-BEE2-5400-6CDA-786F97F4268B}"/>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4" name="Footer Placeholder 3">
            <a:extLst>
              <a:ext uri="{FF2B5EF4-FFF2-40B4-BE49-F238E27FC236}">
                <a16:creationId xmlns:a16="http://schemas.microsoft.com/office/drawing/2014/main" id="{F818411C-C72E-EBD8-13F9-2FEB551944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CDD70D-B474-8677-AF3E-041AEF07FD33}"/>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31863116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4D1278-2A82-CD56-FBA4-2686BB281406}"/>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3" name="Footer Placeholder 2">
            <a:extLst>
              <a:ext uri="{FF2B5EF4-FFF2-40B4-BE49-F238E27FC236}">
                <a16:creationId xmlns:a16="http://schemas.microsoft.com/office/drawing/2014/main" id="{20E53EF1-FA5F-08CA-41E0-92E7191269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536256-A421-33D5-D6C6-2B036B331D59}"/>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6451121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FB7B6-7900-0BC0-82A9-C4C902DC8B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127C42-F3FA-68E4-BA9E-9341727F3A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D04977-6E74-EAB6-96E4-A14E2AF05C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2BE56C-9359-D8A9-E4E5-C10B86B6DCEA}"/>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6" name="Footer Placeholder 5">
            <a:extLst>
              <a:ext uri="{FF2B5EF4-FFF2-40B4-BE49-F238E27FC236}">
                <a16:creationId xmlns:a16="http://schemas.microsoft.com/office/drawing/2014/main" id="{2A8F93C9-B873-B4F5-CA5F-DD90A0ED36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589CF1-3BAA-4118-82DF-D37FCEDC1955}"/>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10543713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F6E3-5EEF-42A5-A1BD-10A93BAFD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C61D33-8812-B8F6-5D57-CF7B7EC3FF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4A4FF5-5947-D0F7-B7A4-7ADC72AFB8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15F07B-A054-A485-EE23-7F94B0310508}"/>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6" name="Footer Placeholder 5">
            <a:extLst>
              <a:ext uri="{FF2B5EF4-FFF2-40B4-BE49-F238E27FC236}">
                <a16:creationId xmlns:a16="http://schemas.microsoft.com/office/drawing/2014/main" id="{8BE3A2EC-373F-9654-502C-DE1A18FEE4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ADF4F8-B81B-E3B0-296F-37D29FABC1D1}"/>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42466489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64B8-2E97-9175-0C86-2A301D89E7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A58E02-DCB1-C6EF-946E-604155728F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471C3-C476-7B6E-E919-6FAB9E5B5419}"/>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A2145D03-2AA0-6160-98DB-B355B1311B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D5C76-265A-B3B3-287C-14A531659DBB}"/>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27025089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3D70E3-77B1-2CBD-C00C-5951AD18C8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8FCE4E-9AA8-3B5D-C5F9-9652306A5E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782C89-BDCD-5599-AFC2-C9FA245B278E}"/>
              </a:ext>
            </a:extLst>
          </p:cNvPr>
          <p:cNvSpPr>
            <a:spLocks noGrp="1"/>
          </p:cNvSpPr>
          <p:nvPr>
            <p:ph type="dt" sz="half" idx="10"/>
          </p:nvPr>
        </p:nvSpPr>
        <p:spPr/>
        <p:txBody>
          <a:body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B9C6E435-19FD-0BED-6830-7D041D9B6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049E9-5D9E-5BDC-BC80-10EB0D903FCA}"/>
              </a:ext>
            </a:extLst>
          </p:cNvPr>
          <p:cNvSpPr>
            <a:spLocks noGrp="1"/>
          </p:cNvSpPr>
          <p:nvPr>
            <p:ph type="sldNum" sz="quarter" idx="12"/>
          </p:nvPr>
        </p:nvSpPr>
        <p:spPr/>
        <p:txBody>
          <a:bodyPr/>
          <a:lstStyle/>
          <a:p>
            <a:fld id="{487F9FE5-9719-4651-AB69-815E61D611F7}" type="slidenum">
              <a:rPr lang="en-US" smtClean="0"/>
              <a:t>‹#›</a:t>
            </a:fld>
            <a:endParaRPr lang="en-US"/>
          </a:p>
        </p:txBody>
      </p:sp>
    </p:spTree>
    <p:extLst>
      <p:ext uri="{BB962C8B-B14F-4D97-AF65-F5344CB8AC3E}">
        <p14:creationId xmlns:p14="http://schemas.microsoft.com/office/powerpoint/2010/main" val="46881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theme" Target="../theme/theme4.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F4BC95-EA25-2792-CAE1-168DE99266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4E6512-3AD5-E528-952F-E15D701AD9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8EF7703-D6D7-FEB4-3330-EBFC86AC03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B872AF-DB9D-4471-A99B-28B3ACF64023}" type="datetimeFigureOut">
              <a:rPr lang="en-US" smtClean="0"/>
              <a:t>10/27/2026</a:t>
            </a:fld>
            <a:endParaRPr lang="en-US"/>
          </a:p>
        </p:txBody>
      </p:sp>
      <p:sp>
        <p:nvSpPr>
          <p:cNvPr id="5" name="Footer Placeholder 4">
            <a:extLst>
              <a:ext uri="{FF2B5EF4-FFF2-40B4-BE49-F238E27FC236}">
                <a16:creationId xmlns:a16="http://schemas.microsoft.com/office/drawing/2014/main" id="{3B7F0A2D-ED99-3E24-35C3-8F7F6D5A6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BC45-B38B-D005-E40A-F4760FD8D8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696220-D115-49E9-84B9-64EE2B9D578B}" type="slidenum">
              <a:rPr lang="en-US" smtClean="0"/>
              <a:t>‹#›</a:t>
            </a:fld>
            <a:endParaRPr lang="en-US"/>
          </a:p>
        </p:txBody>
      </p:sp>
    </p:spTree>
    <p:extLst>
      <p:ext uri="{BB962C8B-B14F-4D97-AF65-F5344CB8AC3E}">
        <p14:creationId xmlns:p14="http://schemas.microsoft.com/office/powerpoint/2010/main" val="6339346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72669458"/>
      </p:ext>
    </p:extLst>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62643260"/>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F125C8-2C40-8095-FFAB-E6CBB4B409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F74CC4-EBBA-ED88-BF4A-C70698B17C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59931-D7EE-476A-9465-C2F50B2372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4FFAC9-8AD0-4417-8849-5AF39548FDFD}" type="datetimeFigureOut">
              <a:rPr lang="en-US" smtClean="0"/>
              <a:t>10/27/2026</a:t>
            </a:fld>
            <a:endParaRPr lang="en-US"/>
          </a:p>
        </p:txBody>
      </p:sp>
      <p:sp>
        <p:nvSpPr>
          <p:cNvPr id="5" name="Footer Placeholder 4">
            <a:extLst>
              <a:ext uri="{FF2B5EF4-FFF2-40B4-BE49-F238E27FC236}">
                <a16:creationId xmlns:a16="http://schemas.microsoft.com/office/drawing/2014/main" id="{638127C2-B9A9-ABBA-ECF5-01C662C683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1F038B-F94F-22A7-BA26-9159FBA551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7F9FE5-9719-4651-AB69-815E61D611F7}" type="slidenum">
              <a:rPr lang="en-US" smtClean="0"/>
              <a:t>‹#›</a:t>
            </a:fld>
            <a:endParaRPr lang="en-US"/>
          </a:p>
        </p:txBody>
      </p:sp>
    </p:spTree>
    <p:extLst>
      <p:ext uri="{BB962C8B-B14F-4D97-AF65-F5344CB8AC3E}">
        <p14:creationId xmlns:p14="http://schemas.microsoft.com/office/powerpoint/2010/main" val="39503465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29.emf"/></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30.emf"/></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31.emf"/></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1.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32659"/>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pic>
        <p:nvPicPr>
          <p:cNvPr id="95" name="Google Shape;95;g2eff20282af_0_123" descr="Image"/>
          <p:cNvPicPr preferRelativeResize="0"/>
          <p:nvPr/>
        </p:nvPicPr>
        <p:blipFill rotWithShape="1">
          <a:blip r:embed="rId4">
            <a:alphaModFix/>
          </a:blip>
          <a:srcRect/>
          <a:stretch/>
        </p:blipFill>
        <p:spPr>
          <a:xfrm>
            <a:off x="5312383" y="632609"/>
            <a:ext cx="3006356" cy="2375991"/>
          </a:xfrm>
          <a:prstGeom prst="rect">
            <a:avLst/>
          </a:prstGeom>
          <a:noFill/>
          <a:ln>
            <a:noFill/>
          </a:ln>
        </p:spPr>
      </p:pic>
      <p:sp>
        <p:nvSpPr>
          <p:cNvPr id="96" name="Google Shape;96;g2eff20282af_0_123"/>
          <p:cNvSpPr txBox="1"/>
          <p:nvPr/>
        </p:nvSpPr>
        <p:spPr>
          <a:xfrm>
            <a:off x="2445475" y="3237200"/>
            <a:ext cx="9050400" cy="969466"/>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n-US" sz="3400" b="1" dirty="0">
                <a:solidFill>
                  <a:schemeClr val="dk1"/>
                </a:solidFill>
                <a:latin typeface="Times New Roman"/>
                <a:ea typeface="Times New Roman"/>
                <a:cs typeface="Times New Roman"/>
                <a:sym typeface="Times New Roman"/>
              </a:rPr>
              <a:t>Department of AIML_DS</a:t>
            </a:r>
            <a:endParaRPr sz="3400" b="1" dirty="0">
              <a:solidFill>
                <a:schemeClr val="dk1"/>
              </a:solidFill>
              <a:latin typeface="Times New Roman"/>
              <a:ea typeface="Times New Roman"/>
              <a:cs typeface="Times New Roman"/>
              <a:sym typeface="Times New Roman"/>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25;p1">
            <a:extLst>
              <a:ext uri="{FF2B5EF4-FFF2-40B4-BE49-F238E27FC236}">
                <a16:creationId xmlns:a16="http://schemas.microsoft.com/office/drawing/2014/main" id="{865090DB-0FD2-E5A4-5846-A8959053A68A}"/>
              </a:ext>
            </a:extLst>
          </p:cNvPr>
          <p:cNvSpPr txBox="1">
            <a:spLocks/>
          </p:cNvSpPr>
          <p:nvPr/>
        </p:nvSpPr>
        <p:spPr>
          <a:xfrm>
            <a:off x="2541083" y="2630404"/>
            <a:ext cx="9354900" cy="191684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ctr">
              <a:spcBef>
                <a:spcPts val="0"/>
              </a:spcBef>
              <a:buSzPts val="4400"/>
              <a:buFont typeface="Calibri"/>
              <a:buNone/>
            </a:pPr>
            <a:r>
              <a:rPr lang="en-US" sz="4000" dirty="0">
                <a:solidFill>
                  <a:srgbClr val="1581AA"/>
                </a:solidFill>
                <a:latin typeface="Times New Roman" panose="02020603050405020304" pitchFamily="18" charset="0"/>
                <a:cs typeface="Times New Roman" panose="02020603050405020304" pitchFamily="18" charset="0"/>
              </a:rPr>
              <a:t>Data Structure and Applications </a:t>
            </a:r>
          </a:p>
          <a:p>
            <a:pPr marL="0" indent="0" algn="ctr">
              <a:spcBef>
                <a:spcPts val="0"/>
              </a:spcBef>
              <a:buSzPts val="4400"/>
              <a:buFont typeface="Calibri"/>
              <a:buNone/>
            </a:pPr>
            <a:r>
              <a:rPr lang="en-US" sz="4000" b="1" dirty="0">
                <a:solidFill>
                  <a:srgbClr val="E88B31"/>
                </a:solidFill>
                <a:latin typeface="Times New Roman" panose="02020603050405020304" pitchFamily="18" charset="0"/>
                <a:ea typeface="Times New Roman"/>
                <a:cs typeface="Times New Roman" panose="02020603050405020304" pitchFamily="18" charset="0"/>
                <a:sym typeface="Times New Roman"/>
              </a:rPr>
              <a:t>1BCS305</a:t>
            </a:r>
          </a:p>
        </p:txBody>
      </p:sp>
    </p:spTree>
    <p:extLst>
      <p:ext uri="{BB962C8B-B14F-4D97-AF65-F5344CB8AC3E}">
        <p14:creationId xmlns:p14="http://schemas.microsoft.com/office/powerpoint/2010/main" val="3321195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Title 1">
            <a:extLst>
              <a:ext uri="{FF2B5EF4-FFF2-40B4-BE49-F238E27FC236}">
                <a16:creationId xmlns:a16="http://schemas.microsoft.com/office/drawing/2014/main" id="{71192723-C31B-AA57-0E6B-3C0066EE78CE}"/>
              </a:ext>
            </a:extLst>
          </p:cNvPr>
          <p:cNvSpPr>
            <a:spLocks noGrp="1"/>
          </p:cNvSpPr>
          <p:nvPr>
            <p:ph type="title"/>
          </p:nvPr>
        </p:nvSpPr>
        <p:spPr>
          <a:xfrm>
            <a:off x="2708694" y="365125"/>
            <a:ext cx="8645100" cy="1325700"/>
          </a:xfrm>
        </p:spPr>
        <p:txBody>
          <a:bodyPr>
            <a:normAutofit/>
          </a:bodyPr>
          <a:lstStyle/>
          <a:p>
            <a:r>
              <a:rPr lang="en-US" sz="4000" b="0" i="0" u="none" dirty="0">
                <a:solidFill>
                  <a:srgbClr val="1581AA"/>
                </a:solidFill>
                <a:latin typeface="Times New Roman" panose="02020603050405020304" pitchFamily="18" charset="0"/>
                <a:ea typeface="Calibri"/>
                <a:cs typeface="Times New Roman" panose="02020603050405020304" pitchFamily="18" charset="0"/>
                <a:sym typeface="Calibri"/>
              </a:rPr>
              <a:t>MODULE-1</a:t>
            </a:r>
            <a:br>
              <a:rPr lang="en-US" sz="4000" b="0" i="0" u="none" dirty="0">
                <a:solidFill>
                  <a:srgbClr val="1581AA"/>
                </a:solidFill>
                <a:latin typeface="Times New Roman" panose="02020603050405020304" pitchFamily="18" charset="0"/>
                <a:ea typeface="Calibri"/>
                <a:cs typeface="Times New Roman" panose="02020603050405020304" pitchFamily="18" charset="0"/>
                <a:sym typeface="Calibri"/>
              </a:rPr>
            </a:br>
            <a:r>
              <a:rPr lang="en-US" sz="4000" b="0" i="0" u="none" dirty="0">
                <a:solidFill>
                  <a:srgbClr val="1581AA"/>
                </a:solidFill>
                <a:latin typeface="Times New Roman" panose="02020603050405020304" pitchFamily="18" charset="0"/>
                <a:ea typeface="Calibri"/>
                <a:cs typeface="Times New Roman" panose="02020603050405020304" pitchFamily="18" charset="0"/>
                <a:sym typeface="Calibri"/>
              </a:rPr>
              <a:t>Introduction:</a:t>
            </a:r>
            <a:endParaRPr lang="en-US" sz="4000" dirty="0">
              <a:latin typeface="Times New Roman" panose="02020603050405020304" pitchFamily="18" charset="0"/>
              <a:cs typeface="Times New Roman" panose="02020603050405020304" pitchFamily="18" charset="0"/>
            </a:endParaRPr>
          </a:p>
        </p:txBody>
      </p:sp>
      <p:sp>
        <p:nvSpPr>
          <p:cNvPr id="3" name="Text Placeholder 6">
            <a:extLst>
              <a:ext uri="{FF2B5EF4-FFF2-40B4-BE49-F238E27FC236}">
                <a16:creationId xmlns:a16="http://schemas.microsoft.com/office/drawing/2014/main" id="{1F939859-2397-877D-A449-CB0C8B107C2A}"/>
              </a:ext>
            </a:extLst>
          </p:cNvPr>
          <p:cNvSpPr>
            <a:spLocks noGrp="1"/>
          </p:cNvSpPr>
          <p:nvPr>
            <p:ph type="body" idx="1"/>
          </p:nvPr>
        </p:nvSpPr>
        <p:spPr>
          <a:xfrm>
            <a:off x="2708694" y="1629050"/>
            <a:ext cx="8645100" cy="4351200"/>
          </a:xfrm>
        </p:spPr>
        <p:txBody>
          <a:bodyPr>
            <a:noAutofit/>
          </a:bodyPr>
          <a:lstStyle/>
          <a:p>
            <a:pPr marL="50800" indent="0" algn="l">
              <a:buNone/>
            </a:pPr>
            <a:r>
              <a:rPr lang="en-US" sz="2400" b="1" i="0" u="none" strike="noStrike" baseline="0" dirty="0">
                <a:latin typeface="Times New Roman" panose="02020603050405020304" pitchFamily="18" charset="0"/>
                <a:cs typeface="Times New Roman" panose="02020603050405020304" pitchFamily="18" charset="0"/>
              </a:rPr>
              <a:t>Syllabus:</a:t>
            </a:r>
          </a:p>
          <a:p>
            <a:r>
              <a:rPr lang="en-US" dirty="0">
                <a:latin typeface="Times New Roman" panose="02020603050405020304" pitchFamily="18" charset="0"/>
                <a:cs typeface="Times New Roman" panose="02020603050405020304" pitchFamily="18" charset="0"/>
              </a:rPr>
              <a:t>Introduction: Data Structures, Classifications (Primitive &amp; Non-Primitive).</a:t>
            </a:r>
          </a:p>
          <a:p>
            <a:r>
              <a:rPr lang="en-US" dirty="0">
                <a:latin typeface="Times New Roman" panose="02020603050405020304" pitchFamily="18" charset="0"/>
                <a:cs typeface="Times New Roman" panose="02020603050405020304" pitchFamily="18" charset="0"/>
              </a:rPr>
              <a:t> Pointers and Dynamic Memory Allocation, Arrays, Dynamically Allocated Arrays, Structures and Unions, Polynomials.</a:t>
            </a:r>
          </a:p>
          <a:p>
            <a:r>
              <a:rPr lang="en-US" dirty="0">
                <a:latin typeface="Times New Roman" panose="02020603050405020304" pitchFamily="18" charset="0"/>
                <a:cs typeface="Times New Roman" panose="02020603050405020304" pitchFamily="18" charset="0"/>
              </a:rPr>
              <a:t> Sparse Matrices: Sparse Matrix Representation and Transposing a Matrix. </a:t>
            </a:r>
          </a:p>
        </p:txBody>
      </p:sp>
    </p:spTree>
    <p:extLst>
      <p:ext uri="{BB962C8B-B14F-4D97-AF65-F5344CB8AC3E}">
        <p14:creationId xmlns:p14="http://schemas.microsoft.com/office/powerpoint/2010/main" val="4133910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Title 1">
            <a:extLst>
              <a:ext uri="{FF2B5EF4-FFF2-40B4-BE49-F238E27FC236}">
                <a16:creationId xmlns:a16="http://schemas.microsoft.com/office/drawing/2014/main" id="{F632A69A-9AF0-6AD2-F429-830FD3958922}"/>
              </a:ext>
            </a:extLst>
          </p:cNvPr>
          <p:cNvSpPr>
            <a:spLocks noGrp="1"/>
          </p:cNvSpPr>
          <p:nvPr>
            <p:ph type="title"/>
          </p:nvPr>
        </p:nvSpPr>
        <p:spPr>
          <a:xfrm>
            <a:off x="2708694" y="365125"/>
            <a:ext cx="8645100" cy="1325700"/>
          </a:xfrm>
        </p:spPr>
        <p:txBody>
          <a:bodyPr>
            <a:normAutofit/>
          </a:bodyPr>
          <a:lstStyle/>
          <a:p>
            <a:r>
              <a:rPr lang="en-US" sz="4000" b="1" i="0" u="none" dirty="0">
                <a:solidFill>
                  <a:srgbClr val="1581AA"/>
                </a:solidFill>
                <a:latin typeface="Times New Roman" panose="02020603050405020304" pitchFamily="18" charset="0"/>
                <a:ea typeface="Calibri"/>
                <a:cs typeface="Times New Roman" panose="02020603050405020304" pitchFamily="18" charset="0"/>
                <a:sym typeface="Calibri"/>
              </a:rPr>
              <a:t>Basic Terminologies</a:t>
            </a:r>
            <a:endParaRPr lang="en-US"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9A59AD7-20FD-1902-AFE0-89066D7BCFF1}"/>
              </a:ext>
            </a:extLst>
          </p:cNvPr>
          <p:cNvSpPr>
            <a:spLocks noGrp="1"/>
          </p:cNvSpPr>
          <p:nvPr>
            <p:ph type="body" idx="1"/>
          </p:nvPr>
        </p:nvSpPr>
        <p:spPr>
          <a:xfrm>
            <a:off x="2708694" y="1825625"/>
            <a:ext cx="8645100" cy="4351200"/>
          </a:xfrm>
        </p:spPr>
        <p:txBody>
          <a:bodyPr>
            <a:normAutofit/>
          </a:bodyPr>
          <a:lstStyle/>
          <a:p>
            <a:pPr marL="0" lvl="0" indent="0" algn="l" rtl="0">
              <a:lnSpc>
                <a:spcPct val="100000"/>
              </a:lnSpc>
              <a:spcBef>
                <a:spcPts val="0"/>
              </a:spcBef>
              <a:spcAft>
                <a:spcPts val="0"/>
              </a:spcAft>
              <a:buSzPts val="2000"/>
              <a:buNone/>
            </a:pPr>
            <a:r>
              <a:rPr lang="en-US" sz="2400" b="0" i="0" u="none" dirty="0">
                <a:solidFill>
                  <a:srgbClr val="404040"/>
                </a:solidFill>
                <a:latin typeface="Times New Roman" panose="02020603050405020304" pitchFamily="18" charset="0"/>
                <a:cs typeface="Times New Roman" panose="02020603050405020304" pitchFamily="18" charset="0"/>
                <a:sym typeface="Calibri"/>
              </a:rPr>
              <a:t>Data Structure</a:t>
            </a:r>
            <a:endParaRPr lang="en-US" sz="24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2000"/>
              <a:buNone/>
            </a:pPr>
            <a:r>
              <a:rPr lang="en-US" sz="2400" b="0" i="0" u="none" dirty="0">
                <a:solidFill>
                  <a:srgbClr val="404040"/>
                </a:solidFill>
                <a:latin typeface="Times New Roman" panose="02020603050405020304" pitchFamily="18" charset="0"/>
                <a:cs typeface="Times New Roman" panose="02020603050405020304" pitchFamily="18" charset="0"/>
                <a:sym typeface="Calibri"/>
              </a:rPr>
              <a:t>– Data: are simply a value are set of values of different type which is called data types like string, integer, char etc.</a:t>
            </a:r>
            <a:endParaRPr lang="en-US" sz="24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2000"/>
              <a:buNone/>
            </a:pPr>
            <a:r>
              <a:rPr lang="en-US" sz="2400" b="0" i="0" u="none" dirty="0">
                <a:solidFill>
                  <a:srgbClr val="404040"/>
                </a:solidFill>
                <a:latin typeface="Times New Roman" panose="02020603050405020304" pitchFamily="18" charset="0"/>
                <a:cs typeface="Times New Roman" panose="02020603050405020304" pitchFamily="18" charset="0"/>
                <a:sym typeface="Calibri"/>
              </a:rPr>
              <a:t>– Structure: Way of organizing information, so that it is easier to use</a:t>
            </a:r>
            <a:endParaRPr lang="en-US" sz="24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2000"/>
              <a:buNone/>
            </a:pPr>
            <a:r>
              <a:rPr lang="en-US" sz="2400" b="0" i="0" u="none" dirty="0">
                <a:solidFill>
                  <a:srgbClr val="404040"/>
                </a:solidFill>
                <a:latin typeface="Times New Roman" panose="02020603050405020304" pitchFamily="18" charset="0"/>
                <a:cs typeface="Times New Roman" panose="02020603050405020304" pitchFamily="18" charset="0"/>
                <a:sym typeface="Calibri"/>
              </a:rPr>
              <a:t>– In simple words we can define data structures as</a:t>
            </a:r>
            <a:endParaRPr lang="en-US" sz="24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2000"/>
              <a:buNone/>
            </a:pPr>
            <a:r>
              <a:rPr lang="en-US" sz="2400" b="0" i="0" u="none" dirty="0">
                <a:solidFill>
                  <a:srgbClr val="404040"/>
                </a:solidFill>
                <a:latin typeface="Times New Roman" panose="02020603050405020304" pitchFamily="18" charset="0"/>
                <a:cs typeface="Times New Roman" panose="02020603050405020304" pitchFamily="18" charset="0"/>
                <a:sym typeface="Calibri"/>
              </a:rPr>
              <a:t>● Its a way organizing data in such a way so that data can be easier to use.</a:t>
            </a: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74410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Placeholder 2">
            <a:extLst>
              <a:ext uri="{FF2B5EF4-FFF2-40B4-BE49-F238E27FC236}">
                <a16:creationId xmlns:a16="http://schemas.microsoft.com/office/drawing/2014/main" id="{73796E0A-D4C3-0131-42E8-4FC7F0F2C536}"/>
              </a:ext>
            </a:extLst>
          </p:cNvPr>
          <p:cNvSpPr>
            <a:spLocks noGrp="1"/>
          </p:cNvSpPr>
          <p:nvPr>
            <p:ph type="body" idx="1"/>
          </p:nvPr>
        </p:nvSpPr>
        <p:spPr>
          <a:xfrm>
            <a:off x="2648135" y="511175"/>
            <a:ext cx="8645100" cy="4351200"/>
          </a:xfrm>
        </p:spPr>
        <p:txBody>
          <a:bodyPr>
            <a:normAutofit/>
          </a:bodyPr>
          <a:lstStyle/>
          <a:p>
            <a:pPr marL="0" lvl="0" indent="0" algn="l" rtl="0">
              <a:lnSpc>
                <a:spcPct val="100000"/>
              </a:lnSpc>
              <a:spcBef>
                <a:spcPts val="0"/>
              </a:spcBef>
              <a:spcAft>
                <a:spcPts val="0"/>
              </a:spcAft>
              <a:buSzPts val="1800"/>
              <a:buNone/>
            </a:pPr>
            <a:r>
              <a:rPr lang="en-US" sz="2400" b="0" i="0" u="none" dirty="0">
                <a:solidFill>
                  <a:srgbClr val="404040"/>
                </a:solidFill>
                <a:latin typeface="Times New Roman" panose="02020603050405020304" pitchFamily="18" charset="0"/>
                <a:cs typeface="Times New Roman" panose="02020603050405020304" pitchFamily="18" charset="0"/>
                <a:sym typeface="Calibri"/>
              </a:rPr>
              <a:t>Data Structure ..</a:t>
            </a:r>
            <a:endParaRPr lang="en-US" sz="24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r>
              <a:rPr lang="en-US" sz="2400" b="0" i="0" u="none" dirty="0">
                <a:solidFill>
                  <a:srgbClr val="404040"/>
                </a:solidFill>
                <a:latin typeface="Times New Roman" panose="02020603050405020304" pitchFamily="18" charset="0"/>
                <a:cs typeface="Times New Roman" panose="02020603050405020304" pitchFamily="18" charset="0"/>
                <a:sym typeface="Calibri"/>
              </a:rPr>
              <a:t>– A data structure is a particular way of organizing data in a computer so that it can be used efficiently.</a:t>
            </a:r>
            <a:endParaRPr lang="en-US" sz="24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r>
              <a:rPr lang="en-US" sz="2400" b="0" i="0" u="none" dirty="0">
                <a:solidFill>
                  <a:srgbClr val="404040"/>
                </a:solidFill>
                <a:latin typeface="Times New Roman" panose="02020603050405020304" pitchFamily="18" charset="0"/>
                <a:cs typeface="Times New Roman" panose="02020603050405020304" pitchFamily="18" charset="0"/>
                <a:sym typeface="Calibri"/>
              </a:rPr>
              <a:t>– A scheme for organizing related pieces of information</a:t>
            </a:r>
            <a:r>
              <a:rPr lang="en-US" sz="2800" b="0" i="0" u="none" dirty="0">
                <a:solidFill>
                  <a:srgbClr val="404040"/>
                </a:solidFill>
                <a:latin typeface="Calibri"/>
                <a:ea typeface="Calibri"/>
                <a:cs typeface="Calibri"/>
                <a:sym typeface="Calibri"/>
              </a:rPr>
              <a:t>.</a:t>
            </a:r>
          </a:p>
          <a:p>
            <a:pPr marL="0" lvl="0" indent="0" algn="just" rtl="0">
              <a:lnSpc>
                <a:spcPct val="150000"/>
              </a:lnSpc>
              <a:spcBef>
                <a:spcPts val="1000"/>
              </a:spcBef>
              <a:spcAft>
                <a:spcPts val="0"/>
              </a:spcAft>
              <a:buSzPts val="1800"/>
              <a:buNone/>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data structure</a:t>
            </a:r>
            <a:r>
              <a:rPr lang="en-US" sz="2400" dirty="0">
                <a:latin typeface="Times New Roman" panose="02020603050405020304" pitchFamily="18" charset="0"/>
                <a:cs typeface="Times New Roman" panose="02020603050405020304" pitchFamily="18" charset="0"/>
              </a:rPr>
              <a:t> is a systematic way of organizing and managing data in a computer so that it can be used efficiently. Data structures define the relationships among data elements, how they are stored, and how they can be accessed, manipulated, and modified. </a:t>
            </a:r>
          </a:p>
          <a:p>
            <a:endParaRPr lang="en-US" dirty="0"/>
          </a:p>
        </p:txBody>
      </p:sp>
    </p:spTree>
    <p:extLst>
      <p:ext uri="{BB962C8B-B14F-4D97-AF65-F5344CB8AC3E}">
        <p14:creationId xmlns:p14="http://schemas.microsoft.com/office/powerpoint/2010/main" val="1051050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78;p38">
            <a:extLst>
              <a:ext uri="{FF2B5EF4-FFF2-40B4-BE49-F238E27FC236}">
                <a16:creationId xmlns:a16="http://schemas.microsoft.com/office/drawing/2014/main" id="{4B9BC06D-D6DA-B031-BE01-AB268E07D5D7}"/>
              </a:ext>
            </a:extLst>
          </p:cNvPr>
          <p:cNvSpPr txBox="1">
            <a:spLocks noGrp="1"/>
          </p:cNvSpPr>
          <p:nvPr>
            <p:ph type="title"/>
          </p:nvPr>
        </p:nvSpPr>
        <p:spPr>
          <a:xfrm>
            <a:off x="2708694" y="365125"/>
            <a:ext cx="8645100" cy="1325700"/>
          </a:xfrm>
          <a:prstGeom prst="rect">
            <a:avLst/>
          </a:prstGeom>
          <a:noFill/>
          <a:ln>
            <a:noFill/>
          </a:ln>
        </p:spPr>
        <p:txBody>
          <a:bodyPr spcFirstLastPara="1" wrap="square" lIns="121900" tIns="121900" rIns="121900" bIns="121900" anchor="t" anchorCtr="0">
            <a:noAutofit/>
          </a:bodyPr>
          <a:lstStyle/>
          <a:p>
            <a:pPr algn="l">
              <a:lnSpc>
                <a:spcPct val="100000"/>
              </a:lnSpc>
              <a:buClr>
                <a:srgbClr val="1581AA"/>
              </a:buClr>
              <a:buSzPts val="2800"/>
            </a:pPr>
            <a:r>
              <a:rPr lang="en-US" sz="3733" b="1" dirty="0">
                <a:solidFill>
                  <a:srgbClr val="1581AA"/>
                </a:solidFill>
              </a:rPr>
              <a:t>Basic Terminologies</a:t>
            </a:r>
            <a:br>
              <a:rPr lang="en-US" sz="4800" dirty="0">
                <a:solidFill>
                  <a:srgbClr val="1581AA"/>
                </a:solidFill>
              </a:rPr>
            </a:br>
            <a:endParaRPr dirty="0"/>
          </a:p>
        </p:txBody>
      </p:sp>
      <p:sp>
        <p:nvSpPr>
          <p:cNvPr id="3" name="Google Shape;679;p38">
            <a:extLst>
              <a:ext uri="{FF2B5EF4-FFF2-40B4-BE49-F238E27FC236}">
                <a16:creationId xmlns:a16="http://schemas.microsoft.com/office/drawing/2014/main" id="{916C62AD-0D70-9E09-2968-EE5FE621E265}"/>
              </a:ext>
            </a:extLst>
          </p:cNvPr>
          <p:cNvSpPr txBox="1">
            <a:spLocks noGrp="1"/>
          </p:cNvSpPr>
          <p:nvPr>
            <p:ph type="body" idx="1"/>
          </p:nvPr>
        </p:nvSpPr>
        <p:spPr>
          <a:xfrm>
            <a:off x="2563728" y="925551"/>
            <a:ext cx="8645100" cy="4749469"/>
          </a:xfrm>
          <a:prstGeom prst="rect">
            <a:avLst/>
          </a:prstGeom>
          <a:noFill/>
          <a:ln>
            <a:noFill/>
          </a:ln>
        </p:spPr>
        <p:txBody>
          <a:bodyPr spcFirstLastPara="1" wrap="square" lIns="121900" tIns="121900" rIns="121900" bIns="121900" anchor="t" anchorCtr="0">
            <a:noAutofit/>
          </a:bodyPr>
          <a:lstStyle/>
          <a:p>
            <a:pPr marL="0" indent="0" algn="just">
              <a:lnSpc>
                <a:spcPct val="150000"/>
              </a:lnSpc>
              <a:spcBef>
                <a:spcPts val="0"/>
              </a:spcBef>
              <a:buSzPts val="1800"/>
            </a:pPr>
            <a:r>
              <a:rPr lang="en-US" sz="2400" b="1" dirty="0">
                <a:solidFill>
                  <a:srgbClr val="404040"/>
                </a:solidFill>
                <a:latin typeface="Times New Roman" panose="02020603050405020304" pitchFamily="18" charset="0"/>
                <a:cs typeface="Times New Roman" panose="02020603050405020304" pitchFamily="18" charset="0"/>
                <a:sym typeface="Calibri"/>
              </a:rPr>
              <a:t>Data:</a:t>
            </a:r>
            <a:r>
              <a:rPr lang="en-US" sz="2400" dirty="0">
                <a:solidFill>
                  <a:srgbClr val="404040"/>
                </a:solidFill>
                <a:latin typeface="Times New Roman" panose="02020603050405020304" pitchFamily="18" charset="0"/>
                <a:cs typeface="Times New Roman" panose="02020603050405020304" pitchFamily="18" charset="0"/>
                <a:sym typeface="Calibri"/>
              </a:rPr>
              <a:t> The term ‘DATA’ simply refers to a value or a set of values. These values may present anything about something, like it may be roll no of a student, marks, name of an employee, address of person etc.</a:t>
            </a:r>
            <a:endParaRPr sz="2400" dirty="0">
              <a:latin typeface="Times New Roman" panose="02020603050405020304" pitchFamily="18" charset="0"/>
              <a:cs typeface="Times New Roman" panose="02020603050405020304" pitchFamily="18" charset="0"/>
            </a:endParaRPr>
          </a:p>
          <a:p>
            <a:pPr marL="0" indent="0" algn="just">
              <a:lnSpc>
                <a:spcPct val="150000"/>
              </a:lnSpc>
              <a:spcBef>
                <a:spcPts val="1333"/>
              </a:spcBef>
              <a:buSzPts val="1800"/>
            </a:pPr>
            <a:r>
              <a:rPr lang="en-US" sz="2400" b="1" dirty="0">
                <a:solidFill>
                  <a:srgbClr val="404040"/>
                </a:solidFill>
                <a:latin typeface="Times New Roman" panose="02020603050405020304" pitchFamily="18" charset="0"/>
                <a:cs typeface="Times New Roman" panose="02020603050405020304" pitchFamily="18" charset="0"/>
                <a:sym typeface="Calibri"/>
              </a:rPr>
              <a:t>Data item: </a:t>
            </a:r>
            <a:r>
              <a:rPr lang="en-US" sz="2400" dirty="0">
                <a:solidFill>
                  <a:srgbClr val="404040"/>
                </a:solidFill>
                <a:latin typeface="Times New Roman" panose="02020603050405020304" pitchFamily="18" charset="0"/>
                <a:cs typeface="Times New Roman" panose="02020603050405020304" pitchFamily="18" charset="0"/>
                <a:sym typeface="Calibri"/>
              </a:rPr>
              <a:t>A data item refers to a single unit of value. For </a:t>
            </a:r>
            <a:r>
              <a:rPr lang="en-US" sz="2400" dirty="0" err="1">
                <a:solidFill>
                  <a:srgbClr val="404040"/>
                </a:solidFill>
                <a:latin typeface="Times New Roman" panose="02020603050405020304" pitchFamily="18" charset="0"/>
                <a:cs typeface="Times New Roman" panose="02020603050405020304" pitchFamily="18" charset="0"/>
                <a:sym typeface="Calibri"/>
              </a:rPr>
              <a:t>eg.</a:t>
            </a:r>
            <a:r>
              <a:rPr lang="en-US" sz="2400" dirty="0">
                <a:solidFill>
                  <a:srgbClr val="404040"/>
                </a:solidFill>
                <a:latin typeface="Times New Roman" panose="02020603050405020304" pitchFamily="18" charset="0"/>
                <a:cs typeface="Times New Roman" panose="02020603050405020304" pitchFamily="18" charset="0"/>
                <a:sym typeface="Calibri"/>
              </a:rPr>
              <a:t> roll no of a student, marks, name of an employee, address of person etc. are data items. Data items that can be divided into sub items are called group items (</a:t>
            </a:r>
            <a:r>
              <a:rPr lang="en-US" sz="2400" dirty="0" err="1">
                <a:solidFill>
                  <a:srgbClr val="404040"/>
                </a:solidFill>
                <a:latin typeface="Times New Roman" panose="02020603050405020304" pitchFamily="18" charset="0"/>
                <a:cs typeface="Times New Roman" panose="02020603050405020304" pitchFamily="18" charset="0"/>
                <a:sym typeface="Calibri"/>
              </a:rPr>
              <a:t>Eg.</a:t>
            </a:r>
            <a:r>
              <a:rPr lang="en-US" sz="2400" dirty="0">
                <a:solidFill>
                  <a:srgbClr val="404040"/>
                </a:solidFill>
                <a:latin typeface="Times New Roman" panose="02020603050405020304" pitchFamily="18" charset="0"/>
                <a:cs typeface="Times New Roman" panose="02020603050405020304" pitchFamily="18" charset="0"/>
                <a:sym typeface="Calibri"/>
              </a:rPr>
              <a:t> Address, date, name), where as those who can not be divided in to sub items are called elementary items (</a:t>
            </a:r>
            <a:r>
              <a:rPr lang="en-US" sz="2400" dirty="0" err="1">
                <a:solidFill>
                  <a:srgbClr val="404040"/>
                </a:solidFill>
                <a:latin typeface="Times New Roman" panose="02020603050405020304" pitchFamily="18" charset="0"/>
                <a:cs typeface="Times New Roman" panose="02020603050405020304" pitchFamily="18" charset="0"/>
                <a:sym typeface="Calibri"/>
              </a:rPr>
              <a:t>Eg.</a:t>
            </a:r>
            <a:r>
              <a:rPr lang="en-US" sz="2400" dirty="0">
                <a:solidFill>
                  <a:srgbClr val="404040"/>
                </a:solidFill>
                <a:latin typeface="Times New Roman" panose="02020603050405020304" pitchFamily="18" charset="0"/>
                <a:cs typeface="Times New Roman" panose="02020603050405020304" pitchFamily="18" charset="0"/>
                <a:sym typeface="Calibri"/>
              </a:rPr>
              <a:t> Roll no, marks, city, pin code etc.).</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2339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84;p39">
            <a:extLst>
              <a:ext uri="{FF2B5EF4-FFF2-40B4-BE49-F238E27FC236}">
                <a16:creationId xmlns:a16="http://schemas.microsoft.com/office/drawing/2014/main" id="{D3C5D720-EFB6-2C3A-683E-396F14A315AE}"/>
              </a:ext>
            </a:extLst>
          </p:cNvPr>
          <p:cNvSpPr txBox="1">
            <a:spLocks noGrp="1"/>
          </p:cNvSpPr>
          <p:nvPr>
            <p:ph type="title"/>
          </p:nvPr>
        </p:nvSpPr>
        <p:spPr>
          <a:xfrm>
            <a:off x="2708694" y="365125"/>
            <a:ext cx="8645100" cy="1325700"/>
          </a:xfrm>
          <a:prstGeom prst="rect">
            <a:avLst/>
          </a:prstGeom>
          <a:noFill/>
          <a:ln>
            <a:noFill/>
          </a:ln>
        </p:spPr>
        <p:txBody>
          <a:bodyPr spcFirstLastPara="1" wrap="square" lIns="121900" tIns="121900" rIns="121900" bIns="121900" anchor="t" anchorCtr="0">
            <a:noAutofit/>
          </a:bodyPr>
          <a:lstStyle/>
          <a:p>
            <a:pPr algn="l">
              <a:lnSpc>
                <a:spcPct val="100000"/>
              </a:lnSpc>
              <a:buClr>
                <a:srgbClr val="1581AA"/>
              </a:buClr>
              <a:buSzPts val="2800"/>
            </a:pPr>
            <a:r>
              <a:rPr lang="en-US" sz="3733" b="1" dirty="0">
                <a:solidFill>
                  <a:srgbClr val="1581AA"/>
                </a:solidFill>
              </a:rPr>
              <a:t>Basic Terminologies</a:t>
            </a:r>
            <a:br>
              <a:rPr lang="en-US" sz="4800" dirty="0">
                <a:solidFill>
                  <a:srgbClr val="1581AA"/>
                </a:solidFill>
              </a:rPr>
            </a:br>
            <a:endParaRPr dirty="0"/>
          </a:p>
        </p:txBody>
      </p:sp>
      <p:sp>
        <p:nvSpPr>
          <p:cNvPr id="3" name="Google Shape;685;p39">
            <a:extLst>
              <a:ext uri="{FF2B5EF4-FFF2-40B4-BE49-F238E27FC236}">
                <a16:creationId xmlns:a16="http://schemas.microsoft.com/office/drawing/2014/main" id="{A4E085FA-713F-3231-E384-60DAED64E6CC}"/>
              </a:ext>
            </a:extLst>
          </p:cNvPr>
          <p:cNvSpPr txBox="1">
            <a:spLocks noGrp="1"/>
          </p:cNvSpPr>
          <p:nvPr>
            <p:ph type="body" idx="1"/>
          </p:nvPr>
        </p:nvSpPr>
        <p:spPr>
          <a:xfrm>
            <a:off x="2574879" y="1253400"/>
            <a:ext cx="8645100" cy="4351200"/>
          </a:xfrm>
          <a:prstGeom prst="rect">
            <a:avLst/>
          </a:prstGeom>
          <a:noFill/>
          <a:ln>
            <a:noFill/>
          </a:ln>
        </p:spPr>
        <p:txBody>
          <a:bodyPr spcFirstLastPara="1" wrap="square" lIns="121900" tIns="121900" rIns="121900" bIns="121900" anchor="t" anchorCtr="0">
            <a:noAutofit/>
          </a:bodyPr>
          <a:lstStyle/>
          <a:p>
            <a:pPr marL="380990" indent="-380990" algn="just">
              <a:lnSpc>
                <a:spcPct val="150000"/>
              </a:lnSpc>
              <a:spcBef>
                <a:spcPts val="0"/>
              </a:spcBef>
              <a:buClr>
                <a:srgbClr val="353535"/>
              </a:buClr>
              <a:buSzPts val="1800"/>
              <a:buChar char="•"/>
            </a:pPr>
            <a:r>
              <a:rPr lang="en-US" sz="2400" b="1" dirty="0">
                <a:solidFill>
                  <a:srgbClr val="404040"/>
                </a:solidFill>
                <a:latin typeface="Times New Roman" panose="02020603050405020304" pitchFamily="18" charset="0"/>
                <a:ea typeface="Calibri"/>
                <a:cs typeface="Times New Roman" panose="02020603050405020304" pitchFamily="18" charset="0"/>
                <a:sym typeface="Calibri"/>
              </a:rPr>
              <a:t>Entity </a:t>
            </a:r>
            <a:r>
              <a:rPr lang="en-US" sz="2400" dirty="0">
                <a:solidFill>
                  <a:srgbClr val="404040"/>
                </a:solidFill>
                <a:latin typeface="Times New Roman" panose="02020603050405020304" pitchFamily="18" charset="0"/>
                <a:ea typeface="Calibri"/>
                <a:cs typeface="Times New Roman" panose="02020603050405020304" pitchFamily="18" charset="0"/>
                <a:sym typeface="Calibri"/>
              </a:rPr>
              <a:t>- with similar attributes ( </a:t>
            </a:r>
            <a:r>
              <a:rPr lang="en-US" sz="2400" dirty="0" err="1">
                <a:solidFill>
                  <a:srgbClr val="404040"/>
                </a:solidFill>
                <a:latin typeface="Times New Roman" panose="02020603050405020304" pitchFamily="18" charset="0"/>
                <a:ea typeface="Calibri"/>
                <a:cs typeface="Times New Roman" panose="02020603050405020304" pitchFamily="18" charset="0"/>
                <a:sym typeface="Calibri"/>
              </a:rPr>
              <a:t>e.g</a:t>
            </a:r>
            <a:r>
              <a:rPr lang="en-US" sz="2400" dirty="0">
                <a:solidFill>
                  <a:srgbClr val="404040"/>
                </a:solidFill>
                <a:latin typeface="Times New Roman" panose="02020603050405020304" pitchFamily="18" charset="0"/>
                <a:ea typeface="Calibri"/>
                <a:cs typeface="Times New Roman" panose="02020603050405020304" pitchFamily="18" charset="0"/>
                <a:sym typeface="Calibri"/>
              </a:rPr>
              <a:t> all employees of an organization) form an entity set.</a:t>
            </a:r>
            <a:endParaRPr sz="2400" dirty="0">
              <a:latin typeface="Times New Roman" panose="02020603050405020304" pitchFamily="18" charset="0"/>
              <a:cs typeface="Times New Roman" panose="02020603050405020304" pitchFamily="18" charset="0"/>
            </a:endParaRPr>
          </a:p>
          <a:p>
            <a:pPr marL="380990" indent="-380990" algn="just">
              <a:lnSpc>
                <a:spcPct val="150000"/>
              </a:lnSpc>
              <a:spcBef>
                <a:spcPts val="1333"/>
              </a:spcBef>
              <a:buClr>
                <a:srgbClr val="353535"/>
              </a:buClr>
              <a:buSzPts val="1800"/>
              <a:buChar char="•"/>
            </a:pPr>
            <a:r>
              <a:rPr lang="en-US" sz="2400" b="1" dirty="0">
                <a:solidFill>
                  <a:srgbClr val="404040"/>
                </a:solidFill>
                <a:latin typeface="Times New Roman" panose="02020603050405020304" pitchFamily="18" charset="0"/>
                <a:ea typeface="Calibri"/>
                <a:cs typeface="Times New Roman" panose="02020603050405020304" pitchFamily="18" charset="0"/>
                <a:sym typeface="Calibri"/>
              </a:rPr>
              <a:t>Information</a:t>
            </a:r>
            <a:r>
              <a:rPr lang="en-US" sz="2400" dirty="0">
                <a:solidFill>
                  <a:srgbClr val="404040"/>
                </a:solidFill>
                <a:latin typeface="Times New Roman" panose="02020603050405020304" pitchFamily="18" charset="0"/>
                <a:ea typeface="Calibri"/>
                <a:cs typeface="Times New Roman" panose="02020603050405020304" pitchFamily="18" charset="0"/>
                <a:sym typeface="Calibri"/>
              </a:rPr>
              <a:t>: Data with given attribute or processed data.</a:t>
            </a:r>
            <a:endParaRPr sz="2400" dirty="0">
              <a:latin typeface="Times New Roman" panose="02020603050405020304" pitchFamily="18" charset="0"/>
              <a:cs typeface="Times New Roman" panose="02020603050405020304" pitchFamily="18" charset="0"/>
            </a:endParaRPr>
          </a:p>
          <a:p>
            <a:pPr marL="380990" indent="-380990" algn="just">
              <a:lnSpc>
                <a:spcPct val="150000"/>
              </a:lnSpc>
              <a:spcBef>
                <a:spcPts val="1333"/>
              </a:spcBef>
              <a:buClr>
                <a:srgbClr val="353535"/>
              </a:buClr>
              <a:buSzPts val="1800"/>
              <a:buChar char="•"/>
            </a:pPr>
            <a:r>
              <a:rPr lang="en-US" sz="2400" b="1" dirty="0">
                <a:solidFill>
                  <a:srgbClr val="404040"/>
                </a:solidFill>
                <a:latin typeface="Times New Roman" panose="02020603050405020304" pitchFamily="18" charset="0"/>
                <a:ea typeface="Calibri"/>
                <a:cs typeface="Times New Roman" panose="02020603050405020304" pitchFamily="18" charset="0"/>
                <a:sym typeface="Calibri"/>
              </a:rPr>
              <a:t>Field</a:t>
            </a:r>
            <a:r>
              <a:rPr lang="en-US" sz="2400" dirty="0">
                <a:solidFill>
                  <a:srgbClr val="404040"/>
                </a:solidFill>
                <a:latin typeface="Times New Roman" panose="02020603050405020304" pitchFamily="18" charset="0"/>
                <a:ea typeface="Calibri"/>
                <a:cs typeface="Times New Roman" panose="02020603050405020304" pitchFamily="18" charset="0"/>
                <a:sym typeface="Calibri"/>
              </a:rPr>
              <a:t> is a single elementary unit of information representing an attribute of an entity.</a:t>
            </a:r>
            <a:endParaRPr sz="2400" dirty="0">
              <a:latin typeface="Times New Roman" panose="02020603050405020304" pitchFamily="18" charset="0"/>
              <a:cs typeface="Times New Roman" panose="02020603050405020304" pitchFamily="18" charset="0"/>
            </a:endParaRPr>
          </a:p>
          <a:p>
            <a:pPr marL="380990" indent="-380990" algn="just">
              <a:lnSpc>
                <a:spcPct val="150000"/>
              </a:lnSpc>
              <a:spcBef>
                <a:spcPts val="1333"/>
              </a:spcBef>
              <a:buClr>
                <a:srgbClr val="353535"/>
              </a:buClr>
              <a:buSzPts val="1800"/>
              <a:buChar char="•"/>
            </a:pPr>
            <a:r>
              <a:rPr lang="en-US" sz="2400" b="1" dirty="0">
                <a:solidFill>
                  <a:srgbClr val="404040"/>
                </a:solidFill>
                <a:latin typeface="Times New Roman" panose="02020603050405020304" pitchFamily="18" charset="0"/>
                <a:ea typeface="Calibri"/>
                <a:cs typeface="Times New Roman" panose="02020603050405020304" pitchFamily="18" charset="0"/>
                <a:sym typeface="Calibri"/>
              </a:rPr>
              <a:t>Record</a:t>
            </a:r>
            <a:r>
              <a:rPr lang="en-US" sz="2400" dirty="0">
                <a:solidFill>
                  <a:srgbClr val="404040"/>
                </a:solidFill>
                <a:latin typeface="Times New Roman" panose="02020603050405020304" pitchFamily="18" charset="0"/>
                <a:ea typeface="Calibri"/>
                <a:cs typeface="Times New Roman" panose="02020603050405020304" pitchFamily="18" charset="0"/>
                <a:sym typeface="Calibri"/>
              </a:rPr>
              <a:t> is the collection of field values of a given entity.</a:t>
            </a:r>
            <a:endParaRPr sz="2400" dirty="0">
              <a:latin typeface="Times New Roman" panose="02020603050405020304" pitchFamily="18" charset="0"/>
              <a:cs typeface="Times New Roman" panose="02020603050405020304" pitchFamily="18" charset="0"/>
            </a:endParaRPr>
          </a:p>
          <a:p>
            <a:pPr marL="380990" indent="-380990" algn="just">
              <a:lnSpc>
                <a:spcPct val="150000"/>
              </a:lnSpc>
              <a:spcBef>
                <a:spcPts val="1333"/>
              </a:spcBef>
              <a:buClr>
                <a:srgbClr val="353535"/>
              </a:buClr>
              <a:buSzPts val="1800"/>
              <a:buChar char="•"/>
            </a:pPr>
            <a:r>
              <a:rPr lang="en-US" sz="2400" b="1" dirty="0">
                <a:solidFill>
                  <a:srgbClr val="404040"/>
                </a:solidFill>
                <a:latin typeface="Times New Roman" panose="02020603050405020304" pitchFamily="18" charset="0"/>
                <a:ea typeface="Calibri"/>
                <a:cs typeface="Times New Roman" panose="02020603050405020304" pitchFamily="18" charset="0"/>
                <a:sym typeface="Calibri"/>
              </a:rPr>
              <a:t>File</a:t>
            </a:r>
            <a:r>
              <a:rPr lang="en-US" sz="2400" dirty="0">
                <a:solidFill>
                  <a:srgbClr val="404040"/>
                </a:solidFill>
                <a:latin typeface="Times New Roman" panose="02020603050405020304" pitchFamily="18" charset="0"/>
                <a:ea typeface="Calibri"/>
                <a:cs typeface="Times New Roman" panose="02020603050405020304" pitchFamily="18" charset="0"/>
                <a:sym typeface="Calibri"/>
              </a:rPr>
              <a:t> is the collection of records of the entities in a given entity set.</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4438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690;p40">
            <a:extLst>
              <a:ext uri="{FF2B5EF4-FFF2-40B4-BE49-F238E27FC236}">
                <a16:creationId xmlns:a16="http://schemas.microsoft.com/office/drawing/2014/main" id="{FB23E8A6-8B7F-F857-6E5F-593DC0AD671D}"/>
              </a:ext>
            </a:extLst>
          </p:cNvPr>
          <p:cNvSpPr txBox="1">
            <a:spLocks noGrp="1"/>
          </p:cNvSpPr>
          <p:nvPr>
            <p:ph type="title"/>
          </p:nvPr>
        </p:nvSpPr>
        <p:spPr>
          <a:xfrm>
            <a:off x="2708694" y="365125"/>
            <a:ext cx="8645100" cy="1325700"/>
          </a:xfrm>
          <a:prstGeom prst="rect">
            <a:avLst/>
          </a:prstGeom>
          <a:noFill/>
          <a:ln>
            <a:noFill/>
          </a:ln>
        </p:spPr>
        <p:txBody>
          <a:bodyPr spcFirstLastPara="1" wrap="square" lIns="121900" tIns="121900" rIns="121900" bIns="121900" anchor="t" anchorCtr="0">
            <a:noAutofit/>
          </a:bodyPr>
          <a:lstStyle/>
          <a:p>
            <a:pPr algn="l">
              <a:lnSpc>
                <a:spcPct val="100000"/>
              </a:lnSpc>
              <a:buClr>
                <a:srgbClr val="1581AA"/>
              </a:buClr>
              <a:buSzPts val="2800"/>
            </a:pPr>
            <a:r>
              <a:rPr lang="en-US" sz="3733" b="1" dirty="0">
                <a:solidFill>
                  <a:srgbClr val="1581AA"/>
                </a:solidFill>
              </a:rPr>
              <a:t>Basic Terminologies</a:t>
            </a:r>
            <a:br>
              <a:rPr lang="en-US" sz="4800" dirty="0">
                <a:solidFill>
                  <a:srgbClr val="1581AA"/>
                </a:solidFill>
              </a:rPr>
            </a:br>
            <a:endParaRPr dirty="0"/>
          </a:p>
        </p:txBody>
      </p:sp>
      <p:sp>
        <p:nvSpPr>
          <p:cNvPr id="6" name="Google Shape;697;p41">
            <a:extLst>
              <a:ext uri="{FF2B5EF4-FFF2-40B4-BE49-F238E27FC236}">
                <a16:creationId xmlns:a16="http://schemas.microsoft.com/office/drawing/2014/main" id="{0D52C469-4E60-C1E6-47A3-30E194DF5486}"/>
              </a:ext>
            </a:extLst>
          </p:cNvPr>
          <p:cNvSpPr txBox="1">
            <a:spLocks noGrp="1"/>
          </p:cNvSpPr>
          <p:nvPr>
            <p:ph type="body" idx="1"/>
          </p:nvPr>
        </p:nvSpPr>
        <p:spPr>
          <a:xfrm>
            <a:off x="2541083" y="1413155"/>
            <a:ext cx="8759755" cy="4399815"/>
          </a:xfrm>
          <a:prstGeom prst="rect">
            <a:avLst/>
          </a:prstGeom>
          <a:noFill/>
          <a:ln>
            <a:noFill/>
          </a:ln>
        </p:spPr>
        <p:txBody>
          <a:bodyPr spcFirstLastPara="1" wrap="square" lIns="121900" tIns="121900" rIns="121900" bIns="121900" anchor="t" anchorCtr="0">
            <a:noAutofit/>
          </a:bodyPr>
          <a:lstStyle/>
          <a:p>
            <a:pPr marL="0" indent="0" algn="just">
              <a:lnSpc>
                <a:spcPct val="150000"/>
              </a:lnSpc>
              <a:spcBef>
                <a:spcPts val="0"/>
              </a:spcBef>
              <a:buSzPts val="1800"/>
            </a:pPr>
            <a:r>
              <a:rPr lang="en-US" sz="2000" dirty="0">
                <a:solidFill>
                  <a:srgbClr val="404040"/>
                </a:solidFill>
                <a:latin typeface="Times New Roman" panose="02020603050405020304" pitchFamily="18" charset="0"/>
                <a:cs typeface="Times New Roman" panose="02020603050405020304" pitchFamily="18" charset="0"/>
                <a:sym typeface="Calibri"/>
              </a:rPr>
              <a:t>EXAMPLE: </a:t>
            </a:r>
            <a:endParaRPr sz="2000" dirty="0">
              <a:latin typeface="Times New Roman" panose="02020603050405020304" pitchFamily="18" charset="0"/>
              <a:cs typeface="Times New Roman" panose="02020603050405020304" pitchFamily="18" charset="0"/>
            </a:endParaRPr>
          </a:p>
          <a:p>
            <a:pPr marL="0" indent="0" algn="just">
              <a:lnSpc>
                <a:spcPct val="150000"/>
              </a:lnSpc>
              <a:spcBef>
                <a:spcPts val="1333"/>
              </a:spcBef>
              <a:buSzPts val="1800"/>
            </a:pPr>
            <a:r>
              <a:rPr lang="en-US" sz="2000" dirty="0">
                <a:solidFill>
                  <a:srgbClr val="404040"/>
                </a:solidFill>
                <a:latin typeface="Times New Roman" panose="02020603050405020304" pitchFamily="18" charset="0"/>
                <a:cs typeface="Times New Roman" panose="02020603050405020304" pitchFamily="18" charset="0"/>
                <a:sym typeface="Calibri"/>
              </a:rPr>
              <a:t>Attributes: Name             Age    Gender     Roll Number           Branch</a:t>
            </a:r>
            <a:endParaRPr sz="2000" dirty="0">
              <a:latin typeface="Times New Roman" panose="02020603050405020304" pitchFamily="18" charset="0"/>
              <a:cs typeface="Times New Roman" panose="02020603050405020304" pitchFamily="18" charset="0"/>
            </a:endParaRPr>
          </a:p>
          <a:p>
            <a:pPr marL="0" indent="0" algn="just">
              <a:lnSpc>
                <a:spcPct val="150000"/>
              </a:lnSpc>
              <a:spcBef>
                <a:spcPts val="1333"/>
              </a:spcBef>
              <a:buSzPts val="1800"/>
            </a:pPr>
            <a:r>
              <a:rPr lang="en-US" sz="2000" dirty="0">
                <a:solidFill>
                  <a:srgbClr val="404040"/>
                </a:solidFill>
                <a:latin typeface="Times New Roman" panose="02020603050405020304" pitchFamily="18" charset="0"/>
                <a:cs typeface="Times New Roman" panose="02020603050405020304" pitchFamily="18" charset="0"/>
                <a:sym typeface="Calibri"/>
              </a:rPr>
              <a:t>Values:	    A                     17       M        109cs0132              CSE </a:t>
            </a:r>
            <a:endParaRPr sz="2000" dirty="0">
              <a:latin typeface="Times New Roman" panose="02020603050405020304" pitchFamily="18" charset="0"/>
              <a:cs typeface="Times New Roman" panose="02020603050405020304" pitchFamily="18" charset="0"/>
            </a:endParaRPr>
          </a:p>
          <a:p>
            <a:pPr marL="0" indent="0" algn="just">
              <a:lnSpc>
                <a:spcPct val="150000"/>
              </a:lnSpc>
              <a:spcBef>
                <a:spcPts val="1333"/>
              </a:spcBef>
              <a:buSzPts val="1800"/>
            </a:pPr>
            <a:r>
              <a:rPr lang="en-US" sz="2000" dirty="0">
                <a:solidFill>
                  <a:srgbClr val="404040"/>
                </a:solidFill>
                <a:latin typeface="Times New Roman" panose="02020603050405020304" pitchFamily="18" charset="0"/>
                <a:cs typeface="Times New Roman" panose="02020603050405020304" pitchFamily="18" charset="0"/>
                <a:sym typeface="Calibri"/>
              </a:rPr>
              <a:t>	    B                     18	   M         109ee1234              ISE     </a:t>
            </a:r>
            <a:endParaRPr sz="2000" dirty="0">
              <a:latin typeface="Times New Roman" panose="02020603050405020304" pitchFamily="18" charset="0"/>
              <a:cs typeface="Times New Roman" panose="02020603050405020304" pitchFamily="18" charset="0"/>
            </a:endParaRPr>
          </a:p>
          <a:p>
            <a:pPr marL="0" indent="0" algn="just">
              <a:lnSpc>
                <a:spcPct val="150000"/>
              </a:lnSpc>
              <a:spcBef>
                <a:spcPts val="1333"/>
              </a:spcBef>
              <a:buSzPts val="1800"/>
            </a:pPr>
            <a:r>
              <a:rPr lang="en-US" sz="2000" dirty="0">
                <a:solidFill>
                  <a:srgbClr val="404040"/>
                </a:solidFill>
                <a:latin typeface="Times New Roman" panose="02020603050405020304" pitchFamily="18" charset="0"/>
                <a:cs typeface="Times New Roman" panose="02020603050405020304" pitchFamily="18" charset="0"/>
                <a:sym typeface="Calibri"/>
              </a:rPr>
              <a:t>Here, it is an example of student details where STUDENT is the given entity. Then name, age, Gender, roll number, branch are attributes and their values are properties (A, 17, M, 109cs0132, CSE). Collection of student details is student entity set and Roll number is the primary key which uniquely indicates each student details. </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3561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15;p44">
            <a:extLst>
              <a:ext uri="{FF2B5EF4-FFF2-40B4-BE49-F238E27FC236}">
                <a16:creationId xmlns:a16="http://schemas.microsoft.com/office/drawing/2014/main" id="{AC30A44E-5113-0A3F-37D2-C3DC8A0344D6}"/>
              </a:ext>
            </a:extLst>
          </p:cNvPr>
          <p:cNvSpPr txBox="1"/>
          <p:nvPr/>
        </p:nvSpPr>
        <p:spPr>
          <a:xfrm>
            <a:off x="2296583" y="675217"/>
            <a:ext cx="7300383" cy="697509"/>
          </a:xfrm>
          <a:prstGeom prst="rect">
            <a:avLst/>
          </a:prstGeom>
          <a:noFill/>
          <a:ln>
            <a:noFill/>
          </a:ln>
        </p:spPr>
        <p:txBody>
          <a:bodyPr spcFirstLastPara="1" wrap="square" lIns="121900" tIns="60933" rIns="121900" bIns="60933" anchor="t" anchorCtr="0">
            <a:spAutoFit/>
          </a:bodyPr>
          <a:lstStyle/>
          <a:p>
            <a:pPr>
              <a:buClr>
                <a:srgbClr val="1581AA"/>
              </a:buClr>
              <a:buSzPts val="2800"/>
            </a:pPr>
            <a:r>
              <a:rPr lang="en-US" sz="3733" b="1" dirty="0">
                <a:solidFill>
                  <a:srgbClr val="1581AA"/>
                </a:solidFill>
              </a:rPr>
              <a:t>Classification of Data Structure</a:t>
            </a:r>
            <a:endParaRPr sz="1867" dirty="0"/>
          </a:p>
        </p:txBody>
      </p:sp>
      <p:pic>
        <p:nvPicPr>
          <p:cNvPr id="3" name="Google Shape;716;p44">
            <a:extLst>
              <a:ext uri="{FF2B5EF4-FFF2-40B4-BE49-F238E27FC236}">
                <a16:creationId xmlns:a16="http://schemas.microsoft.com/office/drawing/2014/main" id="{B15F6897-2A88-BB2C-1E7D-F28C22E6C39C}"/>
              </a:ext>
            </a:extLst>
          </p:cNvPr>
          <p:cNvPicPr preferRelativeResize="0"/>
          <p:nvPr/>
        </p:nvPicPr>
        <p:blipFill rotWithShape="1">
          <a:blip r:embed="rId4">
            <a:alphaModFix/>
          </a:blip>
          <a:srcRect/>
          <a:stretch/>
        </p:blipFill>
        <p:spPr>
          <a:xfrm>
            <a:off x="2635972" y="1420998"/>
            <a:ext cx="8935269" cy="4761785"/>
          </a:xfrm>
          <a:prstGeom prst="rect">
            <a:avLst/>
          </a:prstGeom>
          <a:noFill/>
          <a:ln>
            <a:noFill/>
          </a:ln>
        </p:spPr>
      </p:pic>
    </p:spTree>
    <p:extLst>
      <p:ext uri="{BB962C8B-B14F-4D97-AF65-F5344CB8AC3E}">
        <p14:creationId xmlns:p14="http://schemas.microsoft.com/office/powerpoint/2010/main" val="1433398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21;p45">
            <a:extLst>
              <a:ext uri="{FF2B5EF4-FFF2-40B4-BE49-F238E27FC236}">
                <a16:creationId xmlns:a16="http://schemas.microsoft.com/office/drawing/2014/main" id="{83D69BD2-3D2E-4747-324C-B4423984113F}"/>
              </a:ext>
            </a:extLst>
          </p:cNvPr>
          <p:cNvSpPr txBox="1">
            <a:spLocks noGrp="1"/>
          </p:cNvSpPr>
          <p:nvPr>
            <p:ph type="body" idx="1"/>
          </p:nvPr>
        </p:nvSpPr>
        <p:spPr>
          <a:xfrm>
            <a:off x="2498984" y="1041854"/>
            <a:ext cx="8645100" cy="4351200"/>
          </a:xfrm>
          <a:prstGeom prst="rect">
            <a:avLst/>
          </a:prstGeom>
          <a:noFill/>
          <a:ln>
            <a:noFill/>
          </a:ln>
        </p:spPr>
        <p:txBody>
          <a:bodyPr spcFirstLastPara="1" wrap="square" lIns="121900" tIns="121900" rIns="121900" bIns="121900" anchor="t" anchorCtr="0">
            <a:noAutofit/>
          </a:bodyPr>
          <a:lstStyle/>
          <a:p>
            <a:pPr marL="457189" indent="-457189" algn="just">
              <a:lnSpc>
                <a:spcPct val="150000"/>
              </a:lnSpc>
              <a:spcBef>
                <a:spcPts val="0"/>
              </a:spcBef>
              <a:buClr>
                <a:srgbClr val="353535"/>
              </a:buClr>
              <a:buSzPts val="2000"/>
              <a:buChar char="•"/>
            </a:pPr>
            <a:r>
              <a:rPr lang="en-US" sz="2400" dirty="0">
                <a:solidFill>
                  <a:srgbClr val="404040"/>
                </a:solidFill>
                <a:latin typeface="Times New Roman" panose="02020603050405020304" pitchFamily="18" charset="0"/>
                <a:cs typeface="Times New Roman" panose="02020603050405020304" pitchFamily="18" charset="0"/>
                <a:sym typeface="Calibri"/>
              </a:rPr>
              <a:t>Simple Data Structure: Simple data structure can be constructed with the help of primitive data structure. A primitive data structure used to represent the standard data types of any one of the computer languages (integer, Character, float etc.).</a:t>
            </a:r>
            <a:endParaRPr sz="2400" dirty="0">
              <a:latin typeface="Times New Roman" panose="02020603050405020304" pitchFamily="18" charset="0"/>
              <a:cs typeface="Times New Roman" panose="02020603050405020304" pitchFamily="18" charset="0"/>
            </a:endParaRPr>
          </a:p>
          <a:p>
            <a:pPr marL="457189" indent="-457189" algn="just">
              <a:lnSpc>
                <a:spcPct val="150000"/>
              </a:lnSpc>
              <a:spcBef>
                <a:spcPts val="1333"/>
              </a:spcBef>
              <a:buClr>
                <a:srgbClr val="353535"/>
              </a:buClr>
              <a:buSzPts val="2000"/>
              <a:buChar char="•"/>
            </a:pPr>
            <a:r>
              <a:rPr lang="en-US" sz="2400" dirty="0">
                <a:solidFill>
                  <a:srgbClr val="404040"/>
                </a:solidFill>
                <a:latin typeface="Times New Roman" panose="02020603050405020304" pitchFamily="18" charset="0"/>
                <a:cs typeface="Times New Roman" panose="02020603050405020304" pitchFamily="18" charset="0"/>
                <a:sym typeface="Calibri"/>
              </a:rPr>
              <a:t>Compound Data Structure: Compound data structure can be constructed with the help of any one of the primitive data structure and it is having a specific functionality. It can be designed by user. It can be classified as Linear and Non-Linear Data Structure.</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2855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27;p46">
            <a:extLst>
              <a:ext uri="{FF2B5EF4-FFF2-40B4-BE49-F238E27FC236}">
                <a16:creationId xmlns:a16="http://schemas.microsoft.com/office/drawing/2014/main" id="{CB18B21D-344E-B1F2-7D18-1D6E24F98163}"/>
              </a:ext>
            </a:extLst>
          </p:cNvPr>
          <p:cNvSpPr txBox="1">
            <a:spLocks/>
          </p:cNvSpPr>
          <p:nvPr/>
        </p:nvSpPr>
        <p:spPr>
          <a:xfrm>
            <a:off x="2716258" y="1532468"/>
            <a:ext cx="8779649" cy="406577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buSzPts val="2000"/>
            </a:pPr>
            <a:r>
              <a:rPr lang="en-US" sz="2400" dirty="0">
                <a:solidFill>
                  <a:srgbClr val="404040"/>
                </a:solidFill>
                <a:latin typeface="Times New Roman" panose="02020603050405020304" pitchFamily="18" charset="0"/>
                <a:cs typeface="Times New Roman" panose="02020603050405020304" pitchFamily="18" charset="0"/>
              </a:rPr>
              <a:t>Anything that can store data can be called as a data structure, hence Integer, Float, Boolean, Char </a:t>
            </a:r>
            <a:r>
              <a:rPr lang="en-US" sz="2400" dirty="0" err="1">
                <a:solidFill>
                  <a:srgbClr val="404040"/>
                </a:solidFill>
                <a:latin typeface="Times New Roman" panose="02020603050405020304" pitchFamily="18" charset="0"/>
                <a:cs typeface="Times New Roman" panose="02020603050405020304" pitchFamily="18" charset="0"/>
              </a:rPr>
              <a:t>etc</a:t>
            </a:r>
            <a:r>
              <a:rPr lang="en-US" sz="2400" dirty="0">
                <a:solidFill>
                  <a:srgbClr val="404040"/>
                </a:solidFill>
                <a:latin typeface="Times New Roman" panose="02020603050405020304" pitchFamily="18" charset="0"/>
                <a:cs typeface="Times New Roman" panose="02020603050405020304" pitchFamily="18" charset="0"/>
              </a:rPr>
              <a:t>, all are data structures. They are known as </a:t>
            </a:r>
            <a:r>
              <a:rPr lang="en-US" sz="2400" b="1" dirty="0">
                <a:solidFill>
                  <a:srgbClr val="404040"/>
                </a:solidFill>
                <a:latin typeface="Times New Roman" panose="02020603050405020304" pitchFamily="18" charset="0"/>
                <a:cs typeface="Times New Roman" panose="02020603050405020304" pitchFamily="18" charset="0"/>
              </a:rPr>
              <a:t>Primitive Data Structures</a:t>
            </a:r>
            <a:r>
              <a:rPr lang="en-US" sz="2400" dirty="0">
                <a:solidFill>
                  <a:srgbClr val="404040"/>
                </a:solidFill>
                <a:latin typeface="Times New Roman" panose="02020603050405020304" pitchFamily="18" charset="0"/>
                <a:cs typeface="Times New Roman" panose="02020603050405020304" pitchFamily="18" charset="0"/>
              </a:rPr>
              <a:t> and some complex Data Structures, which are used to store large and connected data. They are called </a:t>
            </a:r>
            <a:r>
              <a:rPr lang="en-US" sz="2400" b="1" dirty="0">
                <a:solidFill>
                  <a:srgbClr val="404040"/>
                </a:solidFill>
                <a:latin typeface="Times New Roman" panose="02020603050405020304" pitchFamily="18" charset="0"/>
                <a:cs typeface="Times New Roman" panose="02020603050405020304" pitchFamily="18" charset="0"/>
              </a:rPr>
              <a:t>Non-primitive Data Structures</a:t>
            </a:r>
            <a:r>
              <a:rPr lang="en-US" sz="2400" dirty="0">
                <a:solidFill>
                  <a:srgbClr val="404040"/>
                </a:solidFill>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 </a:t>
            </a:r>
            <a:r>
              <a:rPr lang="en-US" sz="2400" dirty="0" err="1">
                <a:solidFill>
                  <a:srgbClr val="404040"/>
                </a:solidFill>
                <a:latin typeface="Times New Roman" panose="02020603050405020304" pitchFamily="18" charset="0"/>
                <a:cs typeface="Times New Roman" panose="02020603050405020304" pitchFamily="18" charset="0"/>
              </a:rPr>
              <a:t>Examples:Array,Stack,Queue,Linked</a:t>
            </a:r>
            <a:r>
              <a:rPr lang="en-US" sz="2400" dirty="0">
                <a:solidFill>
                  <a:srgbClr val="404040"/>
                </a:solidFill>
                <a:latin typeface="Times New Roman" panose="02020603050405020304" pitchFamily="18" charset="0"/>
                <a:cs typeface="Times New Roman" panose="02020603050405020304" pitchFamily="18" charset="0"/>
              </a:rPr>
              <a:t> </a:t>
            </a:r>
            <a:r>
              <a:rPr lang="en-US" sz="2400" dirty="0" err="1">
                <a:solidFill>
                  <a:srgbClr val="404040"/>
                </a:solidFill>
                <a:latin typeface="Times New Roman" panose="02020603050405020304" pitchFamily="18" charset="0"/>
                <a:cs typeface="Times New Roman" panose="02020603050405020304" pitchFamily="18" charset="0"/>
              </a:rPr>
              <a:t>List,Tree,Graph</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8396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33;p47">
            <a:extLst>
              <a:ext uri="{FF2B5EF4-FFF2-40B4-BE49-F238E27FC236}">
                <a16:creationId xmlns:a16="http://schemas.microsoft.com/office/drawing/2014/main" id="{24FB9E3C-631B-C22D-B16D-30504135F421}"/>
              </a:ext>
            </a:extLst>
          </p:cNvPr>
          <p:cNvSpPr txBox="1">
            <a:spLocks/>
          </p:cNvSpPr>
          <p:nvPr/>
        </p:nvSpPr>
        <p:spPr>
          <a:xfrm>
            <a:off x="2680111" y="217713"/>
            <a:ext cx="8537316" cy="487679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buSzPts val="2000"/>
            </a:pPr>
            <a:r>
              <a:rPr lang="en-US" sz="2400" b="1" dirty="0">
                <a:solidFill>
                  <a:srgbClr val="404040"/>
                </a:solidFill>
                <a:latin typeface="Times New Roman" panose="02020603050405020304" pitchFamily="18" charset="0"/>
                <a:cs typeface="Times New Roman" panose="02020603050405020304" pitchFamily="18" charset="0"/>
              </a:rPr>
              <a:t>Primitive Data Structure: </a:t>
            </a:r>
            <a:r>
              <a:rPr lang="en-US" sz="2400" dirty="0">
                <a:solidFill>
                  <a:srgbClr val="404040"/>
                </a:solidFill>
                <a:latin typeface="Times New Roman" panose="02020603050405020304" pitchFamily="18" charset="0"/>
                <a:cs typeface="Times New Roman" panose="02020603050405020304" pitchFamily="18" charset="0"/>
              </a:rPr>
              <a:t>The data Structures that can be Manipulated directly by Machine Instructions are called  Primitive Data Structures.</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For Example, in C language, the different primitive data structures are defined using the data types such as int, float, char, double and pointers. </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b="1" dirty="0">
                <a:solidFill>
                  <a:srgbClr val="404040"/>
                </a:solidFill>
                <a:latin typeface="Times New Roman" panose="02020603050405020304" pitchFamily="18" charset="0"/>
                <a:cs typeface="Times New Roman" panose="02020603050405020304" pitchFamily="18" charset="0"/>
              </a:rPr>
              <a:t>Non-Primitive Data structure: </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The data Structures that cannot be Manipulated directly by Machine Instructions are called  Non-Primitive Data Structures.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440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39;p48">
            <a:extLst>
              <a:ext uri="{FF2B5EF4-FFF2-40B4-BE49-F238E27FC236}">
                <a16:creationId xmlns:a16="http://schemas.microsoft.com/office/drawing/2014/main" id="{D9BC7682-245E-5B49-99FC-CECBEEDEB626}"/>
              </a:ext>
            </a:extLst>
          </p:cNvPr>
          <p:cNvSpPr txBox="1">
            <a:spLocks/>
          </p:cNvSpPr>
          <p:nvPr/>
        </p:nvSpPr>
        <p:spPr>
          <a:xfrm>
            <a:off x="2711934" y="1070696"/>
            <a:ext cx="8783973" cy="465519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buSzPts val="2000"/>
            </a:pPr>
            <a:r>
              <a:rPr lang="en-US" sz="2400" dirty="0">
                <a:solidFill>
                  <a:srgbClr val="404040"/>
                </a:solidFill>
                <a:latin typeface="Times New Roman" panose="02020603050405020304" pitchFamily="18" charset="0"/>
                <a:cs typeface="Times New Roman" panose="02020603050405020304" pitchFamily="18" charset="0"/>
              </a:rPr>
              <a:t>Non-Primitive data structure can be constructed with the help of any one of the primitive data structure and it is having a specific functionality. It can be designed by user. Arrays, Structure, Union, linked list, Stacks, Queue, trees, graphs </a:t>
            </a:r>
            <a:r>
              <a:rPr lang="en-US" sz="2400" dirty="0" err="1">
                <a:solidFill>
                  <a:srgbClr val="404040"/>
                </a:solidFill>
                <a:latin typeface="Times New Roman" panose="02020603050405020304" pitchFamily="18" charset="0"/>
                <a:cs typeface="Times New Roman" panose="02020603050405020304" pitchFamily="18" charset="0"/>
              </a:rPr>
              <a:t>etc</a:t>
            </a:r>
            <a:r>
              <a:rPr lang="en-US" sz="2400" dirty="0">
                <a:solidFill>
                  <a:srgbClr val="404040"/>
                </a:solidFill>
                <a:latin typeface="Times New Roman" panose="02020603050405020304" pitchFamily="18" charset="0"/>
                <a:cs typeface="Times New Roman" panose="02020603050405020304" pitchFamily="18" charset="0"/>
              </a:rPr>
              <a:t> are example for non primitive data structures.</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 It can be classified as</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 1) Linear data structure</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 2) Non-linear data structure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5028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45;p49">
            <a:extLst>
              <a:ext uri="{FF2B5EF4-FFF2-40B4-BE49-F238E27FC236}">
                <a16:creationId xmlns:a16="http://schemas.microsoft.com/office/drawing/2014/main" id="{0A67CD00-437F-334F-8B00-3E9A65840E97}"/>
              </a:ext>
            </a:extLst>
          </p:cNvPr>
          <p:cNvSpPr txBox="1">
            <a:spLocks/>
          </p:cNvSpPr>
          <p:nvPr/>
        </p:nvSpPr>
        <p:spPr>
          <a:xfrm>
            <a:off x="2730862" y="1193800"/>
            <a:ext cx="8343537" cy="4826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50000"/>
              </a:lnSpc>
              <a:spcBef>
                <a:spcPts val="0"/>
              </a:spcBef>
              <a:buSzPts val="2000"/>
            </a:pPr>
            <a:r>
              <a:rPr lang="en-US" sz="2400" dirty="0">
                <a:solidFill>
                  <a:srgbClr val="404040"/>
                </a:solidFill>
                <a:latin typeface="Times New Roman" panose="02020603050405020304" pitchFamily="18" charset="0"/>
                <a:cs typeface="Times New Roman" panose="02020603050405020304" pitchFamily="18" charset="0"/>
              </a:rPr>
              <a:t>Linear Data Structures: A linear data structure traverses  the data elements sequentially, in which only one data element  can directly be reached. Ex: Arrays, Linked Lists</a:t>
            </a:r>
            <a:endParaRPr lang="en-US" sz="2400" dirty="0">
              <a:latin typeface="Times New Roman" panose="02020603050405020304" pitchFamily="18" charset="0"/>
              <a:cs typeface="Times New Roman" panose="02020603050405020304" pitchFamily="18" charset="0"/>
            </a:endParaRPr>
          </a:p>
          <a:p>
            <a:pPr marL="0" indent="0" algn="just">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Non-Linear Data Structures: Every data item is  attached to several other data items in a way that is specific for  reflecting relationships. The data items are not arranged in a  sequential structure. Ex: Trees, Graphs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701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50;p50">
            <a:extLst>
              <a:ext uri="{FF2B5EF4-FFF2-40B4-BE49-F238E27FC236}">
                <a16:creationId xmlns:a16="http://schemas.microsoft.com/office/drawing/2014/main" id="{A9C8FDCE-A794-8853-FCC1-143766511314}"/>
              </a:ext>
            </a:extLst>
          </p:cNvPr>
          <p:cNvSpPr txBox="1">
            <a:spLocks/>
          </p:cNvSpPr>
          <p:nvPr/>
        </p:nvSpPr>
        <p:spPr>
          <a:xfrm>
            <a:off x="2730862" y="154517"/>
            <a:ext cx="8546737" cy="151172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3600"/>
            </a:pPr>
            <a:r>
              <a:rPr lang="en-US" sz="4800">
                <a:solidFill>
                  <a:srgbClr val="1581AA"/>
                </a:solidFill>
              </a:rPr>
              <a:t>Operation on Linear/Non-Linear </a:t>
            </a:r>
            <a:br>
              <a:rPr lang="en-US" sz="4800">
                <a:solidFill>
                  <a:srgbClr val="1581AA"/>
                </a:solidFill>
              </a:rPr>
            </a:br>
            <a:r>
              <a:rPr lang="en-US" sz="4800">
                <a:solidFill>
                  <a:srgbClr val="1581AA"/>
                </a:solidFill>
              </a:rPr>
              <a:t>Data Structure</a:t>
            </a:r>
            <a:endParaRPr lang="en-US" dirty="0"/>
          </a:p>
        </p:txBody>
      </p:sp>
      <p:sp>
        <p:nvSpPr>
          <p:cNvPr id="3" name="Google Shape;751;p50">
            <a:extLst>
              <a:ext uri="{FF2B5EF4-FFF2-40B4-BE49-F238E27FC236}">
                <a16:creationId xmlns:a16="http://schemas.microsoft.com/office/drawing/2014/main" id="{A3477D4B-0A6B-EFBA-CC5F-BA6A4F00FF8F}"/>
              </a:ext>
            </a:extLst>
          </p:cNvPr>
          <p:cNvSpPr txBox="1">
            <a:spLocks/>
          </p:cNvSpPr>
          <p:nvPr/>
        </p:nvSpPr>
        <p:spPr>
          <a:xfrm>
            <a:off x="2500840" y="1964108"/>
            <a:ext cx="9920816" cy="38650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457189" indent="-457189">
              <a:lnSpc>
                <a:spcPct val="150000"/>
              </a:lnSpc>
              <a:spcBef>
                <a:spcPts val="0"/>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Add an element</a:t>
            </a:r>
            <a:endParaRPr lang="en-US" sz="2400" dirty="0">
              <a:latin typeface="Times New Roman" panose="02020603050405020304" pitchFamily="18" charset="0"/>
              <a:cs typeface="Times New Roman" panose="02020603050405020304" pitchFamily="18" charset="0"/>
            </a:endParaRPr>
          </a:p>
          <a:p>
            <a:pPr marL="457189" indent="-457189">
              <a:lnSpc>
                <a:spcPct val="150000"/>
              </a:lnSpc>
              <a:spcBef>
                <a:spcPts val="1333"/>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Delete an element</a:t>
            </a:r>
            <a:endParaRPr lang="en-US" sz="2400" dirty="0">
              <a:latin typeface="Times New Roman" panose="02020603050405020304" pitchFamily="18" charset="0"/>
              <a:cs typeface="Times New Roman" panose="02020603050405020304" pitchFamily="18" charset="0"/>
            </a:endParaRPr>
          </a:p>
          <a:p>
            <a:pPr marL="457189" indent="-457189">
              <a:lnSpc>
                <a:spcPct val="150000"/>
              </a:lnSpc>
              <a:spcBef>
                <a:spcPts val="1333"/>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 Traverse / Display </a:t>
            </a:r>
            <a:endParaRPr lang="en-US" sz="2400" dirty="0">
              <a:latin typeface="Times New Roman" panose="02020603050405020304" pitchFamily="18" charset="0"/>
              <a:cs typeface="Times New Roman" panose="02020603050405020304" pitchFamily="18" charset="0"/>
            </a:endParaRPr>
          </a:p>
          <a:p>
            <a:pPr marL="457189" indent="-457189">
              <a:lnSpc>
                <a:spcPct val="150000"/>
              </a:lnSpc>
              <a:spcBef>
                <a:spcPts val="1333"/>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 Sort the list of elements</a:t>
            </a:r>
            <a:endParaRPr lang="en-US" sz="2400" dirty="0">
              <a:latin typeface="Times New Roman" panose="02020603050405020304" pitchFamily="18" charset="0"/>
              <a:cs typeface="Times New Roman" panose="02020603050405020304" pitchFamily="18" charset="0"/>
            </a:endParaRPr>
          </a:p>
          <a:p>
            <a:pPr marL="457189" indent="-457189">
              <a:lnSpc>
                <a:spcPct val="150000"/>
              </a:lnSpc>
              <a:spcBef>
                <a:spcPts val="1333"/>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 Search for a data element</a:t>
            </a:r>
            <a:endParaRPr lang="en-US" sz="2400" dirty="0">
              <a:latin typeface="Times New Roman" panose="02020603050405020304" pitchFamily="18" charset="0"/>
              <a:cs typeface="Times New Roman" panose="02020603050405020304" pitchFamily="18" charset="0"/>
            </a:endParaRPr>
          </a:p>
          <a:p>
            <a:pPr marL="457189" indent="-457189">
              <a:lnSpc>
                <a:spcPct val="150000"/>
              </a:lnSpc>
              <a:spcBef>
                <a:spcPts val="1333"/>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Merge the list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2340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57;p51">
            <a:extLst>
              <a:ext uri="{FF2B5EF4-FFF2-40B4-BE49-F238E27FC236}">
                <a16:creationId xmlns:a16="http://schemas.microsoft.com/office/drawing/2014/main" id="{905E9C6B-03D4-5C52-B693-35FD11022F9E}"/>
              </a:ext>
            </a:extLst>
          </p:cNvPr>
          <p:cNvSpPr txBox="1">
            <a:spLocks/>
          </p:cNvSpPr>
          <p:nvPr/>
        </p:nvSpPr>
        <p:spPr>
          <a:xfrm>
            <a:off x="2541084" y="914400"/>
            <a:ext cx="8954824" cy="6705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buSzPts val="2000"/>
              <a:buNone/>
            </a:pPr>
            <a:r>
              <a:rPr lang="en-US" sz="2400" dirty="0">
                <a:solidFill>
                  <a:srgbClr val="404040"/>
                </a:solidFill>
                <a:latin typeface="Times New Roman" panose="02020603050405020304" pitchFamily="18" charset="0"/>
                <a:cs typeface="Times New Roman" panose="02020603050405020304" pitchFamily="18" charset="0"/>
              </a:rPr>
              <a:t>(</a:t>
            </a:r>
            <a:r>
              <a:rPr lang="en-US" sz="2000" dirty="0">
                <a:solidFill>
                  <a:srgbClr val="404040"/>
                </a:solidFill>
                <a:latin typeface="Times New Roman" panose="02020603050405020304" pitchFamily="18" charset="0"/>
                <a:cs typeface="Times New Roman" panose="02020603050405020304" pitchFamily="18" charset="0"/>
              </a:rPr>
              <a:t>1)Traversing: Accessing each record exactly once so that certain items in the record may be processed.</a:t>
            </a:r>
            <a:endParaRPr lang="en-US" sz="20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buNone/>
            </a:pPr>
            <a:r>
              <a:rPr lang="en-US" sz="2000" dirty="0">
                <a:solidFill>
                  <a:srgbClr val="404040"/>
                </a:solidFill>
                <a:latin typeface="Times New Roman" panose="02020603050405020304" pitchFamily="18" charset="0"/>
                <a:cs typeface="Times New Roman" panose="02020603050405020304" pitchFamily="18" charset="0"/>
              </a:rPr>
              <a:t>(2) Searching: Finding the location of a particular record with a given key value, or finding the location of all records which satisfy one or more conditions.</a:t>
            </a:r>
            <a:endParaRPr lang="en-US" sz="20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buNone/>
            </a:pPr>
            <a:r>
              <a:rPr lang="en-US" sz="2000" dirty="0">
                <a:solidFill>
                  <a:srgbClr val="404040"/>
                </a:solidFill>
                <a:latin typeface="Times New Roman" panose="02020603050405020304" pitchFamily="18" charset="0"/>
                <a:cs typeface="Times New Roman" panose="02020603050405020304" pitchFamily="18" charset="0"/>
              </a:rPr>
              <a:t>(3)  Inserting: Adding a new record to the structure.</a:t>
            </a:r>
            <a:endParaRPr lang="en-US" sz="20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buNone/>
            </a:pPr>
            <a:r>
              <a:rPr lang="en-US" sz="2000" dirty="0">
                <a:solidFill>
                  <a:srgbClr val="404040"/>
                </a:solidFill>
                <a:latin typeface="Times New Roman" panose="02020603050405020304" pitchFamily="18" charset="0"/>
                <a:cs typeface="Times New Roman" panose="02020603050405020304" pitchFamily="18" charset="0"/>
              </a:rPr>
              <a:t>(4)  Deleting: Removing the record from the structure.</a:t>
            </a:r>
            <a:endParaRPr lang="en-US" sz="20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buNone/>
            </a:pPr>
            <a:r>
              <a:rPr lang="en-US" sz="2000" dirty="0">
                <a:solidFill>
                  <a:srgbClr val="404040"/>
                </a:solidFill>
                <a:latin typeface="Times New Roman" panose="02020603050405020304" pitchFamily="18" charset="0"/>
                <a:cs typeface="Times New Roman" panose="02020603050405020304" pitchFamily="18" charset="0"/>
              </a:rPr>
              <a:t>(5) Sorting: Managing the data or record in some logical order (Ascending or descending order).</a:t>
            </a:r>
            <a:endParaRPr lang="en-US" sz="20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buNone/>
            </a:pPr>
            <a:r>
              <a:rPr lang="en-US" sz="2000" dirty="0">
                <a:solidFill>
                  <a:srgbClr val="404040"/>
                </a:solidFill>
                <a:latin typeface="Times New Roman" panose="02020603050405020304" pitchFamily="18" charset="0"/>
                <a:cs typeface="Times New Roman" panose="02020603050405020304" pitchFamily="18" charset="0"/>
              </a:rPr>
              <a:t>(6)  Merging: Combining the record in two different sorted files into a single sorted file.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5684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62;p52">
            <a:extLst>
              <a:ext uri="{FF2B5EF4-FFF2-40B4-BE49-F238E27FC236}">
                <a16:creationId xmlns:a16="http://schemas.microsoft.com/office/drawing/2014/main" id="{AB3C7310-E514-8535-EE85-9D588483606B}"/>
              </a:ext>
            </a:extLst>
          </p:cNvPr>
          <p:cNvSpPr txBox="1">
            <a:spLocks/>
          </p:cNvSpPr>
          <p:nvPr/>
        </p:nvSpPr>
        <p:spPr>
          <a:xfrm>
            <a:off x="3064875" y="244596"/>
            <a:ext cx="7675032" cy="570078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000"/>
              <a:buNone/>
            </a:pPr>
            <a:r>
              <a:rPr lang="en-US" sz="2400" b="1" dirty="0">
                <a:solidFill>
                  <a:srgbClr val="404040"/>
                </a:solidFill>
                <a:latin typeface="Times New Roman" panose="02020603050405020304" pitchFamily="18" charset="0"/>
                <a:cs typeface="Times New Roman" panose="02020603050405020304" pitchFamily="18" charset="0"/>
              </a:rPr>
              <a:t>Operations on linear data structures</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SzPts val="2000"/>
              <a:buNone/>
            </a:pPr>
            <a:r>
              <a:rPr lang="en-US" sz="2400" dirty="0">
                <a:solidFill>
                  <a:srgbClr val="404040"/>
                </a:solidFill>
                <a:latin typeface="Times New Roman" panose="02020603050405020304" pitchFamily="18" charset="0"/>
                <a:cs typeface="Times New Roman" panose="02020603050405020304" pitchFamily="18" charset="0"/>
              </a:rPr>
              <a:t>1.Add an element</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SzPts val="2000"/>
              <a:buNone/>
            </a:pPr>
            <a:r>
              <a:rPr lang="en-US" sz="2400" dirty="0">
                <a:solidFill>
                  <a:srgbClr val="404040"/>
                </a:solidFill>
                <a:latin typeface="Times New Roman" panose="02020603050405020304" pitchFamily="18" charset="0"/>
                <a:cs typeface="Times New Roman" panose="02020603050405020304" pitchFamily="18" charset="0"/>
              </a:rPr>
              <a:t>2.Delete an element</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SzPts val="2000"/>
              <a:buNone/>
            </a:pPr>
            <a:r>
              <a:rPr lang="en-US" sz="2400" dirty="0">
                <a:solidFill>
                  <a:srgbClr val="404040"/>
                </a:solidFill>
                <a:latin typeface="Times New Roman" panose="02020603050405020304" pitchFamily="18" charset="0"/>
                <a:cs typeface="Times New Roman" panose="02020603050405020304" pitchFamily="18" charset="0"/>
              </a:rPr>
              <a:t>3.Traverse all the elements</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SzPts val="2000"/>
              <a:buNone/>
            </a:pPr>
            <a:r>
              <a:rPr lang="en-US" sz="2400" dirty="0">
                <a:solidFill>
                  <a:srgbClr val="404040"/>
                </a:solidFill>
                <a:latin typeface="Times New Roman" panose="02020603050405020304" pitchFamily="18" charset="0"/>
                <a:cs typeface="Times New Roman" panose="02020603050405020304" pitchFamily="18" charset="0"/>
              </a:rPr>
              <a:t>4.Sort the list of elements</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SzPts val="2000"/>
              <a:buNone/>
            </a:pPr>
            <a:r>
              <a:rPr lang="en-US" sz="2400" dirty="0">
                <a:solidFill>
                  <a:srgbClr val="404040"/>
                </a:solidFill>
                <a:latin typeface="Times New Roman" panose="02020603050405020304" pitchFamily="18" charset="0"/>
                <a:cs typeface="Times New Roman" panose="02020603050405020304" pitchFamily="18" charset="0"/>
              </a:rPr>
              <a:t>5.Search for a data element</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SzPts val="2000"/>
              <a:buNone/>
            </a:pPr>
            <a:r>
              <a:rPr lang="en-US" sz="2400" dirty="0">
                <a:solidFill>
                  <a:srgbClr val="404040"/>
                </a:solidFill>
                <a:latin typeface="Times New Roman" panose="02020603050405020304" pitchFamily="18" charset="0"/>
                <a:cs typeface="Times New Roman" panose="02020603050405020304" pitchFamily="18" charset="0"/>
              </a:rPr>
              <a:t>Apply one or more functionality to create different types of data structures.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SzPts val="2000"/>
              <a:buNone/>
            </a:pPr>
            <a:r>
              <a:rPr lang="en-US" sz="2400" dirty="0">
                <a:solidFill>
                  <a:srgbClr val="404040"/>
                </a:solidFill>
                <a:latin typeface="Times New Roman" panose="02020603050405020304" pitchFamily="18" charset="0"/>
                <a:cs typeface="Times New Roman" panose="02020603050405020304" pitchFamily="18" charset="0"/>
              </a:rPr>
              <a:t>For example Stack, Queue, and Linked Lists.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9821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72;p54">
            <a:extLst>
              <a:ext uri="{FF2B5EF4-FFF2-40B4-BE49-F238E27FC236}">
                <a16:creationId xmlns:a16="http://schemas.microsoft.com/office/drawing/2014/main" id="{BDE6B094-656B-BF9F-054D-74BB4434261D}"/>
              </a:ext>
            </a:extLst>
          </p:cNvPr>
          <p:cNvSpPr txBox="1">
            <a:spLocks/>
          </p:cNvSpPr>
          <p:nvPr/>
        </p:nvSpPr>
        <p:spPr>
          <a:xfrm>
            <a:off x="3047999" y="469901"/>
            <a:ext cx="8017933" cy="89081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3600"/>
            </a:pPr>
            <a:r>
              <a:rPr lang="en-US" sz="4800" dirty="0">
                <a:solidFill>
                  <a:srgbClr val="1581AA"/>
                </a:solidFill>
              </a:rPr>
              <a:t>Types of Data Structure</a:t>
            </a:r>
            <a:endParaRPr lang="en-US" dirty="0"/>
          </a:p>
        </p:txBody>
      </p:sp>
      <p:sp>
        <p:nvSpPr>
          <p:cNvPr id="3" name="Google Shape;773;p54">
            <a:extLst>
              <a:ext uri="{FF2B5EF4-FFF2-40B4-BE49-F238E27FC236}">
                <a16:creationId xmlns:a16="http://schemas.microsoft.com/office/drawing/2014/main" id="{A96AAFAC-6A5C-0AA0-B969-7D9D1DB4E0B5}"/>
              </a:ext>
            </a:extLst>
          </p:cNvPr>
          <p:cNvSpPr txBox="1">
            <a:spLocks/>
          </p:cNvSpPr>
          <p:nvPr/>
        </p:nvSpPr>
        <p:spPr>
          <a:xfrm>
            <a:off x="2875438" y="1382183"/>
            <a:ext cx="8192612" cy="459407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buSzPts val="2000"/>
            </a:pPr>
            <a:r>
              <a:rPr lang="en-US" sz="2400" dirty="0">
                <a:solidFill>
                  <a:srgbClr val="404040"/>
                </a:solidFill>
                <a:latin typeface="Times New Roman" panose="02020603050405020304" pitchFamily="18" charset="0"/>
                <a:cs typeface="Times New Roman" panose="02020603050405020304" pitchFamily="18" charset="0"/>
              </a:rPr>
              <a:t>Array: is commonly used in computer programming to mean a</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contiguous block of memory locations, where each memory location </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stores one fixed-length data item. e.g. Array of Integers int a[10], Array of Character char b[10].</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Clr>
                <a:srgbClr val="353535"/>
              </a:buClr>
              <a:buSzPts val="2000"/>
            </a:pPr>
            <a:endParaRPr lang="en-US" sz="2400" dirty="0">
              <a:solidFill>
                <a:srgbClr val="40404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3736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Google Shape;778;p55">
            <a:extLst>
              <a:ext uri="{FF2B5EF4-FFF2-40B4-BE49-F238E27FC236}">
                <a16:creationId xmlns:a16="http://schemas.microsoft.com/office/drawing/2014/main" id="{DA7A2B77-EA42-40A4-496C-99CA0775F5FD}"/>
              </a:ext>
            </a:extLst>
          </p:cNvPr>
          <p:cNvSpPr txBox="1">
            <a:spLocks/>
          </p:cNvSpPr>
          <p:nvPr/>
        </p:nvSpPr>
        <p:spPr>
          <a:xfrm>
            <a:off x="2716258" y="177800"/>
            <a:ext cx="8256542" cy="585288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00000"/>
              </a:lnSpc>
              <a:spcBef>
                <a:spcPts val="0"/>
              </a:spcBef>
              <a:buNone/>
            </a:pPr>
            <a:r>
              <a:rPr lang="en-US" sz="2400" dirty="0">
                <a:solidFill>
                  <a:srgbClr val="404040"/>
                </a:solidFill>
                <a:latin typeface="Times New Roman" panose="02020603050405020304" pitchFamily="18" charset="0"/>
                <a:cs typeface="Times New Roman" panose="02020603050405020304" pitchFamily="18" charset="0"/>
              </a:rPr>
              <a:t>Stack: A stack is a data </a:t>
            </a: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structure in which items can </a:t>
            </a: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be inserted only from one </a:t>
            </a: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end and get items back from </a:t>
            </a: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the same end. There , the last </a:t>
            </a: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item inserted into stack, is </a:t>
            </a: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the </a:t>
            </a:r>
            <a:r>
              <a:rPr lang="en-US" sz="2400" dirty="0" err="1">
                <a:solidFill>
                  <a:srgbClr val="404040"/>
                </a:solidFill>
                <a:latin typeface="Times New Roman" panose="02020603050405020304" pitchFamily="18" charset="0"/>
                <a:cs typeface="Times New Roman" panose="02020603050405020304" pitchFamily="18" charset="0"/>
              </a:rPr>
              <a:t>the</a:t>
            </a:r>
            <a:r>
              <a:rPr lang="en-US" sz="2400" dirty="0">
                <a:solidFill>
                  <a:srgbClr val="404040"/>
                </a:solidFill>
                <a:latin typeface="Times New Roman" panose="02020603050405020304" pitchFamily="18" charset="0"/>
                <a:cs typeface="Times New Roman" panose="02020603050405020304" pitchFamily="18" charset="0"/>
              </a:rPr>
              <a:t> first item to be taken </a:t>
            </a: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out from the stack. In short </a:t>
            </a: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its also called Last in First </a:t>
            </a:r>
            <a:endParaRPr lang="en-US" sz="2400" dirty="0">
              <a:latin typeface="Times New Roman" panose="02020603050405020304" pitchFamily="18" charset="0"/>
              <a:cs typeface="Times New Roman" panose="02020603050405020304" pitchFamily="18" charset="0"/>
            </a:endParaRPr>
          </a:p>
          <a:p>
            <a:pPr marL="0" indent="0" algn="just">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out [LIFO]</a:t>
            </a:r>
            <a:endParaRPr lang="en-US" sz="2400" dirty="0">
              <a:latin typeface="Times New Roman" panose="02020603050405020304" pitchFamily="18" charset="0"/>
              <a:cs typeface="Times New Roman" panose="02020603050405020304" pitchFamily="18" charset="0"/>
            </a:endParaRPr>
          </a:p>
        </p:txBody>
      </p:sp>
      <p:pic>
        <p:nvPicPr>
          <p:cNvPr id="4" name="Google Shape;779;p55">
            <a:extLst>
              <a:ext uri="{FF2B5EF4-FFF2-40B4-BE49-F238E27FC236}">
                <a16:creationId xmlns:a16="http://schemas.microsoft.com/office/drawing/2014/main" id="{62B1AA43-290A-607C-CA2F-6CF7361860AD}"/>
              </a:ext>
            </a:extLst>
          </p:cNvPr>
          <p:cNvPicPr preferRelativeResize="0"/>
          <p:nvPr/>
        </p:nvPicPr>
        <p:blipFill rotWithShape="1">
          <a:blip r:embed="rId4">
            <a:alphaModFix/>
          </a:blip>
          <a:srcRect/>
          <a:stretch/>
        </p:blipFill>
        <p:spPr>
          <a:xfrm>
            <a:off x="7434943" y="275167"/>
            <a:ext cx="3537857" cy="5603119"/>
          </a:xfrm>
          <a:prstGeom prst="rect">
            <a:avLst/>
          </a:prstGeom>
          <a:noFill/>
          <a:ln>
            <a:noFill/>
          </a:ln>
        </p:spPr>
      </p:pic>
    </p:spTree>
    <p:extLst>
      <p:ext uri="{BB962C8B-B14F-4D97-AF65-F5344CB8AC3E}">
        <p14:creationId xmlns:p14="http://schemas.microsoft.com/office/powerpoint/2010/main" val="2186710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786;p56">
            <a:extLst>
              <a:ext uri="{FF2B5EF4-FFF2-40B4-BE49-F238E27FC236}">
                <a16:creationId xmlns:a16="http://schemas.microsoft.com/office/drawing/2014/main" id="{24A787E5-E44A-F55F-3298-077064C58BB4}"/>
              </a:ext>
            </a:extLst>
          </p:cNvPr>
          <p:cNvPicPr preferRelativeResize="0"/>
          <p:nvPr/>
        </p:nvPicPr>
        <p:blipFill rotWithShape="1">
          <a:blip r:embed="rId4">
            <a:alphaModFix/>
          </a:blip>
          <a:srcRect/>
          <a:stretch/>
        </p:blipFill>
        <p:spPr>
          <a:xfrm>
            <a:off x="2541082" y="400050"/>
            <a:ext cx="8676345" cy="5641521"/>
          </a:xfrm>
          <a:prstGeom prst="rect">
            <a:avLst/>
          </a:prstGeom>
          <a:noFill/>
          <a:ln>
            <a:noFill/>
          </a:ln>
        </p:spPr>
      </p:pic>
    </p:spTree>
    <p:extLst>
      <p:ext uri="{BB962C8B-B14F-4D97-AF65-F5344CB8AC3E}">
        <p14:creationId xmlns:p14="http://schemas.microsoft.com/office/powerpoint/2010/main" val="3613906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793;p57">
            <a:extLst>
              <a:ext uri="{FF2B5EF4-FFF2-40B4-BE49-F238E27FC236}">
                <a16:creationId xmlns:a16="http://schemas.microsoft.com/office/drawing/2014/main" id="{2857F6DD-5D10-41F8-8380-732E809E0295}"/>
              </a:ext>
            </a:extLst>
          </p:cNvPr>
          <p:cNvPicPr preferRelativeResize="0"/>
          <p:nvPr/>
        </p:nvPicPr>
        <p:blipFill rotWithShape="1">
          <a:blip r:embed="rId4">
            <a:alphaModFix/>
          </a:blip>
          <a:srcRect/>
          <a:stretch/>
        </p:blipFill>
        <p:spPr>
          <a:xfrm>
            <a:off x="2541082" y="889000"/>
            <a:ext cx="8431717" cy="4826000"/>
          </a:xfrm>
          <a:prstGeom prst="rect">
            <a:avLst/>
          </a:prstGeom>
          <a:noFill/>
          <a:ln>
            <a:noFill/>
          </a:ln>
        </p:spPr>
      </p:pic>
    </p:spTree>
    <p:extLst>
      <p:ext uri="{BB962C8B-B14F-4D97-AF65-F5344CB8AC3E}">
        <p14:creationId xmlns:p14="http://schemas.microsoft.com/office/powerpoint/2010/main" val="117908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798;p58">
            <a:extLst>
              <a:ext uri="{FF2B5EF4-FFF2-40B4-BE49-F238E27FC236}">
                <a16:creationId xmlns:a16="http://schemas.microsoft.com/office/drawing/2014/main" id="{9A4CC7EB-2A6F-36ED-A8FB-E83D1D3A0448}"/>
              </a:ext>
            </a:extLst>
          </p:cNvPr>
          <p:cNvSpPr txBox="1">
            <a:spLocks/>
          </p:cNvSpPr>
          <p:nvPr/>
        </p:nvSpPr>
        <p:spPr>
          <a:xfrm>
            <a:off x="2906485" y="347134"/>
            <a:ext cx="8286447" cy="91262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2400"/>
            </a:pPr>
            <a:r>
              <a:rPr lang="en-US" sz="3200">
                <a:solidFill>
                  <a:srgbClr val="1581AA"/>
                </a:solidFill>
              </a:rPr>
              <a:t>Operations on Stack</a:t>
            </a:r>
            <a:endParaRPr lang="en-US" dirty="0"/>
          </a:p>
        </p:txBody>
      </p:sp>
      <p:sp>
        <p:nvSpPr>
          <p:cNvPr id="3" name="Google Shape;799;p58">
            <a:extLst>
              <a:ext uri="{FF2B5EF4-FFF2-40B4-BE49-F238E27FC236}">
                <a16:creationId xmlns:a16="http://schemas.microsoft.com/office/drawing/2014/main" id="{F4C07BEE-472D-94B2-1EE0-AE17AB5948C6}"/>
              </a:ext>
            </a:extLst>
          </p:cNvPr>
          <p:cNvSpPr txBox="1">
            <a:spLocks/>
          </p:cNvSpPr>
          <p:nvPr/>
        </p:nvSpPr>
        <p:spPr>
          <a:xfrm>
            <a:off x="2777464" y="1447800"/>
            <a:ext cx="7585736" cy="415044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457189" indent="-457189">
              <a:lnSpc>
                <a:spcPct val="100000"/>
              </a:lnSpc>
              <a:spcBef>
                <a:spcPts val="0"/>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Insert (PUSH)</a:t>
            </a:r>
            <a:endParaRPr lang="en-US" sz="2400" dirty="0">
              <a:latin typeface="Times New Roman" panose="02020603050405020304" pitchFamily="18" charset="0"/>
              <a:cs typeface="Times New Roman" panose="02020603050405020304" pitchFamily="18" charset="0"/>
            </a:endParaRPr>
          </a:p>
          <a:p>
            <a:pPr marL="457189" indent="-457189">
              <a:lnSpc>
                <a:spcPct val="100000"/>
              </a:lnSpc>
              <a:spcBef>
                <a:spcPts val="1333"/>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Delete(POP)</a:t>
            </a:r>
            <a:endParaRPr lang="en-US" sz="2400" dirty="0">
              <a:latin typeface="Times New Roman" panose="02020603050405020304" pitchFamily="18" charset="0"/>
              <a:cs typeface="Times New Roman" panose="02020603050405020304" pitchFamily="18" charset="0"/>
            </a:endParaRPr>
          </a:p>
          <a:p>
            <a:pPr marL="457189" indent="-457189">
              <a:lnSpc>
                <a:spcPct val="100000"/>
              </a:lnSpc>
              <a:spcBef>
                <a:spcPts val="1333"/>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Overflow</a:t>
            </a:r>
            <a:endParaRPr lang="en-US" sz="2400" dirty="0">
              <a:latin typeface="Times New Roman" panose="02020603050405020304" pitchFamily="18" charset="0"/>
              <a:cs typeface="Times New Roman" panose="02020603050405020304" pitchFamily="18" charset="0"/>
            </a:endParaRPr>
          </a:p>
          <a:p>
            <a:pPr marL="457189" indent="-457189">
              <a:lnSpc>
                <a:spcPct val="100000"/>
              </a:lnSpc>
              <a:spcBef>
                <a:spcPts val="1333"/>
              </a:spcBef>
              <a:buClr>
                <a:srgbClr val="353535"/>
              </a:buClr>
              <a:buSzPts val="2000"/>
            </a:pPr>
            <a:r>
              <a:rPr lang="en-US" sz="2400" dirty="0">
                <a:solidFill>
                  <a:srgbClr val="404040"/>
                </a:solidFill>
                <a:latin typeface="Times New Roman" panose="02020603050405020304" pitchFamily="18" charset="0"/>
                <a:cs typeface="Times New Roman" panose="02020603050405020304" pitchFamily="18" charset="0"/>
              </a:rPr>
              <a:t>Underflow</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865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04;p59">
            <a:extLst>
              <a:ext uri="{FF2B5EF4-FFF2-40B4-BE49-F238E27FC236}">
                <a16:creationId xmlns:a16="http://schemas.microsoft.com/office/drawing/2014/main" id="{ABE0C60D-2609-6C72-9131-EB1C7EBC607E}"/>
              </a:ext>
            </a:extLst>
          </p:cNvPr>
          <p:cNvSpPr txBox="1">
            <a:spLocks/>
          </p:cNvSpPr>
          <p:nvPr/>
        </p:nvSpPr>
        <p:spPr>
          <a:xfrm>
            <a:off x="2716258" y="381001"/>
            <a:ext cx="8053342" cy="647699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None/>
            </a:pPr>
            <a:r>
              <a:rPr lang="en-US" sz="2400" dirty="0">
                <a:solidFill>
                  <a:srgbClr val="404040"/>
                </a:solidFill>
                <a:latin typeface="Times New Roman" panose="02020603050405020304" pitchFamily="18" charset="0"/>
                <a:cs typeface="Times New Roman" panose="02020603050405020304" pitchFamily="18" charset="0"/>
              </a:rPr>
              <a:t>Queue: A queue is two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ended data structure in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which items can be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inserted from one end and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taken out from the other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end. Therefore , the first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item inserted into queue is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the first item to be taken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out from the queue. This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property is called First in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None/>
            </a:pPr>
            <a:r>
              <a:rPr lang="en-US" sz="2400" dirty="0">
                <a:solidFill>
                  <a:srgbClr val="404040"/>
                </a:solidFill>
                <a:latin typeface="Times New Roman" panose="02020603050405020304" pitchFamily="18" charset="0"/>
                <a:cs typeface="Times New Roman" panose="02020603050405020304" pitchFamily="18" charset="0"/>
              </a:rPr>
              <a:t>First out [FIFO].</a:t>
            </a:r>
            <a:endParaRPr lang="en-US" sz="2400" dirty="0">
              <a:latin typeface="Times New Roman" panose="02020603050405020304" pitchFamily="18" charset="0"/>
              <a:cs typeface="Times New Roman" panose="02020603050405020304" pitchFamily="18" charset="0"/>
            </a:endParaRPr>
          </a:p>
        </p:txBody>
      </p:sp>
      <p:pic>
        <p:nvPicPr>
          <p:cNvPr id="3" name="Google Shape;805;p59">
            <a:extLst>
              <a:ext uri="{FF2B5EF4-FFF2-40B4-BE49-F238E27FC236}">
                <a16:creationId xmlns:a16="http://schemas.microsoft.com/office/drawing/2014/main" id="{B38E3D6D-2BC6-5BC2-C070-9409D12C8D45}"/>
              </a:ext>
            </a:extLst>
          </p:cNvPr>
          <p:cNvPicPr preferRelativeResize="0"/>
          <p:nvPr/>
        </p:nvPicPr>
        <p:blipFill rotWithShape="1">
          <a:blip r:embed="rId4">
            <a:alphaModFix/>
          </a:blip>
          <a:srcRect/>
          <a:stretch/>
        </p:blipFill>
        <p:spPr>
          <a:xfrm>
            <a:off x="6923617" y="944034"/>
            <a:ext cx="3746500" cy="3187700"/>
          </a:xfrm>
          <a:prstGeom prst="rect">
            <a:avLst/>
          </a:prstGeom>
          <a:noFill/>
          <a:ln>
            <a:noFill/>
          </a:ln>
        </p:spPr>
      </p:pic>
    </p:spTree>
    <p:extLst>
      <p:ext uri="{BB962C8B-B14F-4D97-AF65-F5344CB8AC3E}">
        <p14:creationId xmlns:p14="http://schemas.microsoft.com/office/powerpoint/2010/main" val="910670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812;p60">
            <a:extLst>
              <a:ext uri="{FF2B5EF4-FFF2-40B4-BE49-F238E27FC236}">
                <a16:creationId xmlns:a16="http://schemas.microsoft.com/office/drawing/2014/main" id="{02A3028D-23D6-5829-FB52-85787623143E}"/>
              </a:ext>
            </a:extLst>
          </p:cNvPr>
          <p:cNvPicPr preferRelativeResize="0"/>
          <p:nvPr/>
        </p:nvPicPr>
        <p:blipFill rotWithShape="1">
          <a:blip r:embed="rId4">
            <a:alphaModFix/>
          </a:blip>
          <a:srcRect/>
          <a:stretch/>
        </p:blipFill>
        <p:spPr>
          <a:xfrm>
            <a:off x="2849034" y="1041400"/>
            <a:ext cx="7470623" cy="4556845"/>
          </a:xfrm>
          <a:prstGeom prst="rect">
            <a:avLst/>
          </a:prstGeom>
          <a:noFill/>
          <a:ln>
            <a:noFill/>
          </a:ln>
        </p:spPr>
      </p:pic>
    </p:spTree>
    <p:extLst>
      <p:ext uri="{BB962C8B-B14F-4D97-AF65-F5344CB8AC3E}">
        <p14:creationId xmlns:p14="http://schemas.microsoft.com/office/powerpoint/2010/main" val="379494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819;p61">
            <a:extLst>
              <a:ext uri="{FF2B5EF4-FFF2-40B4-BE49-F238E27FC236}">
                <a16:creationId xmlns:a16="http://schemas.microsoft.com/office/drawing/2014/main" id="{FF7876B5-7EA7-E3BA-1201-8D03EA5A3E26}"/>
              </a:ext>
            </a:extLst>
          </p:cNvPr>
          <p:cNvPicPr preferRelativeResize="0"/>
          <p:nvPr/>
        </p:nvPicPr>
        <p:blipFill rotWithShape="1">
          <a:blip r:embed="rId4">
            <a:alphaModFix/>
          </a:blip>
          <a:srcRect/>
          <a:stretch/>
        </p:blipFill>
        <p:spPr>
          <a:xfrm>
            <a:off x="3124304" y="1666240"/>
            <a:ext cx="7514167" cy="2688167"/>
          </a:xfrm>
          <a:prstGeom prst="rect">
            <a:avLst/>
          </a:prstGeom>
          <a:noFill/>
          <a:ln>
            <a:noFill/>
          </a:ln>
        </p:spPr>
      </p:pic>
    </p:spTree>
    <p:extLst>
      <p:ext uri="{BB962C8B-B14F-4D97-AF65-F5344CB8AC3E}">
        <p14:creationId xmlns:p14="http://schemas.microsoft.com/office/powerpoint/2010/main" val="2986997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25;p62">
            <a:extLst>
              <a:ext uri="{FF2B5EF4-FFF2-40B4-BE49-F238E27FC236}">
                <a16:creationId xmlns:a16="http://schemas.microsoft.com/office/drawing/2014/main" id="{69CAB9D9-3334-5DC9-4917-A772A95B5504}"/>
              </a:ext>
            </a:extLst>
          </p:cNvPr>
          <p:cNvSpPr txBox="1">
            <a:spLocks/>
          </p:cNvSpPr>
          <p:nvPr/>
        </p:nvSpPr>
        <p:spPr>
          <a:xfrm>
            <a:off x="2716257" y="1890182"/>
            <a:ext cx="8310971" cy="350913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buSzPts val="2000"/>
            </a:pPr>
            <a:r>
              <a:rPr lang="en-US" sz="2400" b="1" dirty="0">
                <a:solidFill>
                  <a:srgbClr val="404040"/>
                </a:solidFill>
                <a:latin typeface="Times New Roman" panose="02020603050405020304" pitchFamily="18" charset="0"/>
                <a:cs typeface="Times New Roman" panose="02020603050405020304" pitchFamily="18" charset="0"/>
              </a:rPr>
              <a:t>front end</a:t>
            </a:r>
            <a:r>
              <a:rPr lang="en-US" sz="2400" dirty="0">
                <a:solidFill>
                  <a:srgbClr val="404040"/>
                </a:solidFill>
                <a:latin typeface="Times New Roman" panose="02020603050405020304" pitchFamily="18" charset="0"/>
                <a:cs typeface="Times New Roman" panose="02020603050405020304" pitchFamily="18" charset="0"/>
              </a:rPr>
              <a:t>-index to the first element-end at which elements are deleted.</a:t>
            </a:r>
            <a:endParaRPr lang="en-US" sz="2400" dirty="0">
              <a:latin typeface="Times New Roman" panose="02020603050405020304" pitchFamily="18" charset="0"/>
              <a:cs typeface="Times New Roman" panose="02020603050405020304" pitchFamily="18" charset="0"/>
            </a:endParaRPr>
          </a:p>
          <a:p>
            <a:pPr marL="0" indent="0">
              <a:lnSpc>
                <a:spcPct val="150000"/>
              </a:lnSpc>
              <a:spcBef>
                <a:spcPts val="1333"/>
              </a:spcBef>
              <a:buSzPts val="2000"/>
            </a:pPr>
            <a:r>
              <a:rPr lang="en-US" sz="2400" b="1" dirty="0">
                <a:solidFill>
                  <a:srgbClr val="404040"/>
                </a:solidFill>
                <a:latin typeface="Times New Roman" panose="02020603050405020304" pitchFamily="18" charset="0"/>
                <a:cs typeface="Times New Roman" panose="02020603050405020304" pitchFamily="18" charset="0"/>
              </a:rPr>
              <a:t>rear end</a:t>
            </a:r>
            <a:r>
              <a:rPr lang="en-US" sz="2400" dirty="0">
                <a:solidFill>
                  <a:srgbClr val="404040"/>
                </a:solidFill>
                <a:latin typeface="Times New Roman" panose="02020603050405020304" pitchFamily="18" charset="0"/>
                <a:cs typeface="Times New Roman" panose="02020603050405020304" pitchFamily="18" charset="0"/>
              </a:rPr>
              <a:t>-index to the last element-end at which elements are added or inserted.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9898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30;p63">
            <a:extLst>
              <a:ext uri="{FF2B5EF4-FFF2-40B4-BE49-F238E27FC236}">
                <a16:creationId xmlns:a16="http://schemas.microsoft.com/office/drawing/2014/main" id="{9CFAAB77-5993-1663-8664-85977378898A}"/>
              </a:ext>
            </a:extLst>
          </p:cNvPr>
          <p:cNvSpPr txBox="1">
            <a:spLocks/>
          </p:cNvSpPr>
          <p:nvPr/>
        </p:nvSpPr>
        <p:spPr>
          <a:xfrm>
            <a:off x="2913742" y="404283"/>
            <a:ext cx="8069944" cy="492971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pPr>
            <a:r>
              <a:rPr lang="en-US" sz="2400" b="1" dirty="0" err="1">
                <a:solidFill>
                  <a:srgbClr val="404040"/>
                </a:solidFill>
                <a:latin typeface="Times New Roman" panose="02020603050405020304" pitchFamily="18" charset="0"/>
                <a:cs typeface="Times New Roman" panose="02020603050405020304" pitchFamily="18" charset="0"/>
              </a:rPr>
              <a:t>LIFO:</a:t>
            </a:r>
            <a:r>
              <a:rPr lang="en-US" sz="2400" dirty="0" err="1">
                <a:solidFill>
                  <a:srgbClr val="404040"/>
                </a:solidFill>
                <a:latin typeface="Times New Roman" panose="02020603050405020304" pitchFamily="18" charset="0"/>
                <a:cs typeface="Times New Roman" panose="02020603050405020304" pitchFamily="18" charset="0"/>
              </a:rPr>
              <a:t>Last</a:t>
            </a:r>
            <a:r>
              <a:rPr lang="en-US" sz="2400" dirty="0">
                <a:solidFill>
                  <a:srgbClr val="404040"/>
                </a:solidFill>
                <a:latin typeface="Times New Roman" panose="02020603050405020304" pitchFamily="18" charset="0"/>
                <a:cs typeface="Times New Roman" panose="02020603050405020304" pitchFamily="18" charset="0"/>
              </a:rPr>
              <a:t> element Inserted is the First element to be deleted out.</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pPr>
            <a:r>
              <a:rPr lang="en-US" sz="2400" b="1" dirty="0">
                <a:solidFill>
                  <a:srgbClr val="404040"/>
                </a:solidFill>
                <a:latin typeface="Times New Roman" panose="02020603050405020304" pitchFamily="18" charset="0"/>
                <a:cs typeface="Times New Roman" panose="02020603050405020304" pitchFamily="18" charset="0"/>
              </a:rPr>
              <a:t>FIFO: </a:t>
            </a:r>
            <a:r>
              <a:rPr lang="en-US" sz="2400" dirty="0">
                <a:solidFill>
                  <a:srgbClr val="404040"/>
                </a:solidFill>
                <a:latin typeface="Times New Roman" panose="02020603050405020304" pitchFamily="18" charset="0"/>
                <a:cs typeface="Times New Roman" panose="02020603050405020304" pitchFamily="18" charset="0"/>
              </a:rPr>
              <a:t>First element Inserted is the First element to be deleted out.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6088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35;p64">
            <a:extLst>
              <a:ext uri="{FF2B5EF4-FFF2-40B4-BE49-F238E27FC236}">
                <a16:creationId xmlns:a16="http://schemas.microsoft.com/office/drawing/2014/main" id="{D73F9B25-86F6-5479-F840-D0F679EC0AF3}"/>
              </a:ext>
            </a:extLst>
          </p:cNvPr>
          <p:cNvSpPr txBox="1">
            <a:spLocks/>
          </p:cNvSpPr>
          <p:nvPr/>
        </p:nvSpPr>
        <p:spPr>
          <a:xfrm>
            <a:off x="2913742" y="381000"/>
            <a:ext cx="7957457" cy="532311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buSzPts val="2000"/>
            </a:pPr>
            <a:r>
              <a:rPr lang="en-US" sz="2400" dirty="0">
                <a:solidFill>
                  <a:srgbClr val="404040"/>
                </a:solidFill>
                <a:latin typeface="Times New Roman" panose="02020603050405020304" pitchFamily="18" charset="0"/>
                <a:cs typeface="Times New Roman" panose="02020603050405020304" pitchFamily="18" charset="0"/>
              </a:rPr>
              <a:t>Linked List: Could alternately used to store items. In  linked list space to store items is created as is needed  and destroyed when space no longer required to store  items. Hence linked list is a dynamic data structure space acquire only when need.</a:t>
            </a:r>
            <a:endParaRPr lang="en-US" sz="2400" dirty="0">
              <a:latin typeface="Times New Roman" panose="02020603050405020304" pitchFamily="18" charset="0"/>
              <a:cs typeface="Times New Roman" panose="02020603050405020304" pitchFamily="18" charset="0"/>
            </a:endParaRPr>
          </a:p>
          <a:p>
            <a:pPr marL="0" indent="0">
              <a:spcBef>
                <a:spcPts val="1333"/>
              </a:spcBef>
              <a:buClr>
                <a:srgbClr val="353535"/>
              </a:buClr>
              <a:buSzPts val="2000"/>
            </a:pPr>
            <a:endParaRPr lang="en-US" sz="2667" dirty="0">
              <a:solidFill>
                <a:srgbClr val="404040"/>
              </a:solidFill>
            </a:endParaRPr>
          </a:p>
        </p:txBody>
      </p:sp>
      <p:pic>
        <p:nvPicPr>
          <p:cNvPr id="3" name="Google Shape;836;p64">
            <a:extLst>
              <a:ext uri="{FF2B5EF4-FFF2-40B4-BE49-F238E27FC236}">
                <a16:creationId xmlns:a16="http://schemas.microsoft.com/office/drawing/2014/main" id="{95B31D73-3FFE-94A4-BF28-D8A3C5B1D769}"/>
              </a:ext>
            </a:extLst>
          </p:cNvPr>
          <p:cNvPicPr preferRelativeResize="0"/>
          <p:nvPr/>
        </p:nvPicPr>
        <p:blipFill rotWithShape="1">
          <a:blip r:embed="rId4">
            <a:alphaModFix/>
          </a:blip>
          <a:srcRect/>
          <a:stretch/>
        </p:blipFill>
        <p:spPr>
          <a:xfrm>
            <a:off x="3104963" y="2651277"/>
            <a:ext cx="8026400" cy="3155949"/>
          </a:xfrm>
          <a:prstGeom prst="rect">
            <a:avLst/>
          </a:prstGeom>
          <a:noFill/>
          <a:ln>
            <a:noFill/>
          </a:ln>
        </p:spPr>
      </p:pic>
    </p:spTree>
    <p:extLst>
      <p:ext uri="{BB962C8B-B14F-4D97-AF65-F5344CB8AC3E}">
        <p14:creationId xmlns:p14="http://schemas.microsoft.com/office/powerpoint/2010/main" val="1838204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843;p65">
            <a:extLst>
              <a:ext uri="{FF2B5EF4-FFF2-40B4-BE49-F238E27FC236}">
                <a16:creationId xmlns:a16="http://schemas.microsoft.com/office/drawing/2014/main" id="{DE30CC65-FAFD-499D-4664-9DCBEB0364A4}"/>
              </a:ext>
            </a:extLst>
          </p:cNvPr>
          <p:cNvPicPr preferRelativeResize="0"/>
          <p:nvPr/>
        </p:nvPicPr>
        <p:blipFill rotWithShape="1">
          <a:blip r:embed="rId4">
            <a:alphaModFix/>
          </a:blip>
          <a:srcRect/>
          <a:stretch/>
        </p:blipFill>
        <p:spPr>
          <a:xfrm>
            <a:off x="2744519" y="1004477"/>
            <a:ext cx="8391567" cy="2287997"/>
          </a:xfrm>
          <a:prstGeom prst="rect">
            <a:avLst/>
          </a:prstGeom>
          <a:noFill/>
          <a:ln>
            <a:noFill/>
          </a:ln>
        </p:spPr>
      </p:pic>
      <p:pic>
        <p:nvPicPr>
          <p:cNvPr id="3" name="Google Shape;850;p66">
            <a:extLst>
              <a:ext uri="{FF2B5EF4-FFF2-40B4-BE49-F238E27FC236}">
                <a16:creationId xmlns:a16="http://schemas.microsoft.com/office/drawing/2014/main" id="{97F8FAF2-8E8C-F71B-5010-8A6354303679}"/>
              </a:ext>
            </a:extLst>
          </p:cNvPr>
          <p:cNvPicPr preferRelativeResize="0"/>
          <p:nvPr/>
        </p:nvPicPr>
        <p:blipFill rotWithShape="1">
          <a:blip r:embed="rId5">
            <a:alphaModFix/>
          </a:blip>
          <a:srcRect/>
          <a:stretch/>
        </p:blipFill>
        <p:spPr>
          <a:xfrm>
            <a:off x="2908554" y="4269261"/>
            <a:ext cx="8009817" cy="2287997"/>
          </a:xfrm>
          <a:prstGeom prst="rect">
            <a:avLst/>
          </a:prstGeom>
          <a:noFill/>
          <a:ln>
            <a:noFill/>
          </a:ln>
        </p:spPr>
      </p:pic>
    </p:spTree>
    <p:extLst>
      <p:ext uri="{BB962C8B-B14F-4D97-AF65-F5344CB8AC3E}">
        <p14:creationId xmlns:p14="http://schemas.microsoft.com/office/powerpoint/2010/main" val="3186855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56;p67">
            <a:extLst>
              <a:ext uri="{FF2B5EF4-FFF2-40B4-BE49-F238E27FC236}">
                <a16:creationId xmlns:a16="http://schemas.microsoft.com/office/drawing/2014/main" id="{23763E3F-ABA5-4002-3CCD-6963A0607727}"/>
              </a:ext>
            </a:extLst>
          </p:cNvPr>
          <p:cNvSpPr txBox="1">
            <a:spLocks/>
          </p:cNvSpPr>
          <p:nvPr/>
        </p:nvSpPr>
        <p:spPr>
          <a:xfrm>
            <a:off x="2716258" y="674007"/>
            <a:ext cx="4548716" cy="5101167"/>
          </a:xfrm>
          <a:prstGeom prst="rect">
            <a:avLst/>
          </a:prstGeom>
          <a:solidFill>
            <a:srgbClr val="FFC000"/>
          </a:solid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00000"/>
              </a:lnSpc>
              <a:spcBef>
                <a:spcPts val="0"/>
              </a:spcBef>
              <a:buSzPts val="2000"/>
            </a:pPr>
            <a:r>
              <a:rPr lang="en-US" sz="2667" dirty="0">
                <a:solidFill>
                  <a:srgbClr val="404040"/>
                </a:solidFill>
              </a:rPr>
              <a:t>Tree: is a non-linear data </a:t>
            </a:r>
            <a:endParaRPr lang="en-US" dirty="0"/>
          </a:p>
          <a:p>
            <a:pPr marL="0" indent="0" algn="just">
              <a:lnSpc>
                <a:spcPct val="100000"/>
              </a:lnSpc>
              <a:spcBef>
                <a:spcPts val="1333"/>
              </a:spcBef>
              <a:buSzPts val="2000"/>
            </a:pPr>
            <a:r>
              <a:rPr lang="en-US" sz="2667" dirty="0">
                <a:solidFill>
                  <a:srgbClr val="404040"/>
                </a:solidFill>
              </a:rPr>
              <a:t>structure which is </a:t>
            </a:r>
            <a:endParaRPr lang="en-US" dirty="0"/>
          </a:p>
          <a:p>
            <a:pPr marL="0" indent="0" algn="just">
              <a:lnSpc>
                <a:spcPct val="100000"/>
              </a:lnSpc>
              <a:spcBef>
                <a:spcPts val="1333"/>
              </a:spcBef>
              <a:buSzPts val="2000"/>
            </a:pPr>
            <a:r>
              <a:rPr lang="en-US" sz="2667" dirty="0">
                <a:solidFill>
                  <a:srgbClr val="404040"/>
                </a:solidFill>
              </a:rPr>
              <a:t>mainly used to represent </a:t>
            </a:r>
            <a:endParaRPr lang="en-US" dirty="0"/>
          </a:p>
          <a:p>
            <a:pPr marL="0" indent="0" algn="just">
              <a:lnSpc>
                <a:spcPct val="100000"/>
              </a:lnSpc>
              <a:spcBef>
                <a:spcPts val="1333"/>
              </a:spcBef>
              <a:buSzPts val="2000"/>
            </a:pPr>
            <a:r>
              <a:rPr lang="en-US" sz="2667" dirty="0">
                <a:solidFill>
                  <a:srgbClr val="404040"/>
                </a:solidFill>
              </a:rPr>
              <a:t>data containing a </a:t>
            </a:r>
            <a:endParaRPr lang="en-US" dirty="0"/>
          </a:p>
          <a:p>
            <a:pPr marL="0" indent="0" algn="just">
              <a:lnSpc>
                <a:spcPct val="100000"/>
              </a:lnSpc>
              <a:spcBef>
                <a:spcPts val="1333"/>
              </a:spcBef>
              <a:buSzPts val="2000"/>
            </a:pPr>
            <a:r>
              <a:rPr lang="en-US" sz="2667" dirty="0">
                <a:solidFill>
                  <a:srgbClr val="404040"/>
                </a:solidFill>
              </a:rPr>
              <a:t>hierarchical relationship </a:t>
            </a:r>
            <a:endParaRPr lang="en-US" dirty="0"/>
          </a:p>
          <a:p>
            <a:pPr marL="0" indent="0" algn="just">
              <a:lnSpc>
                <a:spcPct val="100000"/>
              </a:lnSpc>
              <a:spcBef>
                <a:spcPts val="1333"/>
              </a:spcBef>
              <a:buSzPts val="2000"/>
            </a:pPr>
            <a:r>
              <a:rPr lang="en-US" sz="2667" dirty="0">
                <a:solidFill>
                  <a:srgbClr val="404040"/>
                </a:solidFill>
              </a:rPr>
              <a:t>between elements. </a:t>
            </a:r>
            <a:endParaRPr lang="en-US" dirty="0"/>
          </a:p>
          <a:p>
            <a:pPr marL="0" indent="0">
              <a:spcBef>
                <a:spcPts val="1333"/>
              </a:spcBef>
              <a:buClr>
                <a:srgbClr val="353535"/>
              </a:buClr>
              <a:buSzPts val="2000"/>
            </a:pPr>
            <a:endParaRPr lang="en-US" sz="2667" dirty="0">
              <a:solidFill>
                <a:srgbClr val="404040"/>
              </a:solidFill>
            </a:endParaRPr>
          </a:p>
        </p:txBody>
      </p:sp>
      <p:sp>
        <p:nvSpPr>
          <p:cNvPr id="3" name="Google Shape;857;p67">
            <a:extLst>
              <a:ext uri="{FF2B5EF4-FFF2-40B4-BE49-F238E27FC236}">
                <a16:creationId xmlns:a16="http://schemas.microsoft.com/office/drawing/2014/main" id="{664625A3-0881-7476-D901-F772D2607A3B}"/>
              </a:ext>
            </a:extLst>
          </p:cNvPr>
          <p:cNvSpPr txBox="1"/>
          <p:nvPr/>
        </p:nvSpPr>
        <p:spPr>
          <a:xfrm>
            <a:off x="7535769" y="898202"/>
            <a:ext cx="3888316" cy="3829648"/>
          </a:xfrm>
          <a:prstGeom prst="rect">
            <a:avLst/>
          </a:prstGeom>
          <a:solidFill>
            <a:srgbClr val="FFC000"/>
          </a:solidFill>
          <a:ln>
            <a:noFill/>
          </a:ln>
        </p:spPr>
        <p:txBody>
          <a:bodyPr spcFirstLastPara="1" wrap="square" lIns="121900" tIns="60933" rIns="121900" bIns="60933" anchor="t" anchorCtr="0">
            <a:spAutoFit/>
          </a:bodyPr>
          <a:lstStyle/>
          <a:p>
            <a:pPr>
              <a:buClr>
                <a:srgbClr val="404040"/>
              </a:buClr>
              <a:buSzPts val="2000"/>
            </a:pPr>
            <a:r>
              <a:rPr lang="en-US" sz="2667" dirty="0">
                <a:solidFill>
                  <a:srgbClr val="404040"/>
                </a:solidFill>
                <a:latin typeface="Calibri"/>
                <a:ea typeface="Calibri"/>
                <a:cs typeface="Calibri"/>
                <a:sym typeface="Calibri"/>
              </a:rPr>
              <a:t>Binary Tree: A binary </a:t>
            </a:r>
            <a:endParaRPr sz="1867" dirty="0"/>
          </a:p>
          <a:p>
            <a:pPr>
              <a:spcBef>
                <a:spcPts val="1333"/>
              </a:spcBef>
              <a:buClr>
                <a:srgbClr val="404040"/>
              </a:buClr>
              <a:buSzPts val="2000"/>
            </a:pPr>
            <a:r>
              <a:rPr lang="en-US" sz="2667" dirty="0">
                <a:solidFill>
                  <a:srgbClr val="404040"/>
                </a:solidFill>
                <a:latin typeface="Calibri"/>
                <a:ea typeface="Calibri"/>
                <a:cs typeface="Calibri"/>
                <a:sym typeface="Calibri"/>
              </a:rPr>
              <a:t>tree is a tree such that </a:t>
            </a:r>
            <a:endParaRPr sz="1867" dirty="0"/>
          </a:p>
          <a:p>
            <a:pPr>
              <a:spcBef>
                <a:spcPts val="1333"/>
              </a:spcBef>
              <a:buClr>
                <a:srgbClr val="404040"/>
              </a:buClr>
              <a:buSzPts val="2000"/>
            </a:pPr>
            <a:r>
              <a:rPr lang="en-US" sz="2400" dirty="0">
                <a:solidFill>
                  <a:srgbClr val="404040"/>
                </a:solidFill>
                <a:latin typeface="Times New Roman" panose="02020603050405020304" pitchFamily="18" charset="0"/>
                <a:ea typeface="Calibri"/>
                <a:cs typeface="Times New Roman" panose="02020603050405020304" pitchFamily="18" charset="0"/>
                <a:sym typeface="Calibri"/>
              </a:rPr>
              <a:t>every</a:t>
            </a:r>
            <a:r>
              <a:rPr lang="en-US" sz="2667" dirty="0">
                <a:solidFill>
                  <a:srgbClr val="404040"/>
                </a:solidFill>
                <a:latin typeface="Calibri"/>
                <a:ea typeface="Calibri"/>
                <a:cs typeface="Calibri"/>
                <a:sym typeface="Calibri"/>
              </a:rPr>
              <a:t> node has at most 2 </a:t>
            </a:r>
            <a:endParaRPr sz="1867" dirty="0"/>
          </a:p>
          <a:p>
            <a:pPr>
              <a:spcBef>
                <a:spcPts val="1333"/>
              </a:spcBef>
              <a:buClr>
                <a:srgbClr val="404040"/>
              </a:buClr>
              <a:buSzPts val="2000"/>
            </a:pPr>
            <a:r>
              <a:rPr lang="en-US" sz="2667" dirty="0">
                <a:solidFill>
                  <a:srgbClr val="404040"/>
                </a:solidFill>
                <a:latin typeface="Calibri"/>
                <a:ea typeface="Calibri"/>
                <a:cs typeface="Calibri"/>
                <a:sym typeface="Calibri"/>
              </a:rPr>
              <a:t>child and each node is </a:t>
            </a:r>
            <a:endParaRPr sz="1867" dirty="0"/>
          </a:p>
          <a:p>
            <a:pPr>
              <a:spcBef>
                <a:spcPts val="1333"/>
              </a:spcBef>
              <a:buClr>
                <a:srgbClr val="404040"/>
              </a:buClr>
              <a:buSzPts val="2000"/>
            </a:pPr>
            <a:r>
              <a:rPr lang="en-US" sz="2667" dirty="0">
                <a:solidFill>
                  <a:srgbClr val="404040"/>
                </a:solidFill>
                <a:latin typeface="Calibri"/>
                <a:ea typeface="Calibri"/>
                <a:cs typeface="Calibri"/>
                <a:sym typeface="Calibri"/>
              </a:rPr>
              <a:t>labeled as either left of </a:t>
            </a:r>
            <a:endParaRPr sz="1867" dirty="0"/>
          </a:p>
          <a:p>
            <a:pPr>
              <a:spcBef>
                <a:spcPts val="1333"/>
              </a:spcBef>
              <a:buClr>
                <a:srgbClr val="404040"/>
              </a:buClr>
              <a:buSzPts val="2000"/>
            </a:pPr>
            <a:r>
              <a:rPr lang="en-US" sz="2667" dirty="0">
                <a:solidFill>
                  <a:srgbClr val="404040"/>
                </a:solidFill>
                <a:latin typeface="Calibri"/>
                <a:ea typeface="Calibri"/>
                <a:cs typeface="Calibri"/>
                <a:sym typeface="Calibri"/>
              </a:rPr>
              <a:t>right child</a:t>
            </a:r>
            <a:endParaRPr sz="1867" dirty="0"/>
          </a:p>
          <a:p>
            <a:endParaRPr sz="2667" dirty="0">
              <a:solidFill>
                <a:srgbClr val="404040"/>
              </a:solidFill>
              <a:latin typeface="Calibri"/>
              <a:ea typeface="Calibri"/>
              <a:cs typeface="Calibri"/>
              <a:sym typeface="Calibri"/>
            </a:endParaRPr>
          </a:p>
        </p:txBody>
      </p:sp>
    </p:spTree>
    <p:extLst>
      <p:ext uri="{BB962C8B-B14F-4D97-AF65-F5344CB8AC3E}">
        <p14:creationId xmlns:p14="http://schemas.microsoft.com/office/powerpoint/2010/main" val="3439745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870;p69">
            <a:extLst>
              <a:ext uri="{FF2B5EF4-FFF2-40B4-BE49-F238E27FC236}">
                <a16:creationId xmlns:a16="http://schemas.microsoft.com/office/drawing/2014/main" id="{63E97350-BF78-0145-6B31-78A6EE916B8F}"/>
              </a:ext>
            </a:extLst>
          </p:cNvPr>
          <p:cNvPicPr preferRelativeResize="0"/>
          <p:nvPr/>
        </p:nvPicPr>
        <p:blipFill rotWithShape="1">
          <a:blip r:embed="rId4">
            <a:alphaModFix/>
          </a:blip>
          <a:srcRect/>
          <a:stretch/>
        </p:blipFill>
        <p:spPr>
          <a:xfrm>
            <a:off x="2826483" y="963083"/>
            <a:ext cx="8353750" cy="4751917"/>
          </a:xfrm>
          <a:prstGeom prst="rect">
            <a:avLst/>
          </a:prstGeom>
          <a:noFill/>
          <a:ln>
            <a:noFill/>
          </a:ln>
        </p:spPr>
      </p:pic>
    </p:spTree>
    <p:extLst>
      <p:ext uri="{BB962C8B-B14F-4D97-AF65-F5344CB8AC3E}">
        <p14:creationId xmlns:p14="http://schemas.microsoft.com/office/powerpoint/2010/main" val="27985547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864;p68" descr="tree">
            <a:extLst>
              <a:ext uri="{FF2B5EF4-FFF2-40B4-BE49-F238E27FC236}">
                <a16:creationId xmlns:a16="http://schemas.microsoft.com/office/drawing/2014/main" id="{3DCE8E3F-E4A9-2444-04F6-B12D7C7C38D0}"/>
              </a:ext>
            </a:extLst>
          </p:cNvPr>
          <p:cNvPicPr preferRelativeResize="0"/>
          <p:nvPr/>
        </p:nvPicPr>
        <p:blipFill rotWithShape="1">
          <a:blip r:embed="rId4">
            <a:alphaModFix/>
          </a:blip>
          <a:srcRect/>
          <a:stretch/>
        </p:blipFill>
        <p:spPr>
          <a:xfrm>
            <a:off x="3200400" y="419101"/>
            <a:ext cx="8077199" cy="4425042"/>
          </a:xfrm>
          <a:prstGeom prst="rect">
            <a:avLst/>
          </a:prstGeom>
          <a:noFill/>
          <a:ln>
            <a:noFill/>
          </a:ln>
        </p:spPr>
      </p:pic>
    </p:spTree>
    <p:extLst>
      <p:ext uri="{BB962C8B-B14F-4D97-AF65-F5344CB8AC3E}">
        <p14:creationId xmlns:p14="http://schemas.microsoft.com/office/powerpoint/2010/main" val="2618544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75;p70">
            <a:extLst>
              <a:ext uri="{FF2B5EF4-FFF2-40B4-BE49-F238E27FC236}">
                <a16:creationId xmlns:a16="http://schemas.microsoft.com/office/drawing/2014/main" id="{F8704ACC-EC1C-3CA5-4215-E5C15FA4C7B0}"/>
              </a:ext>
            </a:extLst>
          </p:cNvPr>
          <p:cNvSpPr txBox="1">
            <a:spLocks/>
          </p:cNvSpPr>
          <p:nvPr/>
        </p:nvSpPr>
        <p:spPr>
          <a:xfrm>
            <a:off x="2826482" y="499533"/>
            <a:ext cx="8044717" cy="5356981"/>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50000"/>
              </a:lnSpc>
              <a:buSzPts val="2400"/>
            </a:pPr>
            <a:r>
              <a:rPr lang="en-US" sz="2400" dirty="0">
                <a:latin typeface="Times New Roman" panose="02020603050405020304" pitchFamily="18" charset="0"/>
                <a:cs typeface="Times New Roman" panose="02020603050405020304" pitchFamily="18" charset="0"/>
              </a:rPr>
              <a:t>Graph: It is a set of items connected by edges. Each item is called a vertex or node. Trees are just like a special kinds of graphs. Graphs are usually represented by G = (V, E), where V is the set vertices and E is the set of Edges.</a:t>
            </a:r>
          </a:p>
        </p:txBody>
      </p:sp>
      <p:pic>
        <p:nvPicPr>
          <p:cNvPr id="3" name="Google Shape;877;p70">
            <a:extLst>
              <a:ext uri="{FF2B5EF4-FFF2-40B4-BE49-F238E27FC236}">
                <a16:creationId xmlns:a16="http://schemas.microsoft.com/office/drawing/2014/main" id="{52738639-E89C-B467-BDDB-E727EEF3C5FE}"/>
              </a:ext>
            </a:extLst>
          </p:cNvPr>
          <p:cNvPicPr preferRelativeResize="0"/>
          <p:nvPr/>
        </p:nvPicPr>
        <p:blipFill rotWithShape="1">
          <a:blip r:embed="rId4">
            <a:alphaModFix/>
          </a:blip>
          <a:srcRect/>
          <a:stretch/>
        </p:blipFill>
        <p:spPr>
          <a:xfrm>
            <a:off x="3086100" y="3177117"/>
            <a:ext cx="6305549" cy="2643716"/>
          </a:xfrm>
          <a:prstGeom prst="rect">
            <a:avLst/>
          </a:prstGeom>
          <a:noFill/>
          <a:ln>
            <a:noFill/>
          </a:ln>
        </p:spPr>
      </p:pic>
    </p:spTree>
    <p:extLst>
      <p:ext uri="{BB962C8B-B14F-4D97-AF65-F5344CB8AC3E}">
        <p14:creationId xmlns:p14="http://schemas.microsoft.com/office/powerpoint/2010/main" val="37978488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82;p71">
            <a:extLst>
              <a:ext uri="{FF2B5EF4-FFF2-40B4-BE49-F238E27FC236}">
                <a16:creationId xmlns:a16="http://schemas.microsoft.com/office/drawing/2014/main" id="{52916FA8-4DCF-D93F-22DF-50E05A85BD57}"/>
              </a:ext>
            </a:extLst>
          </p:cNvPr>
          <p:cNvSpPr txBox="1">
            <a:spLocks/>
          </p:cNvSpPr>
          <p:nvPr/>
        </p:nvSpPr>
        <p:spPr>
          <a:xfrm>
            <a:off x="2498984" y="279400"/>
            <a:ext cx="8372216" cy="546825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50000"/>
              </a:lnSpc>
              <a:spcBef>
                <a:spcPts val="0"/>
              </a:spcBef>
              <a:buSzPts val="2000"/>
            </a:pPr>
            <a:r>
              <a:rPr lang="en-US" sz="2400" dirty="0">
                <a:solidFill>
                  <a:srgbClr val="404040"/>
                </a:solidFill>
                <a:latin typeface="Times New Roman" panose="02020603050405020304" pitchFamily="18" charset="0"/>
                <a:cs typeface="Times New Roman" panose="02020603050405020304" pitchFamily="18" charset="0"/>
              </a:rPr>
              <a:t>Undirected Graph: A graph</a:t>
            </a:r>
            <a:endParaRPr lang="en-US" sz="2400" dirty="0">
              <a:latin typeface="Times New Roman" panose="02020603050405020304" pitchFamily="18" charset="0"/>
              <a:cs typeface="Times New Roman" panose="02020603050405020304" pitchFamily="18" charset="0"/>
            </a:endParaRPr>
          </a:p>
          <a:p>
            <a:pPr marL="0" indent="0" algn="just">
              <a:lnSpc>
                <a:spcPct val="15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whose edges are unordered pair of vertices. That is each edge connects two vertices. In an undirected graph, direction is not important, if the path is available, it can be traversed in any direction.</a:t>
            </a:r>
            <a:endParaRPr lang="en-US" sz="2400" dirty="0">
              <a:latin typeface="Times New Roman" panose="02020603050405020304" pitchFamily="18" charset="0"/>
              <a:cs typeface="Times New Roman" panose="02020603050405020304" pitchFamily="18" charset="0"/>
            </a:endParaRPr>
          </a:p>
        </p:txBody>
      </p:sp>
      <p:pic>
        <p:nvPicPr>
          <p:cNvPr id="3" name="Google Shape;883;p71">
            <a:extLst>
              <a:ext uri="{FF2B5EF4-FFF2-40B4-BE49-F238E27FC236}">
                <a16:creationId xmlns:a16="http://schemas.microsoft.com/office/drawing/2014/main" id="{B93918E3-EF3F-A9C1-C6D7-70267110193F}"/>
              </a:ext>
            </a:extLst>
          </p:cNvPr>
          <p:cNvPicPr preferRelativeResize="0"/>
          <p:nvPr/>
        </p:nvPicPr>
        <p:blipFill rotWithShape="1">
          <a:blip r:embed="rId4">
            <a:alphaModFix/>
          </a:blip>
          <a:srcRect/>
          <a:stretch/>
        </p:blipFill>
        <p:spPr>
          <a:xfrm>
            <a:off x="4811183" y="3403600"/>
            <a:ext cx="3369733" cy="2565400"/>
          </a:xfrm>
          <a:prstGeom prst="rect">
            <a:avLst/>
          </a:prstGeom>
          <a:noFill/>
          <a:ln>
            <a:noFill/>
          </a:ln>
        </p:spPr>
      </p:pic>
    </p:spTree>
    <p:extLst>
      <p:ext uri="{BB962C8B-B14F-4D97-AF65-F5344CB8AC3E}">
        <p14:creationId xmlns:p14="http://schemas.microsoft.com/office/powerpoint/2010/main" val="15471407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88;p72">
            <a:extLst>
              <a:ext uri="{FF2B5EF4-FFF2-40B4-BE49-F238E27FC236}">
                <a16:creationId xmlns:a16="http://schemas.microsoft.com/office/drawing/2014/main" id="{D6AF1F72-ADDC-9620-B0DF-9FDE6F6C663F}"/>
              </a:ext>
            </a:extLst>
          </p:cNvPr>
          <p:cNvSpPr txBox="1">
            <a:spLocks/>
          </p:cNvSpPr>
          <p:nvPr/>
        </p:nvSpPr>
        <p:spPr>
          <a:xfrm>
            <a:off x="2541082" y="584200"/>
            <a:ext cx="8330117" cy="5207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pPr>
            <a:r>
              <a:rPr lang="en-US" sz="2400" dirty="0">
                <a:solidFill>
                  <a:srgbClr val="404040"/>
                </a:solidFill>
                <a:latin typeface="Times New Roman" panose="02020603050405020304" pitchFamily="18" charset="0"/>
                <a:cs typeface="Times New Roman" panose="02020603050405020304" pitchFamily="18" charset="0"/>
              </a:rPr>
              <a:t>Directed Graph: In directed graph a directional edge connect two node/vertex. If there is one edge from one vertex to other then only this path can be followed.</a:t>
            </a:r>
            <a:endParaRPr lang="en-US" sz="2400" dirty="0">
              <a:latin typeface="Times New Roman" panose="02020603050405020304" pitchFamily="18" charset="0"/>
              <a:cs typeface="Times New Roman" panose="02020603050405020304" pitchFamily="18" charset="0"/>
            </a:endParaRPr>
          </a:p>
        </p:txBody>
      </p:sp>
      <p:pic>
        <p:nvPicPr>
          <p:cNvPr id="3" name="Google Shape;889;p72">
            <a:extLst>
              <a:ext uri="{FF2B5EF4-FFF2-40B4-BE49-F238E27FC236}">
                <a16:creationId xmlns:a16="http://schemas.microsoft.com/office/drawing/2014/main" id="{621CDB16-65BA-95CA-5C2E-2E95C6AB8144}"/>
              </a:ext>
            </a:extLst>
          </p:cNvPr>
          <p:cNvPicPr preferRelativeResize="0"/>
          <p:nvPr/>
        </p:nvPicPr>
        <p:blipFill rotWithShape="1">
          <a:blip r:embed="rId4">
            <a:alphaModFix/>
          </a:blip>
          <a:srcRect/>
          <a:stretch/>
        </p:blipFill>
        <p:spPr>
          <a:xfrm>
            <a:off x="2791691" y="3068501"/>
            <a:ext cx="7355416" cy="2372783"/>
          </a:xfrm>
          <a:prstGeom prst="rect">
            <a:avLst/>
          </a:prstGeom>
          <a:noFill/>
          <a:ln>
            <a:noFill/>
          </a:ln>
        </p:spPr>
      </p:pic>
    </p:spTree>
    <p:extLst>
      <p:ext uri="{BB962C8B-B14F-4D97-AF65-F5344CB8AC3E}">
        <p14:creationId xmlns:p14="http://schemas.microsoft.com/office/powerpoint/2010/main" val="3663463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894;p73">
            <a:extLst>
              <a:ext uri="{FF2B5EF4-FFF2-40B4-BE49-F238E27FC236}">
                <a16:creationId xmlns:a16="http://schemas.microsoft.com/office/drawing/2014/main" id="{E8E8C31E-CBF4-9383-2717-FF75FE2BCF6C}"/>
              </a:ext>
            </a:extLst>
          </p:cNvPr>
          <p:cNvSpPr txBox="1">
            <a:spLocks/>
          </p:cNvSpPr>
          <p:nvPr/>
        </p:nvSpPr>
        <p:spPr>
          <a:xfrm>
            <a:off x="2541082" y="177800"/>
            <a:ext cx="8595004" cy="562428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000"/>
            </a:pPr>
            <a:r>
              <a:rPr lang="en-US" sz="2400" dirty="0">
                <a:solidFill>
                  <a:srgbClr val="404040"/>
                </a:solidFill>
                <a:latin typeface="Times New Roman" panose="02020603050405020304" pitchFamily="18" charset="0"/>
                <a:cs typeface="Times New Roman" panose="02020603050405020304" pitchFamily="18" charset="0"/>
              </a:rPr>
              <a:t>Weighted Graph: A graph having a weight, or number </a:t>
            </a:r>
            <a:endParaRPr lang="en-US" sz="2400" dirty="0">
              <a:latin typeface="Times New Roman" panose="02020603050405020304" pitchFamily="18" charset="0"/>
              <a:cs typeface="Times New Roman" panose="02020603050405020304" pitchFamily="18" charset="0"/>
            </a:endParaRPr>
          </a:p>
          <a:p>
            <a:pPr marL="0" indent="0">
              <a:lnSpc>
                <a:spcPct val="100000"/>
              </a:lnSpc>
              <a:spcBef>
                <a:spcPts val="1333"/>
              </a:spcBef>
              <a:buSzPts val="2000"/>
            </a:pPr>
            <a:r>
              <a:rPr lang="en-US" sz="2400" dirty="0">
                <a:solidFill>
                  <a:srgbClr val="404040"/>
                </a:solidFill>
                <a:latin typeface="Times New Roman" panose="02020603050405020304" pitchFamily="18" charset="0"/>
                <a:cs typeface="Times New Roman" panose="02020603050405020304" pitchFamily="18" charset="0"/>
              </a:rPr>
              <a:t>associated with each edge.</a:t>
            </a:r>
            <a:endParaRPr lang="en-US" sz="2400" dirty="0">
              <a:latin typeface="Times New Roman" panose="02020603050405020304" pitchFamily="18" charset="0"/>
              <a:cs typeface="Times New Roman" panose="02020603050405020304" pitchFamily="18" charset="0"/>
            </a:endParaRPr>
          </a:p>
          <a:p>
            <a:pPr marL="0" indent="0">
              <a:spcBef>
                <a:spcPts val="1333"/>
              </a:spcBef>
              <a:buClr>
                <a:srgbClr val="353535"/>
              </a:buClr>
              <a:buSzPts val="2000"/>
            </a:pPr>
            <a:endParaRPr lang="en-US" sz="2667" dirty="0">
              <a:solidFill>
                <a:srgbClr val="404040"/>
              </a:solidFill>
            </a:endParaRPr>
          </a:p>
        </p:txBody>
      </p:sp>
      <p:pic>
        <p:nvPicPr>
          <p:cNvPr id="3" name="Google Shape;895;p73">
            <a:extLst>
              <a:ext uri="{FF2B5EF4-FFF2-40B4-BE49-F238E27FC236}">
                <a16:creationId xmlns:a16="http://schemas.microsoft.com/office/drawing/2014/main" id="{A5832B5C-4C05-6147-BBEE-580A87A63C51}"/>
              </a:ext>
            </a:extLst>
          </p:cNvPr>
          <p:cNvPicPr preferRelativeResize="0"/>
          <p:nvPr/>
        </p:nvPicPr>
        <p:blipFill rotWithShape="1">
          <a:blip r:embed="rId4">
            <a:alphaModFix/>
          </a:blip>
          <a:srcRect/>
          <a:stretch/>
        </p:blipFill>
        <p:spPr>
          <a:xfrm>
            <a:off x="2913743" y="1718734"/>
            <a:ext cx="8387095" cy="3549952"/>
          </a:xfrm>
          <a:prstGeom prst="rect">
            <a:avLst/>
          </a:prstGeom>
          <a:noFill/>
          <a:ln>
            <a:noFill/>
          </a:ln>
        </p:spPr>
      </p:pic>
    </p:spTree>
    <p:extLst>
      <p:ext uri="{BB962C8B-B14F-4D97-AF65-F5344CB8AC3E}">
        <p14:creationId xmlns:p14="http://schemas.microsoft.com/office/powerpoint/2010/main" val="3551812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900;p74">
            <a:extLst>
              <a:ext uri="{FF2B5EF4-FFF2-40B4-BE49-F238E27FC236}">
                <a16:creationId xmlns:a16="http://schemas.microsoft.com/office/drawing/2014/main" id="{2D247514-BD97-CED2-9569-88AA33BC765D}"/>
              </a:ext>
            </a:extLst>
          </p:cNvPr>
          <p:cNvSpPr txBox="1">
            <a:spLocks/>
          </p:cNvSpPr>
          <p:nvPr/>
        </p:nvSpPr>
        <p:spPr>
          <a:xfrm>
            <a:off x="2730863" y="425450"/>
            <a:ext cx="8017570" cy="135980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3600"/>
            </a:pPr>
            <a:r>
              <a:rPr lang="en-US" sz="4800">
                <a:solidFill>
                  <a:srgbClr val="1581AA"/>
                </a:solidFill>
              </a:rPr>
              <a:t>Selecting a Data Structure</a:t>
            </a:r>
            <a:endParaRPr lang="en-US" dirty="0"/>
          </a:p>
        </p:txBody>
      </p:sp>
      <p:sp>
        <p:nvSpPr>
          <p:cNvPr id="3" name="Google Shape;902;p74">
            <a:extLst>
              <a:ext uri="{FF2B5EF4-FFF2-40B4-BE49-F238E27FC236}">
                <a16:creationId xmlns:a16="http://schemas.microsoft.com/office/drawing/2014/main" id="{29DF0971-1B1E-A4C1-D782-E82DACB12069}"/>
              </a:ext>
            </a:extLst>
          </p:cNvPr>
          <p:cNvSpPr txBox="1"/>
          <p:nvPr/>
        </p:nvSpPr>
        <p:spPr>
          <a:xfrm>
            <a:off x="2541083" y="2044701"/>
            <a:ext cx="8552367" cy="2996087"/>
          </a:xfrm>
          <a:prstGeom prst="rect">
            <a:avLst/>
          </a:prstGeom>
          <a:noFill/>
          <a:ln>
            <a:noFill/>
          </a:ln>
        </p:spPr>
        <p:txBody>
          <a:bodyPr spcFirstLastPara="1" wrap="square" lIns="121900" tIns="60933" rIns="121900" bIns="60933" anchor="t" anchorCtr="0">
            <a:spAutoFit/>
          </a:bodyPr>
          <a:lstStyle/>
          <a:p>
            <a:pPr marL="457189" indent="-457189" algn="just">
              <a:buSzPts val="2000"/>
              <a:buFont typeface="Arial"/>
              <a:buChar char="•"/>
            </a:pPr>
            <a:r>
              <a:rPr lang="en-US" sz="2667" dirty="0"/>
              <a:t>Analyze the problem to determine the resource constraints a solution must meet.</a:t>
            </a:r>
            <a:endParaRPr sz="1867" dirty="0"/>
          </a:p>
          <a:p>
            <a:pPr marL="457189" indent="-457189" algn="just">
              <a:buSzPts val="2000"/>
              <a:buFont typeface="Arial"/>
              <a:buChar char="•"/>
            </a:pPr>
            <a:r>
              <a:rPr lang="en-US" sz="2667" dirty="0"/>
              <a:t>Determine the basic operations that must be supported. Quantify the resource constraints for each operation.</a:t>
            </a:r>
            <a:endParaRPr sz="1867" dirty="0"/>
          </a:p>
          <a:p>
            <a:pPr marL="457189" indent="-457189" algn="just">
              <a:buSzPts val="2000"/>
              <a:buFont typeface="Arial"/>
              <a:buChar char="•"/>
            </a:pPr>
            <a:r>
              <a:rPr lang="en-US" sz="2667" dirty="0"/>
              <a:t>Select the data structure that best meets these </a:t>
            </a:r>
            <a:endParaRPr sz="1867" dirty="0"/>
          </a:p>
          <a:p>
            <a:pPr marL="457189" indent="-457189" algn="just">
              <a:buSzPts val="2000"/>
            </a:pPr>
            <a:r>
              <a:rPr lang="en-US" sz="2667" dirty="0"/>
              <a:t>requirements.</a:t>
            </a:r>
            <a:endParaRPr sz="1867" dirty="0"/>
          </a:p>
        </p:txBody>
      </p:sp>
    </p:spTree>
    <p:extLst>
      <p:ext uri="{BB962C8B-B14F-4D97-AF65-F5344CB8AC3E}">
        <p14:creationId xmlns:p14="http://schemas.microsoft.com/office/powerpoint/2010/main" val="1545123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7" name="Table 6">
            <a:extLst>
              <a:ext uri="{FF2B5EF4-FFF2-40B4-BE49-F238E27FC236}">
                <a16:creationId xmlns:a16="http://schemas.microsoft.com/office/drawing/2014/main" id="{9355EB46-0350-A8EC-1D64-B991DC14F080}"/>
              </a:ext>
            </a:extLst>
          </p:cNvPr>
          <p:cNvGraphicFramePr>
            <a:graphicFrameLocks noGrp="1"/>
          </p:cNvGraphicFramePr>
          <p:nvPr>
            <p:extLst>
              <p:ext uri="{D42A27DB-BD31-4B8C-83A1-F6EECF244321}">
                <p14:modId xmlns:p14="http://schemas.microsoft.com/office/powerpoint/2010/main" val="2883982305"/>
              </p:ext>
            </p:extLst>
          </p:nvPr>
        </p:nvGraphicFramePr>
        <p:xfrm>
          <a:off x="2777464" y="979714"/>
          <a:ext cx="8195336" cy="4774111"/>
        </p:xfrm>
        <a:graphic>
          <a:graphicData uri="http://schemas.openxmlformats.org/drawingml/2006/table">
            <a:tbl>
              <a:tblPr>
                <a:tableStyleId>{5C22544A-7EE6-4342-B048-85BDC9FD1C3A}</a:tableStyleId>
              </a:tblPr>
              <a:tblGrid>
                <a:gridCol w="2888224">
                  <a:extLst>
                    <a:ext uri="{9D8B030D-6E8A-4147-A177-3AD203B41FA5}">
                      <a16:colId xmlns:a16="http://schemas.microsoft.com/office/drawing/2014/main" val="4161203120"/>
                    </a:ext>
                  </a:extLst>
                </a:gridCol>
                <a:gridCol w="2653556">
                  <a:extLst>
                    <a:ext uri="{9D8B030D-6E8A-4147-A177-3AD203B41FA5}">
                      <a16:colId xmlns:a16="http://schemas.microsoft.com/office/drawing/2014/main" val="1907555948"/>
                    </a:ext>
                  </a:extLst>
                </a:gridCol>
                <a:gridCol w="2653556">
                  <a:extLst>
                    <a:ext uri="{9D8B030D-6E8A-4147-A177-3AD203B41FA5}">
                      <a16:colId xmlns:a16="http://schemas.microsoft.com/office/drawing/2014/main" val="139149043"/>
                    </a:ext>
                  </a:extLst>
                </a:gridCol>
              </a:tblGrid>
              <a:tr h="855617">
                <a:tc>
                  <a:txBody>
                    <a:bodyPr/>
                    <a:lstStyle/>
                    <a:p>
                      <a:pPr algn="ctr" fontAlgn="ctr"/>
                      <a:r>
                        <a:rPr lang="en-US" sz="1800" u="none" strike="noStrike" dirty="0">
                          <a:effectLst/>
                          <a:latin typeface="Times New Roman" panose="02020603050405020304" pitchFamily="18" charset="0"/>
                          <a:cs typeface="Times New Roman" panose="02020603050405020304" pitchFamily="18" charset="0"/>
                        </a:rPr>
                        <a:t>Factor</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Details</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Examples</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890844745"/>
                  </a:ext>
                </a:extLst>
              </a:tr>
              <a:tr h="855617">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1. Understand the Problem Requirements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3977111258"/>
                  </a:ext>
                </a:extLst>
              </a:tr>
              <a:tr h="855617">
                <a:tc>
                  <a:txBody>
                    <a:bodyPr/>
                    <a:lstStyle/>
                    <a:p>
                      <a:pPr algn="l" fontAlgn="ctr"/>
                      <a:r>
                        <a:rPr lang="en-US" sz="1800" u="none" strike="noStrike">
                          <a:effectLst/>
                          <a:latin typeface="Times New Roman" panose="02020603050405020304" pitchFamily="18" charset="0"/>
                          <a:cs typeface="Times New Roman" panose="02020603050405020304" pitchFamily="18" charset="0"/>
                        </a:rPr>
                        <a:t>Operations</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Identify the operations needed (insertion, deletion, searching, updating, traversing).</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885601853"/>
                  </a:ext>
                </a:extLst>
              </a:tr>
              <a:tr h="855617">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Frequency of Operations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Determine how often each operation will be performed.</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Prioritize a data structure with fast search capabilities if searching is frequent.</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3325252986"/>
                  </a:ext>
                </a:extLst>
              </a:tr>
              <a:tr h="855617">
                <a:tc>
                  <a:txBody>
                    <a:bodyPr/>
                    <a:lstStyle/>
                    <a:p>
                      <a:pPr algn="l" fontAlgn="ctr"/>
                      <a:r>
                        <a:rPr lang="en-US" sz="1800" u="none" strike="noStrike">
                          <a:effectLst/>
                          <a:latin typeface="Times New Roman" panose="02020603050405020304" pitchFamily="18" charset="0"/>
                          <a:cs typeface="Times New Roman" panose="02020603050405020304" pitchFamily="18" charset="0"/>
                        </a:rPr>
                        <a:t>Data Size</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Consider the amount of data to manage.</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Larger datasets may require more efficient data structures like trees or hash tables.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3118006111"/>
                  </a:ext>
                </a:extLst>
              </a:tr>
            </a:tbl>
          </a:graphicData>
        </a:graphic>
      </p:graphicFrame>
    </p:spTree>
    <p:extLst>
      <p:ext uri="{BB962C8B-B14F-4D97-AF65-F5344CB8AC3E}">
        <p14:creationId xmlns:p14="http://schemas.microsoft.com/office/powerpoint/2010/main" val="3635589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419B6C06-02C5-65D0-DA58-1286F7E815B8}"/>
              </a:ext>
            </a:extLst>
          </p:cNvPr>
          <p:cNvGraphicFramePr>
            <a:graphicFrameLocks noGrp="1"/>
          </p:cNvGraphicFramePr>
          <p:nvPr>
            <p:extLst>
              <p:ext uri="{D42A27DB-BD31-4B8C-83A1-F6EECF244321}">
                <p14:modId xmlns:p14="http://schemas.microsoft.com/office/powerpoint/2010/main" val="468319176"/>
              </p:ext>
            </p:extLst>
          </p:nvPr>
        </p:nvGraphicFramePr>
        <p:xfrm>
          <a:off x="2730863" y="1055914"/>
          <a:ext cx="8009044" cy="4288971"/>
        </p:xfrm>
        <a:graphic>
          <a:graphicData uri="http://schemas.openxmlformats.org/drawingml/2006/table">
            <a:tbl>
              <a:tblPr>
                <a:tableStyleId>{5C22544A-7EE6-4342-B048-85BDC9FD1C3A}</a:tableStyleId>
              </a:tblPr>
              <a:tblGrid>
                <a:gridCol w="2822570">
                  <a:extLst>
                    <a:ext uri="{9D8B030D-6E8A-4147-A177-3AD203B41FA5}">
                      <a16:colId xmlns:a16="http://schemas.microsoft.com/office/drawing/2014/main" val="240440385"/>
                    </a:ext>
                  </a:extLst>
                </a:gridCol>
                <a:gridCol w="2593237">
                  <a:extLst>
                    <a:ext uri="{9D8B030D-6E8A-4147-A177-3AD203B41FA5}">
                      <a16:colId xmlns:a16="http://schemas.microsoft.com/office/drawing/2014/main" val="932153764"/>
                    </a:ext>
                  </a:extLst>
                </a:gridCol>
                <a:gridCol w="2593237">
                  <a:extLst>
                    <a:ext uri="{9D8B030D-6E8A-4147-A177-3AD203B41FA5}">
                      <a16:colId xmlns:a16="http://schemas.microsoft.com/office/drawing/2014/main" val="3979893288"/>
                    </a:ext>
                  </a:extLst>
                </a:gridCol>
              </a:tblGrid>
              <a:tr h="1429657">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2. Consider the Type of Data</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333734363"/>
                  </a:ext>
                </a:extLst>
              </a:tr>
              <a:tr h="1429657">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Homogeneous vs. Heterogeneous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If all elements are of the same type, simpler structures like arrays may suffice.</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For mixed data types, more complex structures like trees or graphs may be needed.</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247768230"/>
                  </a:ext>
                </a:extLst>
              </a:tr>
              <a:tr h="1429657">
                <a:tc>
                  <a:txBody>
                    <a:bodyPr/>
                    <a:lstStyle/>
                    <a:p>
                      <a:pPr algn="l" fontAlgn="ctr"/>
                      <a:r>
                        <a:rPr lang="en-US" sz="1800" u="none" strike="noStrike">
                          <a:effectLst/>
                          <a:latin typeface="Times New Roman" panose="02020603050405020304" pitchFamily="18" charset="0"/>
                          <a:cs typeface="Times New Roman" panose="02020603050405020304" pitchFamily="18" charset="0"/>
                        </a:rPr>
                        <a:t>Fixed Size vs. Dynamic Size</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Choose an array for fixed-size data; use linked lists or dynamic arrays for dynamic size.</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Arrays (fixed), Linked Lists/Dynamic Arrays (dynamic).</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4072866709"/>
                  </a:ext>
                </a:extLst>
              </a:tr>
            </a:tbl>
          </a:graphicData>
        </a:graphic>
      </p:graphicFrame>
    </p:spTree>
    <p:extLst>
      <p:ext uri="{BB962C8B-B14F-4D97-AF65-F5344CB8AC3E}">
        <p14:creationId xmlns:p14="http://schemas.microsoft.com/office/powerpoint/2010/main" val="562783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F91A9519-8D63-C83C-C766-1344BB4122A7}"/>
              </a:ext>
            </a:extLst>
          </p:cNvPr>
          <p:cNvGraphicFramePr>
            <a:graphicFrameLocks noGrp="1"/>
          </p:cNvGraphicFramePr>
          <p:nvPr>
            <p:extLst>
              <p:ext uri="{D42A27DB-BD31-4B8C-83A1-F6EECF244321}">
                <p14:modId xmlns:p14="http://schemas.microsoft.com/office/powerpoint/2010/main" val="3481355616"/>
              </p:ext>
            </p:extLst>
          </p:nvPr>
        </p:nvGraphicFramePr>
        <p:xfrm>
          <a:off x="2826483" y="511629"/>
          <a:ext cx="8390942" cy="4440417"/>
        </p:xfrm>
        <a:graphic>
          <a:graphicData uri="http://schemas.openxmlformats.org/drawingml/2006/table">
            <a:tbl>
              <a:tblPr>
                <a:tableStyleId>{5C22544A-7EE6-4342-B048-85BDC9FD1C3A}</a:tableStyleId>
              </a:tblPr>
              <a:tblGrid>
                <a:gridCol w="2957160">
                  <a:extLst>
                    <a:ext uri="{9D8B030D-6E8A-4147-A177-3AD203B41FA5}">
                      <a16:colId xmlns:a16="http://schemas.microsoft.com/office/drawing/2014/main" val="1695641779"/>
                    </a:ext>
                  </a:extLst>
                </a:gridCol>
                <a:gridCol w="2716891">
                  <a:extLst>
                    <a:ext uri="{9D8B030D-6E8A-4147-A177-3AD203B41FA5}">
                      <a16:colId xmlns:a16="http://schemas.microsoft.com/office/drawing/2014/main" val="319739748"/>
                    </a:ext>
                  </a:extLst>
                </a:gridCol>
                <a:gridCol w="2716891">
                  <a:extLst>
                    <a:ext uri="{9D8B030D-6E8A-4147-A177-3AD203B41FA5}">
                      <a16:colId xmlns:a16="http://schemas.microsoft.com/office/drawing/2014/main" val="849530454"/>
                    </a:ext>
                  </a:extLst>
                </a:gridCol>
              </a:tblGrid>
              <a:tr h="1480139">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3. Performance Considerations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541821543"/>
                  </a:ext>
                </a:extLst>
              </a:tr>
              <a:tr h="1480139">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Time Complexity</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Analyze time complexity of operations: O(1), O(log n), O(n).</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Arrays (O(1) access), Linked Lists (O(1) insertion), Hash Tables (O(1) average).</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424219476"/>
                  </a:ext>
                </a:extLst>
              </a:tr>
              <a:tr h="1480139">
                <a:tc>
                  <a:txBody>
                    <a:bodyPr/>
                    <a:lstStyle/>
                    <a:p>
                      <a:pPr algn="l" fontAlgn="ctr"/>
                      <a:r>
                        <a:rPr lang="en-US" sz="1800" u="none" strike="noStrike">
                          <a:effectLst/>
                          <a:latin typeface="Times New Roman" panose="02020603050405020304" pitchFamily="18" charset="0"/>
                          <a:cs typeface="Times New Roman" panose="02020603050405020304" pitchFamily="18" charset="0"/>
                        </a:rPr>
                        <a:t>Space Complexity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Consider memory requirements.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Hash Tables and Trees can be memory-intensive.</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452169473"/>
                  </a:ext>
                </a:extLst>
              </a:tr>
            </a:tbl>
          </a:graphicData>
        </a:graphic>
      </p:graphicFrame>
    </p:spTree>
    <p:extLst>
      <p:ext uri="{BB962C8B-B14F-4D97-AF65-F5344CB8AC3E}">
        <p14:creationId xmlns:p14="http://schemas.microsoft.com/office/powerpoint/2010/main" val="21566293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41A7C64B-59D1-B483-69CE-BC503EDA39F4}"/>
              </a:ext>
            </a:extLst>
          </p:cNvPr>
          <p:cNvGraphicFramePr>
            <a:graphicFrameLocks noGrp="1"/>
          </p:cNvGraphicFramePr>
          <p:nvPr>
            <p:extLst>
              <p:ext uri="{D42A27DB-BD31-4B8C-83A1-F6EECF244321}">
                <p14:modId xmlns:p14="http://schemas.microsoft.com/office/powerpoint/2010/main" val="2305332743"/>
              </p:ext>
            </p:extLst>
          </p:nvPr>
        </p:nvGraphicFramePr>
        <p:xfrm>
          <a:off x="2826483" y="1360714"/>
          <a:ext cx="8244287" cy="4672580"/>
        </p:xfrm>
        <a:graphic>
          <a:graphicData uri="http://schemas.openxmlformats.org/drawingml/2006/table">
            <a:tbl>
              <a:tblPr>
                <a:tableStyleId>{5C22544A-7EE6-4342-B048-85BDC9FD1C3A}</a:tableStyleId>
              </a:tblPr>
              <a:tblGrid>
                <a:gridCol w="2905475">
                  <a:extLst>
                    <a:ext uri="{9D8B030D-6E8A-4147-A177-3AD203B41FA5}">
                      <a16:colId xmlns:a16="http://schemas.microsoft.com/office/drawing/2014/main" val="1506929708"/>
                    </a:ext>
                  </a:extLst>
                </a:gridCol>
                <a:gridCol w="2669406">
                  <a:extLst>
                    <a:ext uri="{9D8B030D-6E8A-4147-A177-3AD203B41FA5}">
                      <a16:colId xmlns:a16="http://schemas.microsoft.com/office/drawing/2014/main" val="3637838762"/>
                    </a:ext>
                  </a:extLst>
                </a:gridCol>
                <a:gridCol w="2669406">
                  <a:extLst>
                    <a:ext uri="{9D8B030D-6E8A-4147-A177-3AD203B41FA5}">
                      <a16:colId xmlns:a16="http://schemas.microsoft.com/office/drawing/2014/main" val="1649953820"/>
                    </a:ext>
                  </a:extLst>
                </a:gridCol>
              </a:tblGrid>
              <a:tr h="934516">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4. Specific Use Cases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924238684"/>
                  </a:ext>
                </a:extLst>
              </a:tr>
              <a:tr h="934516">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Stack Operations (LIFO)</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Use stacks for Last-In, First-Out operations.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Function calls, parsing expressions.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3807662428"/>
                  </a:ext>
                </a:extLst>
              </a:tr>
              <a:tr h="934516">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Queue Operations (FIFO)</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Use queues for First-In, First-Out operations.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Task scheduling, handling requests.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514904513"/>
                  </a:ext>
                </a:extLst>
              </a:tr>
              <a:tr h="934516">
                <a:tc>
                  <a:txBody>
                    <a:bodyPr/>
                    <a:lstStyle/>
                    <a:p>
                      <a:pPr algn="l" fontAlgn="ctr"/>
                      <a:r>
                        <a:rPr lang="en-US" sz="1800" u="none" strike="noStrike">
                          <a:effectLst/>
                          <a:latin typeface="Times New Roman" panose="02020603050405020304" pitchFamily="18" charset="0"/>
                          <a:cs typeface="Times New Roman" panose="02020603050405020304" pitchFamily="18" charset="0"/>
                        </a:rPr>
                        <a:t>Hierarchical Data</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Use trees for hierarchical structures.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File systems, organizational charts.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155438570"/>
                  </a:ext>
                </a:extLst>
              </a:tr>
              <a:tr h="934516">
                <a:tc>
                  <a:txBody>
                    <a:bodyPr/>
                    <a:lstStyle/>
                    <a:p>
                      <a:pPr algn="l" fontAlgn="ctr"/>
                      <a:r>
                        <a:rPr lang="en-US" sz="1800" u="none" strike="noStrike">
                          <a:effectLst/>
                          <a:latin typeface="Times New Roman" panose="02020603050405020304" pitchFamily="18" charset="0"/>
                          <a:cs typeface="Times New Roman" panose="02020603050405020304" pitchFamily="18" charset="0"/>
                        </a:rPr>
                        <a:t>Graph Data</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Use graphs for representing networks or relationships.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Social networks, web links, road maps.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4284483084"/>
                  </a:ext>
                </a:extLst>
              </a:tr>
            </a:tbl>
          </a:graphicData>
        </a:graphic>
      </p:graphicFrame>
    </p:spTree>
    <p:extLst>
      <p:ext uri="{BB962C8B-B14F-4D97-AF65-F5344CB8AC3E}">
        <p14:creationId xmlns:p14="http://schemas.microsoft.com/office/powerpoint/2010/main" val="2444552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E88570BC-2E43-C712-0209-2D2A80A99ABC}"/>
              </a:ext>
            </a:extLst>
          </p:cNvPr>
          <p:cNvGraphicFramePr>
            <a:graphicFrameLocks noGrp="1"/>
          </p:cNvGraphicFramePr>
          <p:nvPr>
            <p:extLst>
              <p:ext uri="{D42A27DB-BD31-4B8C-83A1-F6EECF244321}">
                <p14:modId xmlns:p14="http://schemas.microsoft.com/office/powerpoint/2010/main" val="3711920404"/>
              </p:ext>
            </p:extLst>
          </p:nvPr>
        </p:nvGraphicFramePr>
        <p:xfrm>
          <a:off x="2826483" y="1034143"/>
          <a:ext cx="8200745" cy="4186350"/>
        </p:xfrm>
        <a:graphic>
          <a:graphicData uri="http://schemas.openxmlformats.org/drawingml/2006/table">
            <a:tbl>
              <a:tblPr>
                <a:tableStyleId>{5C22544A-7EE6-4342-B048-85BDC9FD1C3A}</a:tableStyleId>
              </a:tblPr>
              <a:tblGrid>
                <a:gridCol w="2890131">
                  <a:extLst>
                    <a:ext uri="{9D8B030D-6E8A-4147-A177-3AD203B41FA5}">
                      <a16:colId xmlns:a16="http://schemas.microsoft.com/office/drawing/2014/main" val="3681035163"/>
                    </a:ext>
                  </a:extLst>
                </a:gridCol>
                <a:gridCol w="2655307">
                  <a:extLst>
                    <a:ext uri="{9D8B030D-6E8A-4147-A177-3AD203B41FA5}">
                      <a16:colId xmlns:a16="http://schemas.microsoft.com/office/drawing/2014/main" val="3854461106"/>
                    </a:ext>
                  </a:extLst>
                </a:gridCol>
                <a:gridCol w="2655307">
                  <a:extLst>
                    <a:ext uri="{9D8B030D-6E8A-4147-A177-3AD203B41FA5}">
                      <a16:colId xmlns:a16="http://schemas.microsoft.com/office/drawing/2014/main" val="3113328739"/>
                    </a:ext>
                  </a:extLst>
                </a:gridCol>
              </a:tblGrid>
              <a:tr h="1395450">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6. Scalability</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3410641940"/>
                  </a:ext>
                </a:extLst>
              </a:tr>
              <a:tr h="1395450">
                <a:tc>
                  <a:txBody>
                    <a:bodyPr/>
                    <a:lstStyle/>
                    <a:p>
                      <a:pPr algn="l" fontAlgn="ctr"/>
                      <a:r>
                        <a:rPr lang="en-US" sz="1800" u="none" strike="noStrike">
                          <a:effectLst/>
                          <a:latin typeface="Times New Roman" panose="02020603050405020304" pitchFamily="18" charset="0"/>
                          <a:cs typeface="Times New Roman" panose="02020603050405020304" pitchFamily="18" charset="0"/>
                        </a:rPr>
                        <a:t>Handling Large Data Sets</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Select data structures that scale well with large datasets.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B-trees, Hash Tables (commonly used in databases).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694956044"/>
                  </a:ext>
                </a:extLst>
              </a:tr>
              <a:tr h="1395450">
                <a:tc>
                  <a:txBody>
                    <a:bodyPr/>
                    <a:lstStyle/>
                    <a:p>
                      <a:pPr algn="l" fontAlgn="ctr"/>
                      <a:r>
                        <a:rPr lang="en-US" sz="1800" u="none" strike="noStrike">
                          <a:effectLst/>
                          <a:latin typeface="Times New Roman" panose="02020603050405020304" pitchFamily="18" charset="0"/>
                          <a:cs typeface="Times New Roman" panose="02020603050405020304" pitchFamily="18" charset="0"/>
                        </a:rPr>
                        <a:t>Concurrency</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Consider data structures that support concurrent access.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Concurrent Hash Maps for multi-threaded environments.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333967768"/>
                  </a:ext>
                </a:extLst>
              </a:tr>
            </a:tbl>
          </a:graphicData>
        </a:graphic>
      </p:graphicFrame>
    </p:spTree>
    <p:extLst>
      <p:ext uri="{BB962C8B-B14F-4D97-AF65-F5344CB8AC3E}">
        <p14:creationId xmlns:p14="http://schemas.microsoft.com/office/powerpoint/2010/main" val="15920723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Table 1">
            <a:extLst>
              <a:ext uri="{FF2B5EF4-FFF2-40B4-BE49-F238E27FC236}">
                <a16:creationId xmlns:a16="http://schemas.microsoft.com/office/drawing/2014/main" id="{1937E850-8C4C-99E0-C033-D9EE9279F42A}"/>
              </a:ext>
            </a:extLst>
          </p:cNvPr>
          <p:cNvGraphicFramePr>
            <a:graphicFrameLocks noGrp="1"/>
          </p:cNvGraphicFramePr>
          <p:nvPr>
            <p:extLst>
              <p:ext uri="{D42A27DB-BD31-4B8C-83A1-F6EECF244321}">
                <p14:modId xmlns:p14="http://schemas.microsoft.com/office/powerpoint/2010/main" val="2402271880"/>
              </p:ext>
            </p:extLst>
          </p:nvPr>
        </p:nvGraphicFramePr>
        <p:xfrm>
          <a:off x="2913743" y="1254125"/>
          <a:ext cx="8387095" cy="4558144"/>
        </p:xfrm>
        <a:graphic>
          <a:graphicData uri="http://schemas.openxmlformats.org/drawingml/2006/table">
            <a:tbl>
              <a:tblPr>
                <a:tableStyleId>{5C22544A-7EE6-4342-B048-85BDC9FD1C3A}</a:tableStyleId>
              </a:tblPr>
              <a:tblGrid>
                <a:gridCol w="2955805">
                  <a:extLst>
                    <a:ext uri="{9D8B030D-6E8A-4147-A177-3AD203B41FA5}">
                      <a16:colId xmlns:a16="http://schemas.microsoft.com/office/drawing/2014/main" val="4070685500"/>
                    </a:ext>
                  </a:extLst>
                </a:gridCol>
                <a:gridCol w="2715645">
                  <a:extLst>
                    <a:ext uri="{9D8B030D-6E8A-4147-A177-3AD203B41FA5}">
                      <a16:colId xmlns:a16="http://schemas.microsoft.com/office/drawing/2014/main" val="3441494971"/>
                    </a:ext>
                  </a:extLst>
                </a:gridCol>
                <a:gridCol w="2715645">
                  <a:extLst>
                    <a:ext uri="{9D8B030D-6E8A-4147-A177-3AD203B41FA5}">
                      <a16:colId xmlns:a16="http://schemas.microsoft.com/office/drawing/2014/main" val="173699709"/>
                    </a:ext>
                  </a:extLst>
                </a:gridCol>
              </a:tblGrid>
              <a:tr h="725223">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7. Real-World Examples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 </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extLst>
                  <a:ext uri="{0D108BD9-81ED-4DB2-BD59-A6C34878D82A}">
                    <a16:rowId xmlns:a16="http://schemas.microsoft.com/office/drawing/2014/main" val="800912180"/>
                  </a:ext>
                </a:extLst>
              </a:tr>
              <a:tr h="725223">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Arrays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Best for simple data storage with quick index-based access.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Array of integers, list of fixed-size elements.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extLst>
                  <a:ext uri="{0D108BD9-81ED-4DB2-BD59-A6C34878D82A}">
                    <a16:rowId xmlns:a16="http://schemas.microsoft.com/office/drawing/2014/main" val="2386115488"/>
                  </a:ext>
                </a:extLst>
              </a:tr>
              <a:tr h="725223">
                <a:tc>
                  <a:txBody>
                    <a:bodyPr/>
                    <a:lstStyle/>
                    <a:p>
                      <a:pPr algn="l" fontAlgn="ctr"/>
                      <a:r>
                        <a:rPr lang="en-US" sz="1800" u="none" strike="noStrike">
                          <a:effectLst/>
                          <a:latin typeface="Times New Roman" panose="02020603050405020304" pitchFamily="18" charset="0"/>
                          <a:cs typeface="Times New Roman" panose="02020603050405020304" pitchFamily="18" charset="0"/>
                        </a:rPr>
                        <a:t>Linked Lists</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Suitable for dynamic data with frequent insertion/deletion.</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Dynamic collections, navigational systems.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extLst>
                  <a:ext uri="{0D108BD9-81ED-4DB2-BD59-A6C34878D82A}">
                    <a16:rowId xmlns:a16="http://schemas.microsoft.com/office/drawing/2014/main" val="2821128426"/>
                  </a:ext>
                </a:extLst>
              </a:tr>
              <a:tr h="725223">
                <a:tc>
                  <a:txBody>
                    <a:bodyPr/>
                    <a:lstStyle/>
                    <a:p>
                      <a:pPr algn="l" fontAlgn="ctr"/>
                      <a:r>
                        <a:rPr lang="en-US" sz="1800" u="none" strike="noStrike">
                          <a:effectLst/>
                          <a:latin typeface="Times New Roman" panose="02020603050405020304" pitchFamily="18" charset="0"/>
                          <a:cs typeface="Times New Roman" panose="02020603050405020304" pitchFamily="18" charset="0"/>
                        </a:rPr>
                        <a:t>Hash Tables</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Ideal for quick search, insert, and delete operations.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Caches, associative arrays.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extLst>
                  <a:ext uri="{0D108BD9-81ED-4DB2-BD59-A6C34878D82A}">
                    <a16:rowId xmlns:a16="http://schemas.microsoft.com/office/drawing/2014/main" val="1654701546"/>
                  </a:ext>
                </a:extLst>
              </a:tr>
              <a:tr h="725223">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Trees</a:t>
                      </a:r>
                      <a:endParaRPr lang="en-US" sz="18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Useful for sorted data or hierarchical relationships.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Database indexes, file systems.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extLst>
                  <a:ext uri="{0D108BD9-81ED-4DB2-BD59-A6C34878D82A}">
                    <a16:rowId xmlns:a16="http://schemas.microsoft.com/office/drawing/2014/main" val="3992706153"/>
                  </a:ext>
                </a:extLst>
              </a:tr>
              <a:tr h="725223">
                <a:tc>
                  <a:txBody>
                    <a:bodyPr/>
                    <a:lstStyle/>
                    <a:p>
                      <a:pPr algn="l" fontAlgn="ctr"/>
                      <a:r>
                        <a:rPr lang="en-US" sz="1800" u="none" strike="noStrike">
                          <a:effectLst/>
                          <a:latin typeface="Times New Roman" panose="02020603050405020304" pitchFamily="18" charset="0"/>
                          <a:cs typeface="Times New Roman" panose="02020603050405020304" pitchFamily="18" charset="0"/>
                        </a:rPr>
                        <a:t>Graphs</a:t>
                      </a:r>
                      <a:endParaRPr lang="en-US" sz="1800" b="1"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Perfect for modeling relationships and networks.</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Social networks, transport networks.</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666" marR="5666" marT="5666" marB="0" anchor="ctr"/>
                </a:tc>
                <a:extLst>
                  <a:ext uri="{0D108BD9-81ED-4DB2-BD59-A6C34878D82A}">
                    <a16:rowId xmlns:a16="http://schemas.microsoft.com/office/drawing/2014/main" val="941448514"/>
                  </a:ext>
                </a:extLst>
              </a:tr>
            </a:tbl>
          </a:graphicData>
        </a:graphic>
      </p:graphicFrame>
    </p:spTree>
    <p:extLst>
      <p:ext uri="{BB962C8B-B14F-4D97-AF65-F5344CB8AC3E}">
        <p14:creationId xmlns:p14="http://schemas.microsoft.com/office/powerpoint/2010/main" val="13173753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593;p127">
            <a:extLst>
              <a:ext uri="{FF2B5EF4-FFF2-40B4-BE49-F238E27FC236}">
                <a16:creationId xmlns:a16="http://schemas.microsoft.com/office/drawing/2014/main" id="{2C89F324-0720-320C-C06B-DEF733D6EA2B}"/>
              </a:ext>
            </a:extLst>
          </p:cNvPr>
          <p:cNvSpPr txBox="1">
            <a:spLocks/>
          </p:cNvSpPr>
          <p:nvPr/>
        </p:nvSpPr>
        <p:spPr>
          <a:xfrm>
            <a:off x="2460068" y="874594"/>
            <a:ext cx="8840770" cy="52322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2400"/>
              <a:buFont typeface="Arial"/>
              <a:buNone/>
            </a:pPr>
            <a:r>
              <a:rPr lang="en-US" dirty="0">
                <a:solidFill>
                  <a:srgbClr val="0070C0"/>
                </a:solidFill>
                <a:latin typeface="Times New Roman" panose="02020603050405020304" pitchFamily="18" charset="0"/>
                <a:cs typeface="Times New Roman" panose="02020603050405020304" pitchFamily="18" charset="0"/>
              </a:rPr>
              <a:t>Memory Allocation</a:t>
            </a:r>
          </a:p>
          <a:p>
            <a:pPr marL="0" indent="0">
              <a:lnSpc>
                <a:spcPct val="100000"/>
              </a:lnSpc>
              <a:buFont typeface="Arial"/>
              <a:buNone/>
            </a:pPr>
            <a:r>
              <a:rPr lang="en-US" dirty="0">
                <a:solidFill>
                  <a:srgbClr val="404040"/>
                </a:solidFill>
                <a:latin typeface="Times New Roman" panose="02020603050405020304" pitchFamily="18" charset="0"/>
                <a:cs typeface="Times New Roman" panose="02020603050405020304" pitchFamily="18" charset="0"/>
              </a:rPr>
              <a:t> </a:t>
            </a:r>
            <a:r>
              <a:rPr lang="en-US" dirty="0">
                <a:solidFill>
                  <a:schemeClr val="accent2"/>
                </a:solidFill>
                <a:latin typeface="Times New Roman" panose="02020603050405020304" pitchFamily="18" charset="0"/>
                <a:cs typeface="Times New Roman" panose="02020603050405020304" pitchFamily="18" charset="0"/>
              </a:rPr>
              <a:t>Static Memory Allocation</a:t>
            </a:r>
          </a:p>
          <a:p>
            <a:pPr marL="0" indent="-114300" algn="just">
              <a:lnSpc>
                <a:spcPct val="100000"/>
              </a:lnSpc>
              <a:buClr>
                <a:srgbClr val="353535"/>
              </a:buClr>
            </a:pPr>
            <a:r>
              <a:rPr lang="en-US" sz="2000" dirty="0">
                <a:solidFill>
                  <a:srgbClr val="404040"/>
                </a:solidFill>
                <a:latin typeface="Times New Roman" panose="02020603050405020304" pitchFamily="18" charset="0"/>
                <a:cs typeface="Times New Roman" panose="02020603050405020304" pitchFamily="18" charset="0"/>
              </a:rPr>
              <a:t>It is a process where in the memory space is allocated during the compilation time. </a:t>
            </a:r>
            <a:endParaRPr lang="en-US" sz="2000" dirty="0">
              <a:latin typeface="Times New Roman" panose="02020603050405020304" pitchFamily="18" charset="0"/>
              <a:cs typeface="Times New Roman" panose="02020603050405020304" pitchFamily="18" charset="0"/>
            </a:endParaRPr>
          </a:p>
          <a:p>
            <a:pPr marL="0" indent="-114300" algn="just">
              <a:lnSpc>
                <a:spcPct val="100000"/>
              </a:lnSpc>
              <a:buClr>
                <a:srgbClr val="353535"/>
              </a:buClr>
            </a:pPr>
            <a:r>
              <a:rPr lang="en-US" sz="2000" dirty="0">
                <a:solidFill>
                  <a:srgbClr val="404040"/>
                </a:solidFill>
                <a:latin typeface="Times New Roman" panose="02020603050405020304" pitchFamily="18" charset="0"/>
                <a:cs typeface="Times New Roman" panose="02020603050405020304" pitchFamily="18" charset="0"/>
              </a:rPr>
              <a:t>Here the allocated memory space cannot be expanded or reduced to accommodate more or less data, i.e. the size of the allocated memory space is fixed and it cannot be altered during execution.</a:t>
            </a:r>
          </a:p>
          <a:p>
            <a:pPr marL="0" lvl="0" indent="0" algn="l" rtl="0">
              <a:lnSpc>
                <a:spcPct val="100000"/>
              </a:lnSpc>
              <a:spcBef>
                <a:spcPts val="0"/>
              </a:spcBef>
              <a:spcAft>
                <a:spcPts val="0"/>
              </a:spcAft>
              <a:buSzPts val="1800"/>
              <a:buNone/>
            </a:pPr>
            <a:r>
              <a:rPr lang="en-US" sz="2000" b="0" i="0" u="none" dirty="0">
                <a:solidFill>
                  <a:srgbClr val="404040"/>
                </a:solidFill>
                <a:latin typeface="Times New Roman" panose="02020603050405020304" pitchFamily="18" charset="0"/>
                <a:cs typeface="Times New Roman" panose="02020603050405020304" pitchFamily="18" charset="0"/>
                <a:sym typeface="Calibri"/>
              </a:rPr>
              <a:t>EX: Consider the declaration 		int a[10];</a:t>
            </a:r>
            <a:endParaRPr lang="en-US" sz="20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endParaRPr lang="en-US" sz="2000" b="0" i="0" u="none" dirty="0">
              <a:solidFill>
                <a:srgbClr val="404040"/>
              </a:solidFill>
              <a:latin typeface="Times New Roman" panose="02020603050405020304" pitchFamily="18" charset="0"/>
              <a:cs typeface="Times New Roman" panose="02020603050405020304" pitchFamily="18" charset="0"/>
              <a:sym typeface="Calibri"/>
            </a:endParaRPr>
          </a:p>
          <a:p>
            <a:pPr marL="0" lvl="0" indent="0" algn="just" rtl="0">
              <a:lnSpc>
                <a:spcPct val="140000"/>
              </a:lnSpc>
              <a:spcBef>
                <a:spcPts val="1000"/>
              </a:spcBef>
              <a:spcAft>
                <a:spcPts val="0"/>
              </a:spcAft>
              <a:buSzPts val="1800"/>
              <a:buNone/>
            </a:pPr>
            <a:r>
              <a:rPr lang="en-US" sz="2000" b="0" i="0" u="none" dirty="0">
                <a:solidFill>
                  <a:srgbClr val="404040"/>
                </a:solidFill>
                <a:latin typeface="Times New Roman" panose="02020603050405020304" pitchFamily="18" charset="0"/>
                <a:cs typeface="Times New Roman" panose="02020603050405020304" pitchFamily="18" charset="0"/>
                <a:sym typeface="Calibri"/>
              </a:rPr>
              <a:t>During compilation, the compiler will allocate 10 memory locations for the variable ‘a’ and once defined cannot be changed. </a:t>
            </a:r>
            <a:endParaRPr lang="en-US" sz="2000" dirty="0">
              <a:latin typeface="Times New Roman" panose="02020603050405020304" pitchFamily="18" charset="0"/>
              <a:cs typeface="Times New Roman" panose="02020603050405020304" pitchFamily="18" charset="0"/>
            </a:endParaRPr>
          </a:p>
          <a:p>
            <a:pPr marL="0" lvl="0" indent="0" algn="just" rtl="0">
              <a:lnSpc>
                <a:spcPct val="140000"/>
              </a:lnSpc>
              <a:spcBef>
                <a:spcPts val="1000"/>
              </a:spcBef>
              <a:spcAft>
                <a:spcPts val="0"/>
              </a:spcAft>
              <a:buSzPts val="1800"/>
              <a:buNone/>
            </a:pPr>
            <a:r>
              <a:rPr lang="en-US" sz="2000" b="0" i="0" u="none" dirty="0">
                <a:solidFill>
                  <a:srgbClr val="404040"/>
                </a:solidFill>
                <a:latin typeface="Times New Roman" panose="02020603050405020304" pitchFamily="18" charset="0"/>
                <a:cs typeface="Times New Roman" panose="02020603050405020304" pitchFamily="18" charset="0"/>
                <a:sym typeface="Calibri"/>
              </a:rPr>
              <a:t>During execution we cannot have more than 10 data items, and if we use 3 locations, another 7 locations are wasted.</a:t>
            </a:r>
            <a:endParaRPr lang="en-US" sz="2000" dirty="0">
              <a:latin typeface="Times New Roman" panose="02020603050405020304" pitchFamily="18" charset="0"/>
              <a:cs typeface="Times New Roman" panose="02020603050405020304" pitchFamily="18" charset="0"/>
            </a:endParaRPr>
          </a:p>
          <a:p>
            <a:pPr marL="0" indent="-114300" algn="just">
              <a:lnSpc>
                <a:spcPct val="100000"/>
              </a:lnSpc>
              <a:buClr>
                <a:srgbClr val="353535"/>
              </a:buClr>
            </a:pPr>
            <a:endParaRPr lang="en-US" dirty="0"/>
          </a:p>
        </p:txBody>
      </p:sp>
    </p:spTree>
    <p:extLst>
      <p:ext uri="{BB962C8B-B14F-4D97-AF65-F5344CB8AC3E}">
        <p14:creationId xmlns:p14="http://schemas.microsoft.com/office/powerpoint/2010/main" val="16088455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C93038B0-CFD5-0E6C-861B-8263930F96F3}"/>
              </a:ext>
            </a:extLst>
          </p:cNvPr>
          <p:cNvSpPr txBox="1"/>
          <p:nvPr/>
        </p:nvSpPr>
        <p:spPr>
          <a:xfrm>
            <a:off x="2498984" y="976532"/>
            <a:ext cx="8593970" cy="4298613"/>
          </a:xfrm>
          <a:prstGeom prst="rect">
            <a:avLst/>
          </a:prstGeom>
          <a:noFill/>
        </p:spPr>
        <p:txBody>
          <a:bodyPr wrap="square">
            <a:spAutoFit/>
          </a:bodyPr>
          <a:lstStyle/>
          <a:p>
            <a:pPr marL="0" lvl="0" indent="0" algn="l" rtl="0">
              <a:lnSpc>
                <a:spcPct val="100000"/>
              </a:lnSpc>
              <a:spcBef>
                <a:spcPts val="0"/>
              </a:spcBef>
              <a:spcAft>
                <a:spcPts val="0"/>
              </a:spcAft>
              <a:buSzPts val="1800"/>
              <a:buNone/>
            </a:pPr>
            <a:r>
              <a:rPr lang="en-US" sz="2400" b="0" i="0" u="none" dirty="0">
                <a:solidFill>
                  <a:srgbClr val="C00000"/>
                </a:solidFill>
                <a:latin typeface="Times New Roman" panose="02020603050405020304" pitchFamily="18" charset="0"/>
                <a:ea typeface="Calibri"/>
                <a:cs typeface="Times New Roman" panose="02020603050405020304" pitchFamily="18" charset="0"/>
                <a:sym typeface="Calibri"/>
              </a:rPr>
              <a:t>Disadvantages:</a:t>
            </a:r>
            <a:endParaRPr lang="en-US" sz="2400" dirty="0">
              <a:latin typeface="Times New Roman" panose="02020603050405020304" pitchFamily="18" charset="0"/>
              <a:cs typeface="Times New Roman" panose="02020603050405020304" pitchFamily="18" charset="0"/>
            </a:endParaRPr>
          </a:p>
          <a:p>
            <a:pPr marL="0" lvl="0" indent="-114300" algn="just" rtl="0">
              <a:lnSpc>
                <a:spcPct val="100000"/>
              </a:lnSpc>
              <a:spcBef>
                <a:spcPts val="1000"/>
              </a:spcBef>
              <a:spcAft>
                <a:spcPts val="0"/>
              </a:spcAft>
              <a:buClr>
                <a:srgbClr val="353535"/>
              </a:buClr>
              <a:buSzPts val="1800"/>
              <a:buChar char="•"/>
            </a:pPr>
            <a:r>
              <a:rPr lang="en-US" sz="2400" b="0" i="0" u="none" dirty="0">
                <a:solidFill>
                  <a:srgbClr val="404040"/>
                </a:solidFill>
                <a:latin typeface="Times New Roman" panose="02020603050405020304" pitchFamily="18" charset="0"/>
                <a:ea typeface="Calibri"/>
                <a:cs typeface="Times New Roman" panose="02020603050405020304" pitchFamily="18" charset="0"/>
                <a:sym typeface="Calibri"/>
              </a:rPr>
              <a:t>In this type of memory allocation, the data structures require a fixed amount of storage. Since the amount of storage is fixed,</a:t>
            </a:r>
            <a:endParaRPr lang="en-US" sz="2400" dirty="0">
              <a:latin typeface="Times New Roman" panose="02020603050405020304" pitchFamily="18" charset="0"/>
              <a:cs typeface="Times New Roman" panose="02020603050405020304" pitchFamily="18" charset="0"/>
            </a:endParaRPr>
          </a:p>
          <a:p>
            <a:pPr marL="0" lvl="0" indent="-114300" algn="just" rtl="0">
              <a:lnSpc>
                <a:spcPct val="100000"/>
              </a:lnSpc>
              <a:spcBef>
                <a:spcPts val="1000"/>
              </a:spcBef>
              <a:spcAft>
                <a:spcPts val="0"/>
              </a:spcAft>
              <a:buClr>
                <a:srgbClr val="353535"/>
              </a:buClr>
              <a:buSzPts val="1800"/>
              <a:buChar char="•"/>
            </a:pPr>
            <a:r>
              <a:rPr lang="en-US" sz="2400" b="0" i="0" u="none" dirty="0">
                <a:solidFill>
                  <a:srgbClr val="404040"/>
                </a:solidFill>
                <a:latin typeface="Times New Roman" panose="02020603050405020304" pitchFamily="18" charset="0"/>
                <a:ea typeface="Calibri"/>
                <a:cs typeface="Times New Roman" panose="02020603050405020304" pitchFamily="18" charset="0"/>
                <a:sym typeface="Calibri"/>
              </a:rPr>
              <a:t>If the data structure in use, uses only a small amount of memory, rest of the memory is wasted.</a:t>
            </a:r>
            <a:endParaRPr lang="en-US" sz="2400" dirty="0">
              <a:latin typeface="Times New Roman" panose="02020603050405020304" pitchFamily="18" charset="0"/>
              <a:cs typeface="Times New Roman" panose="02020603050405020304" pitchFamily="18" charset="0"/>
            </a:endParaRPr>
          </a:p>
          <a:p>
            <a:pPr marL="0" lvl="0" indent="-114300" algn="just" rtl="0">
              <a:lnSpc>
                <a:spcPct val="100000"/>
              </a:lnSpc>
              <a:spcBef>
                <a:spcPts val="1000"/>
              </a:spcBef>
              <a:spcAft>
                <a:spcPts val="0"/>
              </a:spcAft>
              <a:buClr>
                <a:srgbClr val="353535"/>
              </a:buClr>
              <a:buSzPts val="1800"/>
              <a:buChar char="•"/>
            </a:pPr>
            <a:r>
              <a:rPr lang="en-US" sz="2400" b="0" i="0" u="none" dirty="0">
                <a:solidFill>
                  <a:srgbClr val="404040"/>
                </a:solidFill>
                <a:latin typeface="Times New Roman" panose="02020603050405020304" pitchFamily="18" charset="0"/>
                <a:ea typeface="Calibri"/>
                <a:cs typeface="Times New Roman" panose="02020603050405020304" pitchFamily="18" charset="0"/>
                <a:sym typeface="Calibri"/>
              </a:rPr>
              <a:t>If the data structure in use, tries to use more memory than actually allocated for it results in an overflow.</a:t>
            </a:r>
            <a:endParaRPr lang="en-US" sz="2400" dirty="0">
              <a:latin typeface="Times New Roman" panose="02020603050405020304" pitchFamily="18" charset="0"/>
              <a:cs typeface="Times New Roman" panose="02020603050405020304" pitchFamily="18" charset="0"/>
            </a:endParaRPr>
          </a:p>
          <a:p>
            <a:pPr marL="0" lvl="0" indent="-114300" algn="just" rtl="0">
              <a:lnSpc>
                <a:spcPct val="100000"/>
              </a:lnSpc>
              <a:spcBef>
                <a:spcPts val="1000"/>
              </a:spcBef>
              <a:spcAft>
                <a:spcPts val="0"/>
              </a:spcAft>
              <a:buClr>
                <a:srgbClr val="353535"/>
              </a:buClr>
              <a:buSzPts val="1800"/>
              <a:buChar char="•"/>
            </a:pPr>
            <a:r>
              <a:rPr lang="en-US" sz="2400" b="0" i="0" u="none" dirty="0">
                <a:solidFill>
                  <a:srgbClr val="404040"/>
                </a:solidFill>
                <a:latin typeface="Times New Roman" panose="02020603050405020304" pitchFamily="18" charset="0"/>
                <a:ea typeface="Calibri"/>
                <a:cs typeface="Times New Roman" panose="02020603050405020304" pitchFamily="18" charset="0"/>
                <a:sym typeface="Calibri"/>
              </a:rPr>
              <a:t>Because of these limitations, this type of memory allocation can be used in applications where the data size is fixed and known before processing</a:t>
            </a: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51834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08;p130">
            <a:extLst>
              <a:ext uri="{FF2B5EF4-FFF2-40B4-BE49-F238E27FC236}">
                <a16:creationId xmlns:a16="http://schemas.microsoft.com/office/drawing/2014/main" id="{4E25D4C7-E6EC-75FB-6731-C289BC84FC26}"/>
              </a:ext>
            </a:extLst>
          </p:cNvPr>
          <p:cNvSpPr txBox="1">
            <a:spLocks/>
          </p:cNvSpPr>
          <p:nvPr/>
        </p:nvSpPr>
        <p:spPr>
          <a:xfrm>
            <a:off x="2716257" y="565604"/>
            <a:ext cx="8501169" cy="46268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dirty="0">
                <a:solidFill>
                  <a:schemeClr val="accent2"/>
                </a:solidFill>
                <a:latin typeface="Times New Roman" panose="02020603050405020304" pitchFamily="18" charset="0"/>
                <a:cs typeface="Times New Roman" panose="02020603050405020304" pitchFamily="18" charset="0"/>
              </a:rPr>
              <a:t>Dynamic Memory Allocation</a:t>
            </a:r>
          </a:p>
          <a:p>
            <a:pPr marL="0" indent="0" algn="just">
              <a:lnSpc>
                <a:spcPct val="17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It is the process of allocating </a:t>
            </a:r>
            <a:r>
              <a:rPr lang="en-US" sz="2400" dirty="0">
                <a:solidFill>
                  <a:schemeClr val="tx1"/>
                </a:solidFill>
                <a:latin typeface="Times New Roman" panose="02020603050405020304" pitchFamily="18" charset="0"/>
                <a:cs typeface="Times New Roman" panose="02020603050405020304" pitchFamily="18" charset="0"/>
              </a:rPr>
              <a:t>memory space </a:t>
            </a:r>
            <a:r>
              <a:rPr lang="en-US" sz="2400" dirty="0">
                <a:solidFill>
                  <a:srgbClr val="404040"/>
                </a:solidFill>
                <a:latin typeface="Times New Roman" panose="02020603050405020304" pitchFamily="18" charset="0"/>
                <a:cs typeface="Times New Roman" panose="02020603050405020304" pitchFamily="18" charset="0"/>
              </a:rPr>
              <a:t>during run time. This type of memory allocation can be used in applications where the storage requirement is unpredictable.</a:t>
            </a:r>
            <a:endParaRPr lang="en-US" sz="2400" dirty="0">
              <a:latin typeface="Times New Roman" panose="02020603050405020304" pitchFamily="18" charset="0"/>
              <a:cs typeface="Times New Roman" panose="02020603050405020304" pitchFamily="18" charset="0"/>
            </a:endParaRPr>
          </a:p>
          <a:p>
            <a:pPr marL="0" indent="0" algn="just">
              <a:lnSpc>
                <a:spcPct val="170000"/>
              </a:lnSpc>
              <a:buFont typeface="Arial"/>
              <a:buNone/>
            </a:pPr>
            <a:r>
              <a:rPr lang="en-US" sz="2400" dirty="0">
                <a:solidFill>
                  <a:srgbClr val="404040"/>
                </a:solidFill>
                <a:latin typeface="Times New Roman" panose="02020603050405020304" pitchFamily="18" charset="0"/>
                <a:cs typeface="Times New Roman" panose="02020603050405020304" pitchFamily="18" charset="0"/>
              </a:rPr>
              <a:t>The following are the functions using which additional memory space can be allocated or unwanted space can be deleted, thereby optimizing the use of storage space.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6723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13;p131">
            <a:extLst>
              <a:ext uri="{FF2B5EF4-FFF2-40B4-BE49-F238E27FC236}">
                <a16:creationId xmlns:a16="http://schemas.microsoft.com/office/drawing/2014/main" id="{F879CECE-B664-C31A-501B-BB9E1465EF2F}"/>
              </a:ext>
            </a:extLst>
          </p:cNvPr>
          <p:cNvSpPr txBox="1">
            <a:spLocks/>
          </p:cNvSpPr>
          <p:nvPr/>
        </p:nvSpPr>
        <p:spPr>
          <a:xfrm>
            <a:off x="2794226" y="462188"/>
            <a:ext cx="7471003" cy="4413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1600"/>
            </a:pPr>
            <a:r>
              <a:rPr lang="en-US" sz="2400" dirty="0">
                <a:solidFill>
                  <a:srgbClr val="1581AA"/>
                </a:solidFill>
                <a:latin typeface="Times New Roman" panose="02020603050405020304" pitchFamily="18" charset="0"/>
                <a:cs typeface="Times New Roman" panose="02020603050405020304" pitchFamily="18" charset="0"/>
              </a:rPr>
              <a:t>Comparison of Static and Dynamic Memory Allocation</a:t>
            </a:r>
            <a:endParaRPr lang="en-US" sz="2400" dirty="0">
              <a:latin typeface="Times New Roman" panose="02020603050405020304" pitchFamily="18" charset="0"/>
              <a:cs typeface="Times New Roman" panose="02020603050405020304" pitchFamily="18" charset="0"/>
            </a:endParaRPr>
          </a:p>
        </p:txBody>
      </p:sp>
      <p:graphicFrame>
        <p:nvGraphicFramePr>
          <p:cNvPr id="3" name="Google Shape;1614;p131">
            <a:extLst>
              <a:ext uri="{FF2B5EF4-FFF2-40B4-BE49-F238E27FC236}">
                <a16:creationId xmlns:a16="http://schemas.microsoft.com/office/drawing/2014/main" id="{C11795CD-BC0E-EB3D-F271-C1A57CB8F559}"/>
              </a:ext>
            </a:extLst>
          </p:cNvPr>
          <p:cNvGraphicFramePr/>
          <p:nvPr>
            <p:extLst>
              <p:ext uri="{D42A27DB-BD31-4B8C-83A1-F6EECF244321}">
                <p14:modId xmlns:p14="http://schemas.microsoft.com/office/powerpoint/2010/main" val="406993743"/>
              </p:ext>
            </p:extLst>
          </p:nvPr>
        </p:nvGraphicFramePr>
        <p:xfrm>
          <a:off x="2730863" y="1393217"/>
          <a:ext cx="8569976" cy="5043436"/>
        </p:xfrm>
        <a:graphic>
          <a:graphicData uri="http://schemas.openxmlformats.org/drawingml/2006/table">
            <a:tbl>
              <a:tblPr>
                <a:noFill/>
              </a:tblPr>
              <a:tblGrid>
                <a:gridCol w="741680">
                  <a:extLst>
                    <a:ext uri="{9D8B030D-6E8A-4147-A177-3AD203B41FA5}">
                      <a16:colId xmlns:a16="http://schemas.microsoft.com/office/drawing/2014/main" val="20000"/>
                    </a:ext>
                  </a:extLst>
                </a:gridCol>
                <a:gridCol w="3920913">
                  <a:extLst>
                    <a:ext uri="{9D8B030D-6E8A-4147-A177-3AD203B41FA5}">
                      <a16:colId xmlns:a16="http://schemas.microsoft.com/office/drawing/2014/main" val="20001"/>
                    </a:ext>
                  </a:extLst>
                </a:gridCol>
                <a:gridCol w="3907383">
                  <a:extLst>
                    <a:ext uri="{9D8B030D-6E8A-4147-A177-3AD203B41FA5}">
                      <a16:colId xmlns:a16="http://schemas.microsoft.com/office/drawing/2014/main" val="20002"/>
                    </a:ext>
                  </a:extLst>
                </a:gridCol>
              </a:tblGrid>
              <a:tr h="773515">
                <a:tc>
                  <a:txBody>
                    <a:bodyPr/>
                    <a:lstStyle/>
                    <a:p>
                      <a:pPr marL="0" marR="0" lvl="0" indent="0" algn="l" rtl="0">
                        <a:lnSpc>
                          <a:spcPct val="100000"/>
                        </a:lnSpc>
                        <a:spcBef>
                          <a:spcPts val="0"/>
                        </a:spcBef>
                        <a:spcAft>
                          <a:spcPts val="0"/>
                        </a:spcAft>
                        <a:buClr>
                          <a:srgbClr val="FFFFFF"/>
                        </a:buClr>
                        <a:buSzPts val="1400"/>
                        <a:buFont typeface="Arial"/>
                        <a:buNone/>
                      </a:pPr>
                      <a:r>
                        <a:rPr lang="en-US" sz="1400" b="1" i="0" u="none" strike="noStrike" cap="none" dirty="0" err="1">
                          <a:solidFill>
                            <a:srgbClr val="FFFFFF"/>
                          </a:solidFill>
                          <a:latin typeface="Arial"/>
                          <a:ea typeface="Arial"/>
                          <a:cs typeface="Arial"/>
                          <a:sym typeface="Arial"/>
                        </a:rPr>
                        <a:t>Sl.No</a:t>
                      </a:r>
                      <a:endParaRPr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FFFFFF"/>
                        </a:buClr>
                        <a:buSzPts val="1400"/>
                        <a:buFont typeface="Arial"/>
                        <a:buNone/>
                      </a:pPr>
                      <a:r>
                        <a:rPr lang="en-US" sz="1800" b="1" i="0" u="none" strike="noStrike" cap="none" dirty="0">
                          <a:solidFill>
                            <a:srgbClr val="FFFFFF"/>
                          </a:solidFill>
                          <a:latin typeface="Times New Roman" panose="02020603050405020304" pitchFamily="18" charset="0"/>
                          <a:ea typeface="Arial"/>
                          <a:cs typeface="Times New Roman" panose="02020603050405020304" pitchFamily="18" charset="0"/>
                          <a:sym typeface="Arial"/>
                        </a:rPr>
                        <a:t>Static Memory Allocation</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FFFFFF"/>
                        </a:buClr>
                        <a:buSzPts val="1400"/>
                        <a:buFont typeface="Arial"/>
                        <a:buNone/>
                      </a:pPr>
                      <a:r>
                        <a:rPr lang="en-US" sz="1800" b="1" i="0" u="none" strike="noStrike" cap="none">
                          <a:solidFill>
                            <a:srgbClr val="FFFFFF"/>
                          </a:solidFill>
                          <a:latin typeface="Times New Roman" panose="02020603050405020304" pitchFamily="18" charset="0"/>
                          <a:ea typeface="Arial"/>
                          <a:cs typeface="Times New Roman" panose="02020603050405020304" pitchFamily="18" charset="0"/>
                          <a:sym typeface="Arial"/>
                        </a:rPr>
                        <a:t>Dynamic Memory Allocation</a:t>
                      </a:r>
                      <a:endParaRPr sz="180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606667">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Memory is allocated during compilation time.</a:t>
                      </a:r>
                      <a:endParaRPr sz="1800" dirty="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Memory is allocated during run time.</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1"/>
                  </a:ext>
                </a:extLst>
              </a:tr>
              <a:tr h="819948">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2</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The size of the allocated memory space is fixed and it cannot be altered during execution.</a:t>
                      </a:r>
                      <a:endParaRPr sz="1800" dirty="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The size of the allocated memory space is not fixed and it can be altered (increased / decreased) during execution.</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2"/>
                  </a:ext>
                </a:extLst>
              </a:tr>
              <a:tr h="819948">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3</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This type of memory allocation can be used in applications where the data size is fixed and known before processing.</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This type of memory allocation can be used in applications where the storage requirement is unpredictable.</a:t>
                      </a:r>
                      <a:endParaRPr sz="1800" dirty="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3"/>
                  </a:ext>
                </a:extLst>
              </a:tr>
              <a:tr h="597187">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4</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Execution is faster because memory is already allocated and only data manipulation is done.</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Execution is slower because memory is has to be allocated and only then data manipulation is done.</a:t>
                      </a:r>
                      <a:endParaRPr sz="1800" dirty="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4"/>
                  </a:ext>
                </a:extLst>
              </a:tr>
              <a:tr h="597187">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5</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Part of memory allocated is stack memory or global/static memory.</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Part of memory allocated is heap memory</a:t>
                      </a:r>
                      <a:endParaRPr sz="1800" dirty="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5"/>
                  </a:ext>
                </a:extLst>
              </a:tr>
              <a:tr h="597187">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6</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Ex: arrays</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Ex: Dynamic arrays, linked lists</a:t>
                      </a:r>
                      <a:endParaRPr sz="1800" dirty="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26586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F943E9A0-DF0E-E7EB-B244-12CEA9A52F7C}"/>
              </a:ext>
            </a:extLst>
          </p:cNvPr>
          <p:cNvSpPr txBox="1"/>
          <p:nvPr/>
        </p:nvSpPr>
        <p:spPr>
          <a:xfrm>
            <a:off x="2580514" y="1040347"/>
            <a:ext cx="8720324" cy="4190891"/>
          </a:xfrm>
          <a:prstGeom prst="rect">
            <a:avLst/>
          </a:prstGeom>
          <a:noFill/>
        </p:spPr>
        <p:txBody>
          <a:bodyPr wrap="square">
            <a:spAutoFit/>
          </a:bodyPr>
          <a:lstStyle/>
          <a:p>
            <a:pPr marL="0" lvl="0" indent="0" algn="l" rtl="0">
              <a:lnSpc>
                <a:spcPct val="100000"/>
              </a:lnSpc>
              <a:spcBef>
                <a:spcPts val="0"/>
              </a:spcBef>
              <a:spcAft>
                <a:spcPts val="0"/>
              </a:spcAft>
              <a:buSzPts val="1800"/>
              <a:buNone/>
            </a:pPr>
            <a:r>
              <a:rPr lang="en-US" sz="2800" b="0" i="0" u="none" dirty="0">
                <a:solidFill>
                  <a:schemeClr val="accent2"/>
                </a:solidFill>
                <a:latin typeface="Times New Roman" panose="02020603050405020304" pitchFamily="18" charset="0"/>
                <a:ea typeface="Calibri"/>
                <a:cs typeface="Times New Roman" panose="02020603050405020304" pitchFamily="18" charset="0"/>
                <a:sym typeface="Calibri"/>
              </a:rPr>
              <a:t>1.malloc</a:t>
            </a:r>
            <a:endParaRPr lang="en-US" sz="2800" dirty="0">
              <a:solidFill>
                <a:schemeClr val="accent2"/>
              </a:solidFill>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Description: This function allocates and reserves a block of memory, specified in bytes and returns a pointer to the first byte of the allocated space.</a:t>
            </a:r>
            <a:endParaRPr lang="en-US" sz="20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Syntax:</a:t>
            </a:r>
            <a:endParaRPr lang="en-US" sz="20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r>
              <a:rPr lang="en-US" sz="2000" b="0" i="0" u="none" dirty="0" err="1">
                <a:solidFill>
                  <a:srgbClr val="404040"/>
                </a:solidFill>
                <a:latin typeface="Times New Roman" panose="02020603050405020304" pitchFamily="18" charset="0"/>
                <a:ea typeface="Calibri"/>
                <a:cs typeface="Times New Roman" panose="02020603050405020304" pitchFamily="18" charset="0"/>
                <a:sym typeface="Calibri"/>
              </a:rPr>
              <a:t>ptr</a:t>
            </a: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 = (datatype *) malloc (size);</a:t>
            </a:r>
            <a:endParaRPr lang="en-US" sz="20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Where	- </a:t>
            </a:r>
            <a:r>
              <a:rPr lang="en-US" sz="2000" b="0" i="0" u="none" dirty="0" err="1">
                <a:solidFill>
                  <a:srgbClr val="404040"/>
                </a:solidFill>
                <a:latin typeface="Times New Roman" panose="02020603050405020304" pitchFamily="18" charset="0"/>
                <a:ea typeface="Calibri"/>
                <a:cs typeface="Times New Roman" panose="02020603050405020304" pitchFamily="18" charset="0"/>
                <a:sym typeface="Calibri"/>
              </a:rPr>
              <a:t>ptr</a:t>
            </a: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 is a pointer of type datatype</a:t>
            </a:r>
            <a:endParaRPr lang="en-US" sz="20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		- datatype can be any of the basic data type or user defined data type.</a:t>
            </a:r>
            <a:endParaRPr lang="en-US" sz="20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		- size is the number of bytes required.</a:t>
            </a:r>
            <a:endParaRPr lang="en-US" sz="2000" dirty="0">
              <a:latin typeface="Times New Roman" panose="02020603050405020304" pitchFamily="18" charset="0"/>
              <a:cs typeface="Times New Roman" panose="02020603050405020304" pitchFamily="18" charset="0"/>
            </a:endParaRPr>
          </a:p>
          <a:p>
            <a:pPr marL="0" lvl="0" indent="0" algn="l" rtl="0">
              <a:lnSpc>
                <a:spcPct val="100000"/>
              </a:lnSpc>
              <a:spcBef>
                <a:spcPts val="1000"/>
              </a:spcBef>
              <a:spcAft>
                <a:spcPts val="0"/>
              </a:spcAft>
              <a:buSzPts val="1800"/>
              <a:buNone/>
            </a:pP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Example:	</a:t>
            </a:r>
            <a:r>
              <a:rPr lang="en-US" sz="2000" b="0" i="0" u="none" dirty="0" err="1">
                <a:solidFill>
                  <a:srgbClr val="404040"/>
                </a:solidFill>
                <a:latin typeface="Times New Roman" panose="02020603050405020304" pitchFamily="18" charset="0"/>
                <a:ea typeface="Calibri"/>
                <a:cs typeface="Times New Roman" panose="02020603050405020304" pitchFamily="18" charset="0"/>
                <a:sym typeface="Calibri"/>
              </a:rPr>
              <a:t>ptr</a:t>
            </a: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 = ( int * ) malloc ( </a:t>
            </a:r>
            <a:r>
              <a:rPr lang="en-US" sz="2000" b="0" i="0" u="none" dirty="0" err="1">
                <a:solidFill>
                  <a:srgbClr val="404040"/>
                </a:solidFill>
                <a:latin typeface="Times New Roman" panose="02020603050405020304" pitchFamily="18" charset="0"/>
                <a:ea typeface="Calibri"/>
                <a:cs typeface="Times New Roman" panose="02020603050405020304" pitchFamily="18" charset="0"/>
                <a:sym typeface="Calibri"/>
              </a:rPr>
              <a:t>sizeof</a:t>
            </a:r>
            <a:r>
              <a:rPr lang="en-US" sz="2000" b="0" i="0" u="none" dirty="0">
                <a:solidFill>
                  <a:srgbClr val="404040"/>
                </a:solidFill>
                <a:latin typeface="Times New Roman" panose="02020603050405020304" pitchFamily="18" charset="0"/>
                <a:ea typeface="Calibri"/>
                <a:cs typeface="Times New Roman" panose="02020603050405020304" pitchFamily="18" charset="0"/>
                <a:sym typeface="Calibri"/>
              </a:rPr>
              <a:t> ( int )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68510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24;p133">
            <a:extLst>
              <a:ext uri="{FF2B5EF4-FFF2-40B4-BE49-F238E27FC236}">
                <a16:creationId xmlns:a16="http://schemas.microsoft.com/office/drawing/2014/main" id="{CDE66483-B62E-0020-6E42-E3E67FECCC6C}"/>
              </a:ext>
            </a:extLst>
          </p:cNvPr>
          <p:cNvSpPr txBox="1">
            <a:spLocks/>
          </p:cNvSpPr>
          <p:nvPr/>
        </p:nvSpPr>
        <p:spPr>
          <a:xfrm>
            <a:off x="2777464" y="612094"/>
            <a:ext cx="7464425" cy="41576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80000"/>
              </a:lnSpc>
              <a:spcBef>
                <a:spcPts val="0"/>
              </a:spcBef>
              <a:buFont typeface="Arial"/>
              <a:buNone/>
            </a:pPr>
            <a:r>
              <a:rPr lang="en-US" sz="2000" dirty="0">
                <a:solidFill>
                  <a:srgbClr val="404040"/>
                </a:solidFill>
                <a:latin typeface="Times New Roman" panose="02020603050405020304" pitchFamily="18" charset="0"/>
                <a:cs typeface="Times New Roman" panose="02020603050405020304" pitchFamily="18" charset="0"/>
              </a:rPr>
              <a:t>On successful execution of this statement, a memory space equivalent to size of int is reserved and the address of the first byte of the memory allocated is assigned to the pointer </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of type int.</a:t>
            </a:r>
            <a:endParaRPr lang="en-US" sz="2000" dirty="0">
              <a:latin typeface="Times New Roman" panose="02020603050405020304" pitchFamily="18" charset="0"/>
              <a:cs typeface="Times New Roman" panose="02020603050405020304" pitchFamily="18" charset="0"/>
            </a:endParaRPr>
          </a:p>
          <a:p>
            <a:pPr marL="0" indent="0" algn="just">
              <a:lnSpc>
                <a:spcPct val="18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Return Value – On success, it returns a pointer of type void to the newly allocated block of memory. On failure i.e. if the specified size of memory is not available, it returns NULL.</a:t>
            </a:r>
            <a:endParaRPr lang="en-US" sz="2000" dirty="0">
              <a:latin typeface="Times New Roman" panose="02020603050405020304" pitchFamily="18" charset="0"/>
              <a:cs typeface="Times New Roman" panose="02020603050405020304" pitchFamily="18" charset="0"/>
            </a:endParaRPr>
          </a:p>
        </p:txBody>
      </p:sp>
      <p:pic>
        <p:nvPicPr>
          <p:cNvPr id="3" name="Google Shape;1631;p134">
            <a:extLst>
              <a:ext uri="{FF2B5EF4-FFF2-40B4-BE49-F238E27FC236}">
                <a16:creationId xmlns:a16="http://schemas.microsoft.com/office/drawing/2014/main" id="{97C7FB66-AEE5-EAE6-D486-7AA26591D4B9}"/>
              </a:ext>
            </a:extLst>
          </p:cNvPr>
          <p:cNvPicPr preferRelativeResize="0"/>
          <p:nvPr/>
        </p:nvPicPr>
        <p:blipFill rotWithShape="1">
          <a:blip r:embed="rId4">
            <a:alphaModFix/>
          </a:blip>
          <a:srcRect/>
          <a:stretch/>
        </p:blipFill>
        <p:spPr>
          <a:xfrm>
            <a:off x="2777464" y="4189639"/>
            <a:ext cx="8439963" cy="2392362"/>
          </a:xfrm>
          <a:prstGeom prst="rect">
            <a:avLst/>
          </a:prstGeom>
          <a:noFill/>
          <a:ln>
            <a:noFill/>
          </a:ln>
        </p:spPr>
      </p:pic>
    </p:spTree>
    <p:extLst>
      <p:ext uri="{BB962C8B-B14F-4D97-AF65-F5344CB8AC3E}">
        <p14:creationId xmlns:p14="http://schemas.microsoft.com/office/powerpoint/2010/main" val="22325479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36;p135">
            <a:extLst>
              <a:ext uri="{FF2B5EF4-FFF2-40B4-BE49-F238E27FC236}">
                <a16:creationId xmlns:a16="http://schemas.microsoft.com/office/drawing/2014/main" id="{F8F59395-8159-92BF-F10C-FDC65597863D}"/>
              </a:ext>
            </a:extLst>
          </p:cNvPr>
          <p:cNvSpPr txBox="1">
            <a:spLocks/>
          </p:cNvSpPr>
          <p:nvPr/>
        </p:nvSpPr>
        <p:spPr>
          <a:xfrm>
            <a:off x="2541083" y="532720"/>
            <a:ext cx="8676344" cy="4283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dirty="0">
                <a:solidFill>
                  <a:schemeClr val="accent2"/>
                </a:solidFill>
                <a:latin typeface="Times New Roman" panose="02020603050405020304" pitchFamily="18" charset="0"/>
                <a:cs typeface="Times New Roman" panose="02020603050405020304" pitchFamily="18" charset="0"/>
              </a:rPr>
              <a:t>2.calloc</a:t>
            </a: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Description – This function allocates multiple blocks of same size, initializes all locations to zero and returns a pointer to the first byte of allocated space.</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Syntax:</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 (datatype *) </a:t>
            </a:r>
            <a:r>
              <a:rPr lang="en-US" sz="2000" dirty="0" err="1">
                <a:solidFill>
                  <a:srgbClr val="404040"/>
                </a:solidFill>
                <a:latin typeface="Times New Roman" panose="02020603050405020304" pitchFamily="18" charset="0"/>
                <a:cs typeface="Times New Roman" panose="02020603050405020304" pitchFamily="18" charset="0"/>
              </a:rPr>
              <a:t>calloc</a:t>
            </a:r>
            <a:r>
              <a:rPr lang="en-US" sz="2000" dirty="0">
                <a:solidFill>
                  <a:srgbClr val="404040"/>
                </a:solidFill>
                <a:latin typeface="Times New Roman" panose="02020603050405020304" pitchFamily="18" charset="0"/>
                <a:cs typeface="Times New Roman" panose="02020603050405020304" pitchFamily="18" charset="0"/>
              </a:rPr>
              <a:t> (n, size);</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Where	- </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is a pointer of type datatype</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		- datatype can be any of the basic data type or user defined data type.</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		- size is the number of bytes required.</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		- n is the number of blocks to be allocated of size bytes.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94878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41;p136">
            <a:extLst>
              <a:ext uri="{FF2B5EF4-FFF2-40B4-BE49-F238E27FC236}">
                <a16:creationId xmlns:a16="http://schemas.microsoft.com/office/drawing/2014/main" id="{1AF9DB2A-7AEF-B139-CAE2-5B46B071A533}"/>
              </a:ext>
            </a:extLst>
          </p:cNvPr>
          <p:cNvSpPr txBox="1">
            <a:spLocks/>
          </p:cNvSpPr>
          <p:nvPr/>
        </p:nvSpPr>
        <p:spPr>
          <a:xfrm>
            <a:off x="2541083" y="947896"/>
            <a:ext cx="8779649" cy="42941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80000"/>
              </a:lnSpc>
              <a:spcBef>
                <a:spcPts val="0"/>
              </a:spcBef>
              <a:buFont typeface="Arial"/>
              <a:buNone/>
            </a:pPr>
            <a:r>
              <a:rPr lang="en-US" sz="2000" dirty="0">
                <a:solidFill>
                  <a:srgbClr val="404040"/>
                </a:solidFill>
                <a:latin typeface="Times New Roman" panose="02020603050405020304" pitchFamily="18" charset="0"/>
                <a:cs typeface="Times New Roman" panose="02020603050405020304" pitchFamily="18" charset="0"/>
              </a:rPr>
              <a:t>Example:	</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 ( int * ) </a:t>
            </a:r>
            <a:r>
              <a:rPr lang="en-US" sz="2000" dirty="0" err="1">
                <a:solidFill>
                  <a:srgbClr val="404040"/>
                </a:solidFill>
                <a:latin typeface="Times New Roman" panose="02020603050405020304" pitchFamily="18" charset="0"/>
                <a:cs typeface="Times New Roman" panose="02020603050405020304" pitchFamily="18" charset="0"/>
              </a:rPr>
              <a:t>calloc</a:t>
            </a:r>
            <a:r>
              <a:rPr lang="en-US" sz="2000" dirty="0">
                <a:solidFill>
                  <a:srgbClr val="404040"/>
                </a:solidFill>
                <a:latin typeface="Times New Roman" panose="02020603050405020304" pitchFamily="18" charset="0"/>
                <a:cs typeface="Times New Roman" panose="02020603050405020304" pitchFamily="18" charset="0"/>
              </a:rPr>
              <a:t> (200, </a:t>
            </a:r>
            <a:r>
              <a:rPr lang="en-US" sz="2000" dirty="0" err="1">
                <a:solidFill>
                  <a:srgbClr val="404040"/>
                </a:solidFill>
                <a:latin typeface="Times New Roman" panose="02020603050405020304" pitchFamily="18" charset="0"/>
                <a:cs typeface="Times New Roman" panose="02020603050405020304" pitchFamily="18" charset="0"/>
              </a:rPr>
              <a:t>sizeof</a:t>
            </a:r>
            <a:r>
              <a:rPr lang="en-US" sz="2000" dirty="0">
                <a:solidFill>
                  <a:srgbClr val="404040"/>
                </a:solidFill>
                <a:latin typeface="Times New Roman" panose="02020603050405020304" pitchFamily="18" charset="0"/>
                <a:cs typeface="Times New Roman" panose="02020603050405020304" pitchFamily="18" charset="0"/>
              </a:rPr>
              <a:t> ( int ) );</a:t>
            </a:r>
            <a:endParaRPr lang="en-US" sz="2000" dirty="0">
              <a:latin typeface="Times New Roman" panose="02020603050405020304" pitchFamily="18" charset="0"/>
              <a:cs typeface="Times New Roman" panose="02020603050405020304" pitchFamily="18" charset="0"/>
            </a:endParaRPr>
          </a:p>
          <a:p>
            <a:pPr marL="0" indent="0" algn="just">
              <a:lnSpc>
                <a:spcPct val="18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On successful execution of this statement, a memory space equivalent to size of 200 int (array of 200 integers) is reserved and the address of the first byte of the memory allocated is assigned to the pointer </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of type int.</a:t>
            </a:r>
            <a:endParaRPr lang="en-US" sz="2000" dirty="0">
              <a:latin typeface="Times New Roman" panose="02020603050405020304" pitchFamily="18" charset="0"/>
              <a:cs typeface="Times New Roman" panose="02020603050405020304" pitchFamily="18" charset="0"/>
            </a:endParaRPr>
          </a:p>
          <a:p>
            <a:pPr marL="0" indent="0" algn="just">
              <a:lnSpc>
                <a:spcPct val="18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Return Value – On success, it returns a pointer of type void to the newly allocated block of memory. On failure i.e. if the specified size of memory is not available, it returns NULL.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62047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1648;p137">
            <a:extLst>
              <a:ext uri="{FF2B5EF4-FFF2-40B4-BE49-F238E27FC236}">
                <a16:creationId xmlns:a16="http://schemas.microsoft.com/office/drawing/2014/main" id="{28AD5FEE-2F72-7553-AA71-396978D4B126}"/>
              </a:ext>
            </a:extLst>
          </p:cNvPr>
          <p:cNvPicPr preferRelativeResize="0"/>
          <p:nvPr/>
        </p:nvPicPr>
        <p:blipFill rotWithShape="1">
          <a:blip r:embed="rId4">
            <a:alphaModFix/>
          </a:blip>
          <a:srcRect/>
          <a:stretch/>
        </p:blipFill>
        <p:spPr>
          <a:xfrm>
            <a:off x="3009342" y="656270"/>
            <a:ext cx="8291495" cy="5134930"/>
          </a:xfrm>
          <a:prstGeom prst="rect">
            <a:avLst/>
          </a:prstGeom>
          <a:noFill/>
          <a:ln>
            <a:noFill/>
          </a:ln>
        </p:spPr>
      </p:pic>
    </p:spTree>
    <p:extLst>
      <p:ext uri="{BB962C8B-B14F-4D97-AF65-F5344CB8AC3E}">
        <p14:creationId xmlns:p14="http://schemas.microsoft.com/office/powerpoint/2010/main" val="36676731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53;p138">
            <a:extLst>
              <a:ext uri="{FF2B5EF4-FFF2-40B4-BE49-F238E27FC236}">
                <a16:creationId xmlns:a16="http://schemas.microsoft.com/office/drawing/2014/main" id="{11C9C5BF-3DC4-E02E-89C9-4DA637EE4C1E}"/>
              </a:ext>
            </a:extLst>
          </p:cNvPr>
          <p:cNvSpPr txBox="1">
            <a:spLocks/>
          </p:cNvSpPr>
          <p:nvPr/>
        </p:nvSpPr>
        <p:spPr>
          <a:xfrm>
            <a:off x="2716257" y="908209"/>
            <a:ext cx="8684049" cy="43735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dirty="0">
                <a:solidFill>
                  <a:schemeClr val="accent2"/>
                </a:solidFill>
                <a:latin typeface="Times New Roman" panose="02020603050405020304" pitchFamily="18" charset="0"/>
                <a:cs typeface="Times New Roman" panose="02020603050405020304" pitchFamily="18" charset="0"/>
              </a:rPr>
              <a:t>3.realloc</a:t>
            </a: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Description – This function is used to alter the size of the previously allocated space which is allocated either by using malloc or </a:t>
            </a:r>
            <a:r>
              <a:rPr lang="en-US" sz="2000" dirty="0" err="1">
                <a:solidFill>
                  <a:srgbClr val="404040"/>
                </a:solidFill>
                <a:latin typeface="Times New Roman" panose="02020603050405020304" pitchFamily="18" charset="0"/>
                <a:cs typeface="Times New Roman" panose="02020603050405020304" pitchFamily="18" charset="0"/>
              </a:rPr>
              <a:t>calloc</a:t>
            </a:r>
            <a:r>
              <a:rPr lang="en-US" sz="2000" dirty="0">
                <a:solidFill>
                  <a:srgbClr val="404040"/>
                </a:solidFill>
                <a:latin typeface="Times New Roman" panose="02020603050405020304" pitchFamily="18" charset="0"/>
                <a:cs typeface="Times New Roman" panose="02020603050405020304" pitchFamily="18" charset="0"/>
              </a:rPr>
              <a:t> function.</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Syntax:</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 (datatype *) </a:t>
            </a:r>
            <a:r>
              <a:rPr lang="en-US" sz="2000" dirty="0" err="1">
                <a:solidFill>
                  <a:srgbClr val="404040"/>
                </a:solidFill>
                <a:latin typeface="Times New Roman" panose="02020603050405020304" pitchFamily="18" charset="0"/>
                <a:cs typeface="Times New Roman" panose="02020603050405020304" pitchFamily="18" charset="0"/>
              </a:rPr>
              <a:t>realloc</a:t>
            </a:r>
            <a:r>
              <a:rPr lang="en-US" sz="2000" dirty="0">
                <a:solidFill>
                  <a:srgbClr val="404040"/>
                </a:solidFill>
                <a:latin typeface="Times New Roman" panose="02020603050405020304" pitchFamily="18" charset="0"/>
                <a:cs typeface="Times New Roman" panose="02020603050405020304" pitchFamily="18" charset="0"/>
              </a:rPr>
              <a:t> (</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size);</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Where	- </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is the starting address of allocated memory obtained previously by calling malloc, </a:t>
            </a:r>
            <a:r>
              <a:rPr lang="en-US" sz="2000" dirty="0" err="1">
                <a:solidFill>
                  <a:srgbClr val="404040"/>
                </a:solidFill>
                <a:latin typeface="Times New Roman" panose="02020603050405020304" pitchFamily="18" charset="0"/>
                <a:cs typeface="Times New Roman" panose="02020603050405020304" pitchFamily="18" charset="0"/>
              </a:rPr>
              <a:t>calloc</a:t>
            </a:r>
            <a:r>
              <a:rPr lang="en-US" sz="2000" dirty="0">
                <a:solidFill>
                  <a:srgbClr val="404040"/>
                </a:solidFill>
                <a:latin typeface="Times New Roman" panose="02020603050405020304" pitchFamily="18" charset="0"/>
                <a:cs typeface="Times New Roman" panose="02020603050405020304" pitchFamily="18" charset="0"/>
              </a:rPr>
              <a:t>, or </a:t>
            </a:r>
            <a:r>
              <a:rPr lang="en-US" sz="2000" dirty="0" err="1">
                <a:solidFill>
                  <a:srgbClr val="404040"/>
                </a:solidFill>
                <a:latin typeface="Times New Roman" panose="02020603050405020304" pitchFamily="18" charset="0"/>
                <a:cs typeface="Times New Roman" panose="02020603050405020304" pitchFamily="18" charset="0"/>
              </a:rPr>
              <a:t>realloc</a:t>
            </a:r>
            <a:r>
              <a:rPr lang="en-US" sz="2000" dirty="0">
                <a:solidFill>
                  <a:srgbClr val="404040"/>
                </a:solidFill>
                <a:latin typeface="Times New Roman" panose="02020603050405020304" pitchFamily="18" charset="0"/>
                <a:cs typeface="Times New Roman" panose="02020603050405020304" pitchFamily="18" charset="0"/>
              </a:rPr>
              <a:t> functions.</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		- size is the number of bytes required for reallocation. The size specified may be larger or smaller than the previously allocated memory</a:t>
            </a:r>
            <a:r>
              <a:rPr lang="en-US" sz="1800" dirty="0">
                <a:solidFill>
                  <a:srgbClr val="404040"/>
                </a:solidFill>
              </a:rPr>
              <a:t>.</a:t>
            </a:r>
            <a:endParaRPr lang="en-US" dirty="0"/>
          </a:p>
        </p:txBody>
      </p:sp>
    </p:spTree>
    <p:extLst>
      <p:ext uri="{BB962C8B-B14F-4D97-AF65-F5344CB8AC3E}">
        <p14:creationId xmlns:p14="http://schemas.microsoft.com/office/powerpoint/2010/main" val="31478488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58;p139">
            <a:extLst>
              <a:ext uri="{FF2B5EF4-FFF2-40B4-BE49-F238E27FC236}">
                <a16:creationId xmlns:a16="http://schemas.microsoft.com/office/drawing/2014/main" id="{82D48CF0-0A67-CB1F-9D99-618F4E1F36F2}"/>
              </a:ext>
            </a:extLst>
          </p:cNvPr>
          <p:cNvSpPr txBox="1">
            <a:spLocks/>
          </p:cNvSpPr>
          <p:nvPr/>
        </p:nvSpPr>
        <p:spPr>
          <a:xfrm>
            <a:off x="2716257" y="806926"/>
            <a:ext cx="8684049" cy="50495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buFont typeface="Arial"/>
              <a:buNone/>
            </a:pPr>
            <a:r>
              <a:rPr lang="en-US" sz="2000" dirty="0">
                <a:solidFill>
                  <a:srgbClr val="404040"/>
                </a:solidFill>
                <a:latin typeface="Times New Roman" panose="02020603050405020304" pitchFamily="18" charset="0"/>
                <a:cs typeface="Times New Roman" panose="02020603050405020304" pitchFamily="18" charset="0"/>
              </a:rPr>
              <a:t>Example:	</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If the original allocation is done by the statement</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 </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 malloc(size);</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Then reallocation of space may be done by the statement</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 </a:t>
            </a:r>
            <a:r>
              <a:rPr lang="en-US" sz="2000" dirty="0" err="1">
                <a:solidFill>
                  <a:srgbClr val="404040"/>
                </a:solidFill>
                <a:latin typeface="Times New Roman" panose="02020603050405020304" pitchFamily="18" charset="0"/>
                <a:cs typeface="Times New Roman" panose="02020603050405020304" pitchFamily="18" charset="0"/>
              </a:rPr>
              <a:t>realloc</a:t>
            </a:r>
            <a:r>
              <a:rPr lang="en-US" sz="2000" dirty="0">
                <a:solidFill>
                  <a:srgbClr val="404040"/>
                </a:solidFill>
                <a:latin typeface="Times New Roman" panose="02020603050405020304" pitchFamily="18" charset="0"/>
                <a:cs typeface="Times New Roman" panose="02020603050405020304" pitchFamily="18" charset="0"/>
              </a:rPr>
              <a:t>(</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a:t>
            </a:r>
            <a:r>
              <a:rPr lang="en-US" sz="2000" dirty="0" err="1">
                <a:solidFill>
                  <a:srgbClr val="404040"/>
                </a:solidFill>
                <a:latin typeface="Times New Roman" panose="02020603050405020304" pitchFamily="18" charset="0"/>
                <a:cs typeface="Times New Roman" panose="02020603050405020304" pitchFamily="18" charset="0"/>
              </a:rPr>
              <a:t>newsize</a:t>
            </a:r>
            <a:r>
              <a:rPr lang="en-US" sz="2000" dirty="0">
                <a:solidFill>
                  <a:srgbClr val="40404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On successful execution of this statement, </a:t>
            </a:r>
            <a:r>
              <a:rPr lang="en-US" sz="2000" dirty="0" err="1">
                <a:solidFill>
                  <a:srgbClr val="404040"/>
                </a:solidFill>
                <a:latin typeface="Times New Roman" panose="02020603050405020304" pitchFamily="18" charset="0"/>
                <a:cs typeface="Times New Roman" panose="02020603050405020304" pitchFamily="18" charset="0"/>
              </a:rPr>
              <a:t>realloc</a:t>
            </a:r>
            <a:r>
              <a:rPr lang="en-US" sz="2000" dirty="0">
                <a:solidFill>
                  <a:srgbClr val="404040"/>
                </a:solidFill>
                <a:latin typeface="Times New Roman" panose="02020603050405020304" pitchFamily="18" charset="0"/>
                <a:cs typeface="Times New Roman" panose="02020603050405020304" pitchFamily="18" charset="0"/>
              </a:rPr>
              <a:t> allocates a new memory space of size </a:t>
            </a:r>
            <a:r>
              <a:rPr lang="en-US" sz="2000" dirty="0" err="1">
                <a:solidFill>
                  <a:srgbClr val="404040"/>
                </a:solidFill>
                <a:latin typeface="Times New Roman" panose="02020603050405020304" pitchFamily="18" charset="0"/>
                <a:cs typeface="Times New Roman" panose="02020603050405020304" pitchFamily="18" charset="0"/>
              </a:rPr>
              <a:t>newsize</a:t>
            </a:r>
            <a:r>
              <a:rPr lang="en-US" sz="2000" dirty="0">
                <a:solidFill>
                  <a:srgbClr val="404040"/>
                </a:solidFill>
                <a:latin typeface="Times New Roman" panose="02020603050405020304" pitchFamily="18" charset="0"/>
                <a:cs typeface="Times New Roman" panose="02020603050405020304" pitchFamily="18" charset="0"/>
              </a:rPr>
              <a:t> to the pointer variable </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and returns a pointer to the first byte of the new memory block.</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Return Value – On success, it returns a pointer to the newly allocated block of memory. On failure i.e. if the specified size of memory is not available, it returns NULL.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6007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1665;p140">
            <a:extLst>
              <a:ext uri="{FF2B5EF4-FFF2-40B4-BE49-F238E27FC236}">
                <a16:creationId xmlns:a16="http://schemas.microsoft.com/office/drawing/2014/main" id="{F2CBBA91-2232-1FC9-732D-2D6596583AE8}"/>
              </a:ext>
            </a:extLst>
          </p:cNvPr>
          <p:cNvPicPr preferRelativeResize="0"/>
          <p:nvPr/>
        </p:nvPicPr>
        <p:blipFill rotWithShape="1">
          <a:blip r:embed="rId4">
            <a:alphaModFix/>
          </a:blip>
          <a:srcRect/>
          <a:stretch/>
        </p:blipFill>
        <p:spPr>
          <a:xfrm>
            <a:off x="2826483" y="656746"/>
            <a:ext cx="8390944" cy="5145339"/>
          </a:xfrm>
          <a:prstGeom prst="rect">
            <a:avLst/>
          </a:prstGeom>
          <a:noFill/>
          <a:ln>
            <a:noFill/>
          </a:ln>
        </p:spPr>
      </p:pic>
    </p:spTree>
    <p:extLst>
      <p:ext uri="{BB962C8B-B14F-4D97-AF65-F5344CB8AC3E}">
        <p14:creationId xmlns:p14="http://schemas.microsoft.com/office/powerpoint/2010/main" val="1465354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70;p141">
            <a:extLst>
              <a:ext uri="{FF2B5EF4-FFF2-40B4-BE49-F238E27FC236}">
                <a16:creationId xmlns:a16="http://schemas.microsoft.com/office/drawing/2014/main" id="{6A8E1E4F-0185-09EC-BB91-233E8E33985A}"/>
              </a:ext>
            </a:extLst>
          </p:cNvPr>
          <p:cNvSpPr txBox="1">
            <a:spLocks/>
          </p:cNvSpPr>
          <p:nvPr/>
        </p:nvSpPr>
        <p:spPr>
          <a:xfrm>
            <a:off x="2826483" y="602294"/>
            <a:ext cx="8390944" cy="53521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000" dirty="0">
                <a:solidFill>
                  <a:srgbClr val="404040"/>
                </a:solidFill>
                <a:latin typeface="Times New Roman" panose="02020603050405020304" pitchFamily="18" charset="0"/>
                <a:cs typeface="Times New Roman" panose="02020603050405020304" pitchFamily="18" charset="0"/>
              </a:rPr>
              <a:t>Note:</a:t>
            </a:r>
            <a:endParaRPr lang="en-US" sz="2000" dirty="0">
              <a:latin typeface="Times New Roman" panose="02020603050405020304" pitchFamily="18" charset="0"/>
              <a:cs typeface="Times New Roman" panose="02020603050405020304" pitchFamily="18" charset="0"/>
            </a:endParaRPr>
          </a:p>
          <a:p>
            <a:pPr marL="0" indent="-114300" algn="just">
              <a:lnSpc>
                <a:spcPct val="170000"/>
              </a:lnSpc>
              <a:buClr>
                <a:srgbClr val="353535"/>
              </a:buClr>
            </a:pPr>
            <a:r>
              <a:rPr lang="en-US" sz="2000" dirty="0">
                <a:solidFill>
                  <a:srgbClr val="404040"/>
                </a:solidFill>
                <a:latin typeface="Times New Roman" panose="02020603050405020304" pitchFamily="18" charset="0"/>
                <a:cs typeface="Times New Roman" panose="02020603050405020304" pitchFamily="18" charset="0"/>
              </a:rPr>
              <a:t>The storage space allocated dynamically has no name and therefore its contents can be accessed only through a pointer.</a:t>
            </a:r>
            <a:endParaRPr lang="en-US" sz="2000" dirty="0">
              <a:latin typeface="Times New Roman" panose="02020603050405020304" pitchFamily="18" charset="0"/>
              <a:cs typeface="Times New Roman" panose="02020603050405020304" pitchFamily="18" charset="0"/>
            </a:endParaRPr>
          </a:p>
          <a:p>
            <a:pPr marL="0" indent="-114300" algn="just">
              <a:lnSpc>
                <a:spcPct val="170000"/>
              </a:lnSpc>
              <a:buClr>
                <a:srgbClr val="353535"/>
              </a:buClr>
            </a:pPr>
            <a:r>
              <a:rPr lang="en-US" sz="2000" dirty="0">
                <a:solidFill>
                  <a:srgbClr val="404040"/>
                </a:solidFill>
                <a:latin typeface="Times New Roman" panose="02020603050405020304" pitchFamily="18" charset="0"/>
                <a:cs typeface="Times New Roman" panose="02020603050405020304" pitchFamily="18" charset="0"/>
              </a:rPr>
              <a:t>It is the responsibility of a programmer to de-allocate memory whenever it is not required by the application.</a:t>
            </a:r>
            <a:endParaRPr lang="en-US" sz="2000" dirty="0">
              <a:latin typeface="Times New Roman" panose="02020603050405020304" pitchFamily="18" charset="0"/>
              <a:cs typeface="Times New Roman" panose="02020603050405020304" pitchFamily="18" charset="0"/>
            </a:endParaRPr>
          </a:p>
          <a:p>
            <a:pPr marL="0" indent="-114300" algn="just">
              <a:lnSpc>
                <a:spcPct val="170000"/>
              </a:lnSpc>
              <a:buClr>
                <a:srgbClr val="353535"/>
              </a:buClr>
            </a:pPr>
            <a:r>
              <a:rPr lang="en-US" sz="2000" dirty="0">
                <a:solidFill>
                  <a:srgbClr val="404040"/>
                </a:solidFill>
                <a:latin typeface="Times New Roman" panose="02020603050405020304" pitchFamily="18" charset="0"/>
                <a:cs typeface="Times New Roman" panose="02020603050405020304" pitchFamily="18" charset="0"/>
              </a:rPr>
              <a:t>In case of </a:t>
            </a:r>
            <a:r>
              <a:rPr lang="en-US" sz="2000" dirty="0" err="1">
                <a:solidFill>
                  <a:srgbClr val="404040"/>
                </a:solidFill>
                <a:latin typeface="Times New Roman" panose="02020603050405020304" pitchFamily="18" charset="0"/>
                <a:cs typeface="Times New Roman" panose="02020603050405020304" pitchFamily="18" charset="0"/>
              </a:rPr>
              <a:t>realloc</a:t>
            </a:r>
            <a:r>
              <a:rPr lang="en-US" sz="2000" dirty="0">
                <a:solidFill>
                  <a:srgbClr val="404040"/>
                </a:solidFill>
                <a:latin typeface="Times New Roman" panose="02020603050405020304" pitchFamily="18" charset="0"/>
                <a:cs typeface="Times New Roman" panose="02020603050405020304" pitchFamily="18" charset="0"/>
              </a:rPr>
              <a:t>( ), the contents of the old block will be copied into the newly allocated space and so, this function guarantees that the earlier contents are not lost.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3835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75;p142">
            <a:extLst>
              <a:ext uri="{FF2B5EF4-FFF2-40B4-BE49-F238E27FC236}">
                <a16:creationId xmlns:a16="http://schemas.microsoft.com/office/drawing/2014/main" id="{47BAB9A1-EC06-97AF-803D-9869F006CB96}"/>
              </a:ext>
            </a:extLst>
          </p:cNvPr>
          <p:cNvSpPr txBox="1">
            <a:spLocks/>
          </p:cNvSpPr>
          <p:nvPr/>
        </p:nvSpPr>
        <p:spPr>
          <a:xfrm>
            <a:off x="2637937" y="657858"/>
            <a:ext cx="8195091" cy="52748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50000"/>
              </a:lnSpc>
              <a:spcBef>
                <a:spcPts val="0"/>
              </a:spcBef>
              <a:buFont typeface="Arial"/>
              <a:buNone/>
            </a:pPr>
            <a:r>
              <a:rPr lang="en-US" sz="2400" dirty="0">
                <a:solidFill>
                  <a:schemeClr val="accent2"/>
                </a:solidFill>
                <a:latin typeface="Times New Roman" panose="02020603050405020304" pitchFamily="18" charset="0"/>
                <a:cs typeface="Times New Roman" panose="02020603050405020304" pitchFamily="18" charset="0"/>
              </a:rPr>
              <a:t>4.free</a:t>
            </a: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Description – This function de-allocates (frees) the allocated block of memory which is allocated by using the functions malloc( ), </a:t>
            </a:r>
            <a:r>
              <a:rPr lang="en-US" sz="2000" dirty="0" err="1">
                <a:solidFill>
                  <a:srgbClr val="404040"/>
                </a:solidFill>
                <a:latin typeface="Times New Roman" panose="02020603050405020304" pitchFamily="18" charset="0"/>
                <a:cs typeface="Times New Roman" panose="02020603050405020304" pitchFamily="18" charset="0"/>
              </a:rPr>
              <a:t>calloc</a:t>
            </a:r>
            <a:r>
              <a:rPr lang="en-US" sz="2000" dirty="0">
                <a:solidFill>
                  <a:srgbClr val="404040"/>
                </a:solidFill>
                <a:latin typeface="Times New Roman" panose="02020603050405020304" pitchFamily="18" charset="0"/>
                <a:cs typeface="Times New Roman" panose="02020603050405020304" pitchFamily="18" charset="0"/>
              </a:rPr>
              <a:t>( ) or </a:t>
            </a:r>
            <a:r>
              <a:rPr lang="en-US" sz="2000" dirty="0" err="1">
                <a:solidFill>
                  <a:srgbClr val="404040"/>
                </a:solidFill>
                <a:latin typeface="Times New Roman" panose="02020603050405020304" pitchFamily="18" charset="0"/>
                <a:cs typeface="Times New Roman" panose="02020603050405020304" pitchFamily="18" charset="0"/>
              </a:rPr>
              <a:t>realloc</a:t>
            </a:r>
            <a:r>
              <a:rPr lang="en-US" sz="2000" dirty="0">
                <a:solidFill>
                  <a:srgbClr val="404040"/>
                </a:solidFill>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Syntax:     free(</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Where </a:t>
            </a:r>
            <a:r>
              <a:rPr lang="en-US" sz="2000" dirty="0" err="1">
                <a:solidFill>
                  <a:srgbClr val="404040"/>
                </a:solidFill>
                <a:latin typeface="Times New Roman" panose="02020603050405020304" pitchFamily="18" charset="0"/>
                <a:cs typeface="Times New Roman" panose="02020603050405020304" pitchFamily="18" charset="0"/>
              </a:rPr>
              <a:t>ptr</a:t>
            </a:r>
            <a:r>
              <a:rPr lang="en-US" sz="2000" dirty="0">
                <a:solidFill>
                  <a:srgbClr val="404040"/>
                </a:solidFill>
                <a:latin typeface="Times New Roman" panose="02020603050405020304" pitchFamily="18" charset="0"/>
                <a:cs typeface="Times New Roman" panose="02020603050405020304" pitchFamily="18" charset="0"/>
              </a:rPr>
              <a:t> is a pointer to a memory block which has already been created by invoking one of the 3 functions malloc( ), </a:t>
            </a:r>
            <a:r>
              <a:rPr lang="en-US" sz="2000" dirty="0" err="1">
                <a:solidFill>
                  <a:srgbClr val="404040"/>
                </a:solidFill>
                <a:latin typeface="Times New Roman" panose="02020603050405020304" pitchFamily="18" charset="0"/>
                <a:cs typeface="Times New Roman" panose="02020603050405020304" pitchFamily="18" charset="0"/>
              </a:rPr>
              <a:t>calloc</a:t>
            </a:r>
            <a:r>
              <a:rPr lang="en-US" sz="2000" dirty="0">
                <a:solidFill>
                  <a:srgbClr val="404040"/>
                </a:solidFill>
                <a:latin typeface="Times New Roman" panose="02020603050405020304" pitchFamily="18" charset="0"/>
                <a:cs typeface="Times New Roman" panose="02020603050405020304" pitchFamily="18" charset="0"/>
              </a:rPr>
              <a:t>( ) or </a:t>
            </a:r>
            <a:r>
              <a:rPr lang="en-US" sz="2000" dirty="0" err="1">
                <a:solidFill>
                  <a:srgbClr val="404040"/>
                </a:solidFill>
                <a:latin typeface="Times New Roman" panose="02020603050405020304" pitchFamily="18" charset="0"/>
                <a:cs typeface="Times New Roman" panose="02020603050405020304" pitchFamily="18" charset="0"/>
              </a:rPr>
              <a:t>realloc</a:t>
            </a:r>
            <a:r>
              <a:rPr lang="en-US" sz="2000" dirty="0">
                <a:solidFill>
                  <a:srgbClr val="404040"/>
                </a:solidFill>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a:buNone/>
            </a:pPr>
            <a:r>
              <a:rPr lang="en-US" sz="2000" dirty="0">
                <a:solidFill>
                  <a:srgbClr val="404040"/>
                </a:solidFill>
                <a:latin typeface="Times New Roman" panose="02020603050405020304" pitchFamily="18" charset="0"/>
                <a:cs typeface="Times New Roman" panose="02020603050405020304" pitchFamily="18" charset="0"/>
              </a:rPr>
              <a:t>Return Value – None.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85174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1682;p143">
            <a:extLst>
              <a:ext uri="{FF2B5EF4-FFF2-40B4-BE49-F238E27FC236}">
                <a16:creationId xmlns:a16="http://schemas.microsoft.com/office/drawing/2014/main" id="{7BF47374-5426-0F35-5416-1094C4E6D7F7}"/>
              </a:ext>
            </a:extLst>
          </p:cNvPr>
          <p:cNvPicPr preferRelativeResize="0"/>
          <p:nvPr/>
        </p:nvPicPr>
        <p:blipFill rotWithShape="1">
          <a:blip r:embed="rId4">
            <a:alphaModFix/>
          </a:blip>
          <a:srcRect/>
          <a:stretch/>
        </p:blipFill>
        <p:spPr>
          <a:xfrm>
            <a:off x="2994738" y="724853"/>
            <a:ext cx="8141348" cy="4783318"/>
          </a:xfrm>
          <a:prstGeom prst="rect">
            <a:avLst/>
          </a:prstGeom>
          <a:noFill/>
          <a:ln>
            <a:noFill/>
          </a:ln>
        </p:spPr>
      </p:pic>
    </p:spTree>
    <p:extLst>
      <p:ext uri="{BB962C8B-B14F-4D97-AF65-F5344CB8AC3E}">
        <p14:creationId xmlns:p14="http://schemas.microsoft.com/office/powerpoint/2010/main" val="13131115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1689;p144">
            <a:extLst>
              <a:ext uri="{FF2B5EF4-FFF2-40B4-BE49-F238E27FC236}">
                <a16:creationId xmlns:a16="http://schemas.microsoft.com/office/drawing/2014/main" id="{F3AC3F66-CC7B-1604-BB49-93E3FBF9FCC7}"/>
              </a:ext>
            </a:extLst>
          </p:cNvPr>
          <p:cNvPicPr preferRelativeResize="0"/>
          <p:nvPr/>
        </p:nvPicPr>
        <p:blipFill rotWithShape="1">
          <a:blip r:embed="rId4">
            <a:alphaModFix/>
          </a:blip>
          <a:srcRect/>
          <a:stretch/>
        </p:blipFill>
        <p:spPr>
          <a:xfrm>
            <a:off x="3290860" y="547055"/>
            <a:ext cx="7359650" cy="2717800"/>
          </a:xfrm>
          <a:prstGeom prst="rect">
            <a:avLst/>
          </a:prstGeom>
          <a:noFill/>
          <a:ln>
            <a:noFill/>
          </a:ln>
        </p:spPr>
      </p:pic>
    </p:spTree>
    <p:extLst>
      <p:ext uri="{BB962C8B-B14F-4D97-AF65-F5344CB8AC3E}">
        <p14:creationId xmlns:p14="http://schemas.microsoft.com/office/powerpoint/2010/main" val="8416704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694;p145">
            <a:extLst>
              <a:ext uri="{FF2B5EF4-FFF2-40B4-BE49-F238E27FC236}">
                <a16:creationId xmlns:a16="http://schemas.microsoft.com/office/drawing/2014/main" id="{A8FBF228-F174-D497-2084-B84E333D41B3}"/>
              </a:ext>
            </a:extLst>
          </p:cNvPr>
          <p:cNvSpPr txBox="1">
            <a:spLocks/>
          </p:cNvSpPr>
          <p:nvPr/>
        </p:nvSpPr>
        <p:spPr>
          <a:xfrm>
            <a:off x="2826484" y="734218"/>
            <a:ext cx="8115926" cy="43957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dirty="0">
                <a:solidFill>
                  <a:schemeClr val="accent2"/>
                </a:solidFill>
                <a:latin typeface="Times New Roman" panose="02020603050405020304" pitchFamily="18" charset="0"/>
                <a:cs typeface="Times New Roman" panose="02020603050405020304" pitchFamily="18" charset="0"/>
              </a:rPr>
              <a:t>Problems with Dynamic Memory Allocation</a:t>
            </a:r>
          </a:p>
          <a:p>
            <a:pPr marL="0" indent="0">
              <a:lnSpc>
                <a:spcPct val="100000"/>
              </a:lnSpc>
              <a:buFont typeface="Arial"/>
              <a:buNone/>
            </a:pPr>
            <a:r>
              <a:rPr lang="en-US" sz="2400" dirty="0">
                <a:solidFill>
                  <a:schemeClr val="accent5"/>
                </a:solidFill>
                <a:latin typeface="Times New Roman" panose="02020603050405020304" pitchFamily="18" charset="0"/>
                <a:cs typeface="Times New Roman" panose="02020603050405020304" pitchFamily="18" charset="0"/>
              </a:rPr>
              <a:t>1.Memory Leakage</a:t>
            </a:r>
          </a:p>
          <a:p>
            <a:pPr marL="0" indent="0">
              <a:lnSpc>
                <a:spcPct val="60000"/>
              </a:lnSpc>
              <a:buFont typeface="Arial"/>
              <a:buNone/>
            </a:pPr>
            <a:r>
              <a:rPr lang="en-US" sz="2000" dirty="0">
                <a:solidFill>
                  <a:srgbClr val="404040"/>
                </a:solidFill>
              </a:rPr>
              <a:t>This is a problem where in a part of the memory is reserved but is not accessible to any of the applications.</a:t>
            </a:r>
            <a:endParaRPr lang="en-US" sz="2000" dirty="0"/>
          </a:p>
          <a:p>
            <a:pPr marL="0" indent="0">
              <a:lnSpc>
                <a:spcPct val="60000"/>
              </a:lnSpc>
              <a:buFont typeface="Arial"/>
              <a:buNone/>
            </a:pPr>
            <a:r>
              <a:rPr lang="en-US" sz="2000" dirty="0">
                <a:solidFill>
                  <a:srgbClr val="404040"/>
                </a:solidFill>
              </a:rPr>
              <a:t>Example: Consider the following program segment.</a:t>
            </a:r>
            <a:endParaRPr lang="en-US" sz="2000" dirty="0"/>
          </a:p>
          <a:p>
            <a:pPr marL="0" indent="0">
              <a:lnSpc>
                <a:spcPct val="100000"/>
              </a:lnSpc>
              <a:buFont typeface="Arial"/>
              <a:buNone/>
            </a:pPr>
            <a:r>
              <a:rPr lang="en-US" sz="2000" dirty="0">
                <a:solidFill>
                  <a:srgbClr val="404040"/>
                </a:solidFill>
              </a:rPr>
              <a:t>main ( )</a:t>
            </a:r>
            <a:endParaRPr lang="en-US" sz="2000" dirty="0"/>
          </a:p>
          <a:p>
            <a:pPr marL="0" indent="0">
              <a:lnSpc>
                <a:spcPct val="100000"/>
              </a:lnSpc>
              <a:buFont typeface="Arial"/>
              <a:buNone/>
            </a:pPr>
            <a:r>
              <a:rPr lang="en-US" sz="2000" dirty="0">
                <a:solidFill>
                  <a:srgbClr val="404040"/>
                </a:solidFill>
              </a:rPr>
              <a:t>   {	int *a;</a:t>
            </a:r>
            <a:endParaRPr lang="en-US" sz="2000" dirty="0"/>
          </a:p>
          <a:p>
            <a:pPr marL="0" indent="0">
              <a:lnSpc>
                <a:spcPct val="100000"/>
              </a:lnSpc>
              <a:buFont typeface="Arial"/>
              <a:buNone/>
            </a:pPr>
            <a:r>
              <a:rPr lang="en-US" sz="2000" dirty="0">
                <a:solidFill>
                  <a:srgbClr val="404040"/>
                </a:solidFill>
              </a:rPr>
              <a:t>	a = (int *)malloc(</a:t>
            </a:r>
            <a:r>
              <a:rPr lang="en-US" sz="2000" dirty="0" err="1">
                <a:solidFill>
                  <a:srgbClr val="404040"/>
                </a:solidFill>
              </a:rPr>
              <a:t>sizeof</a:t>
            </a:r>
            <a:r>
              <a:rPr lang="en-US" sz="2000" dirty="0">
                <a:solidFill>
                  <a:srgbClr val="404040"/>
                </a:solidFill>
              </a:rPr>
              <a:t> (int) );</a:t>
            </a:r>
            <a:endParaRPr lang="en-US" sz="2000" dirty="0"/>
          </a:p>
          <a:p>
            <a:pPr marL="0" indent="0">
              <a:lnSpc>
                <a:spcPct val="100000"/>
              </a:lnSpc>
              <a:buFont typeface="Arial"/>
              <a:buNone/>
            </a:pPr>
            <a:r>
              <a:rPr lang="en-US" sz="2000" dirty="0">
                <a:solidFill>
                  <a:srgbClr val="404040"/>
                </a:solidFill>
              </a:rPr>
              <a:t>	*a =10;</a:t>
            </a:r>
            <a:endParaRPr lang="en-US" sz="2000" dirty="0"/>
          </a:p>
          <a:p>
            <a:pPr marL="0" indent="0">
              <a:lnSpc>
                <a:spcPct val="100000"/>
              </a:lnSpc>
              <a:buFont typeface="Arial"/>
              <a:buNone/>
            </a:pPr>
            <a:r>
              <a:rPr lang="en-US" sz="2000" dirty="0">
                <a:solidFill>
                  <a:srgbClr val="404040"/>
                </a:solidFill>
              </a:rPr>
              <a:t>	a = (int *)malloc(</a:t>
            </a:r>
            <a:r>
              <a:rPr lang="en-US" sz="2000" dirty="0" err="1">
                <a:solidFill>
                  <a:srgbClr val="404040"/>
                </a:solidFill>
              </a:rPr>
              <a:t>sizeof</a:t>
            </a:r>
            <a:r>
              <a:rPr lang="en-US" sz="2000" dirty="0">
                <a:solidFill>
                  <a:srgbClr val="404040"/>
                </a:solidFill>
              </a:rPr>
              <a:t> (int) );</a:t>
            </a:r>
            <a:endParaRPr lang="en-US" sz="2000" dirty="0"/>
          </a:p>
          <a:p>
            <a:pPr marL="0" indent="0">
              <a:lnSpc>
                <a:spcPct val="100000"/>
              </a:lnSpc>
              <a:buFont typeface="Arial"/>
              <a:buNone/>
            </a:pPr>
            <a:r>
              <a:rPr lang="en-US" sz="2000" dirty="0">
                <a:solidFill>
                  <a:srgbClr val="404040"/>
                </a:solidFill>
              </a:rPr>
              <a:t>	*a =20;</a:t>
            </a:r>
            <a:endParaRPr lang="en-US" sz="2000" dirty="0"/>
          </a:p>
          <a:p>
            <a:pPr marL="0" indent="0">
              <a:lnSpc>
                <a:spcPct val="100000"/>
              </a:lnSpc>
              <a:buFont typeface="Arial"/>
              <a:buNone/>
            </a:pPr>
            <a:r>
              <a:rPr lang="en-US" sz="2000" dirty="0">
                <a:solidFill>
                  <a:srgbClr val="404040"/>
                </a:solidFill>
              </a:rPr>
              <a:t>   }</a:t>
            </a:r>
            <a:endParaRPr lang="en-US" sz="2000" dirty="0"/>
          </a:p>
        </p:txBody>
      </p:sp>
      <p:sp>
        <p:nvSpPr>
          <p:cNvPr id="4" name="Google Shape;1695;p145">
            <a:extLst>
              <a:ext uri="{FF2B5EF4-FFF2-40B4-BE49-F238E27FC236}">
                <a16:creationId xmlns:a16="http://schemas.microsoft.com/office/drawing/2014/main" id="{22A41CE9-A130-DFDB-9F66-4DF016B6C617}"/>
              </a:ext>
            </a:extLst>
          </p:cNvPr>
          <p:cNvSpPr txBox="1"/>
          <p:nvPr/>
        </p:nvSpPr>
        <p:spPr>
          <a:xfrm>
            <a:off x="7691497" y="2960052"/>
            <a:ext cx="3708810" cy="2585283"/>
          </a:xfrm>
          <a:prstGeom prst="rect">
            <a:avLst/>
          </a:prstGeom>
          <a:solidFill>
            <a:srgbClr val="FFC0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800" b="0" i="0" u="none" dirty="0">
                <a:solidFill>
                  <a:srgbClr val="000000"/>
                </a:solidFill>
                <a:latin typeface="Times New Roman" panose="02020603050405020304" pitchFamily="18" charset="0"/>
                <a:cs typeface="Times New Roman" panose="02020603050405020304" pitchFamily="18" charset="0"/>
                <a:sym typeface="Arial"/>
              </a:rPr>
              <a:t>Here, memory for the variable ‘a’ is allocated twice. However, ‘a’ contains the address of most recently allocated memory, thereby making the earlier allocated memory inaccessible i.e. the memory location where the value 10 is stored is inaccessible to any of the application and is not possible to free so that it can be reused.</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63933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166983" y="496327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700;p146">
            <a:extLst>
              <a:ext uri="{FF2B5EF4-FFF2-40B4-BE49-F238E27FC236}">
                <a16:creationId xmlns:a16="http://schemas.microsoft.com/office/drawing/2014/main" id="{0211DCC1-B40D-490A-5633-A5450A9FABAC}"/>
              </a:ext>
            </a:extLst>
          </p:cNvPr>
          <p:cNvSpPr txBox="1">
            <a:spLocks/>
          </p:cNvSpPr>
          <p:nvPr/>
        </p:nvSpPr>
        <p:spPr>
          <a:xfrm>
            <a:off x="2541083" y="388303"/>
            <a:ext cx="7442200" cy="41354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dirty="0">
                <a:solidFill>
                  <a:schemeClr val="accent5"/>
                </a:solidFill>
                <a:latin typeface="Times New Roman" panose="02020603050405020304" pitchFamily="18" charset="0"/>
                <a:cs typeface="Times New Roman" panose="02020603050405020304" pitchFamily="18" charset="0"/>
              </a:rPr>
              <a:t>2.Dangling Pointer</a:t>
            </a:r>
          </a:p>
          <a:p>
            <a:pPr marL="0" indent="0">
              <a:lnSpc>
                <a:spcPct val="100000"/>
              </a:lnSpc>
              <a:buFont typeface="Arial"/>
              <a:buNone/>
            </a:pPr>
            <a:r>
              <a:rPr lang="en-US" sz="2000" dirty="0">
                <a:solidFill>
                  <a:srgbClr val="404040"/>
                </a:solidFill>
              </a:rPr>
              <a:t>Any pointer pointing to a destroyed object or which does not contain a valid address is called a dangling pointer.</a:t>
            </a:r>
            <a:endParaRPr lang="en-US" sz="2000" dirty="0"/>
          </a:p>
          <a:p>
            <a:pPr marL="0" indent="0">
              <a:lnSpc>
                <a:spcPct val="100000"/>
              </a:lnSpc>
              <a:buFont typeface="Arial"/>
              <a:buNone/>
            </a:pPr>
            <a:r>
              <a:rPr lang="en-US" sz="2000" dirty="0">
                <a:solidFill>
                  <a:srgbClr val="404040"/>
                </a:solidFill>
              </a:rPr>
              <a:t>Example: Consider the following program segment</a:t>
            </a:r>
            <a:endParaRPr lang="en-US" sz="2000" dirty="0"/>
          </a:p>
          <a:p>
            <a:pPr marL="0" indent="0">
              <a:lnSpc>
                <a:spcPct val="60000"/>
              </a:lnSpc>
              <a:buFont typeface="Arial"/>
              <a:buNone/>
            </a:pPr>
            <a:r>
              <a:rPr lang="en-US" sz="2000" dirty="0">
                <a:solidFill>
                  <a:srgbClr val="404040"/>
                </a:solidFill>
              </a:rPr>
              <a:t>main ( )</a:t>
            </a:r>
            <a:endParaRPr lang="en-US" sz="2000" dirty="0"/>
          </a:p>
          <a:p>
            <a:pPr marL="0" indent="0">
              <a:lnSpc>
                <a:spcPct val="60000"/>
              </a:lnSpc>
              <a:buFont typeface="Arial"/>
              <a:buNone/>
            </a:pPr>
            <a:r>
              <a:rPr lang="en-US" sz="2000" dirty="0">
                <a:solidFill>
                  <a:srgbClr val="404040"/>
                </a:solidFill>
              </a:rPr>
              <a:t>{</a:t>
            </a:r>
            <a:endParaRPr lang="en-US" sz="2000" dirty="0"/>
          </a:p>
          <a:p>
            <a:pPr marL="0" indent="0">
              <a:lnSpc>
                <a:spcPct val="60000"/>
              </a:lnSpc>
              <a:buFont typeface="Arial"/>
              <a:buNone/>
            </a:pPr>
            <a:r>
              <a:rPr lang="en-US" sz="2000" dirty="0">
                <a:solidFill>
                  <a:srgbClr val="404040"/>
                </a:solidFill>
              </a:rPr>
              <a:t>	int *a;</a:t>
            </a:r>
            <a:endParaRPr lang="en-US" sz="2000" dirty="0"/>
          </a:p>
          <a:p>
            <a:pPr marL="0" indent="0">
              <a:lnSpc>
                <a:spcPct val="60000"/>
              </a:lnSpc>
              <a:buFont typeface="Arial"/>
              <a:buNone/>
            </a:pPr>
            <a:r>
              <a:rPr lang="en-US" sz="2000" dirty="0">
                <a:solidFill>
                  <a:srgbClr val="404040"/>
                </a:solidFill>
              </a:rPr>
              <a:t>	a =(int *)malloc(</a:t>
            </a:r>
            <a:r>
              <a:rPr lang="en-US" sz="2000" dirty="0" err="1">
                <a:solidFill>
                  <a:srgbClr val="404040"/>
                </a:solidFill>
              </a:rPr>
              <a:t>sizeof</a:t>
            </a:r>
            <a:r>
              <a:rPr lang="en-US" sz="2000" dirty="0">
                <a:solidFill>
                  <a:srgbClr val="404040"/>
                </a:solidFill>
              </a:rPr>
              <a:t>(int));</a:t>
            </a:r>
            <a:endParaRPr lang="en-US" sz="2000" dirty="0"/>
          </a:p>
          <a:p>
            <a:pPr marL="0" indent="0">
              <a:lnSpc>
                <a:spcPct val="60000"/>
              </a:lnSpc>
              <a:buFont typeface="Arial"/>
              <a:buNone/>
            </a:pPr>
            <a:r>
              <a:rPr lang="en-US" sz="2000" dirty="0">
                <a:solidFill>
                  <a:srgbClr val="404040"/>
                </a:solidFill>
              </a:rPr>
              <a:t>	*a=20;</a:t>
            </a:r>
            <a:endParaRPr lang="en-US" sz="2000" dirty="0"/>
          </a:p>
          <a:p>
            <a:pPr marL="0" indent="0">
              <a:lnSpc>
                <a:spcPct val="60000"/>
              </a:lnSpc>
              <a:buFont typeface="Arial"/>
              <a:buNone/>
            </a:pPr>
            <a:r>
              <a:rPr lang="en-US" sz="2000" dirty="0">
                <a:solidFill>
                  <a:srgbClr val="404040"/>
                </a:solidFill>
              </a:rPr>
              <a:t>	…….</a:t>
            </a:r>
            <a:endParaRPr lang="en-US" sz="2000" dirty="0"/>
          </a:p>
          <a:p>
            <a:pPr marL="0" indent="0">
              <a:lnSpc>
                <a:spcPct val="60000"/>
              </a:lnSpc>
              <a:buFont typeface="Arial"/>
              <a:buNone/>
            </a:pPr>
            <a:r>
              <a:rPr lang="en-US" sz="2000" dirty="0">
                <a:solidFill>
                  <a:srgbClr val="404040"/>
                </a:solidFill>
              </a:rPr>
              <a:t>	…….</a:t>
            </a:r>
            <a:endParaRPr lang="en-US" sz="2000" dirty="0"/>
          </a:p>
          <a:p>
            <a:pPr marL="0" indent="0">
              <a:lnSpc>
                <a:spcPct val="60000"/>
              </a:lnSpc>
              <a:buFont typeface="Arial"/>
              <a:buNone/>
            </a:pPr>
            <a:r>
              <a:rPr lang="en-US" sz="2000" dirty="0">
                <a:solidFill>
                  <a:srgbClr val="404040"/>
                </a:solidFill>
              </a:rPr>
              <a:t>	free(a);</a:t>
            </a:r>
            <a:endParaRPr lang="en-US" sz="2000" dirty="0"/>
          </a:p>
          <a:p>
            <a:pPr marL="0" indent="0">
              <a:lnSpc>
                <a:spcPct val="60000"/>
              </a:lnSpc>
              <a:buFont typeface="Arial"/>
              <a:buNone/>
            </a:pPr>
            <a:r>
              <a:rPr lang="en-US" sz="2000" dirty="0">
                <a:solidFill>
                  <a:srgbClr val="404040"/>
                </a:solidFill>
              </a:rPr>
              <a:t>}</a:t>
            </a:r>
            <a:endParaRPr lang="en-US" sz="2000" dirty="0"/>
          </a:p>
        </p:txBody>
      </p:sp>
      <p:sp>
        <p:nvSpPr>
          <p:cNvPr id="3" name="Google Shape;1701;p146">
            <a:extLst>
              <a:ext uri="{FF2B5EF4-FFF2-40B4-BE49-F238E27FC236}">
                <a16:creationId xmlns:a16="http://schemas.microsoft.com/office/drawing/2014/main" id="{B0A399D4-632A-3C3E-AF61-6CAF80351B80}"/>
              </a:ext>
            </a:extLst>
          </p:cNvPr>
          <p:cNvSpPr txBox="1"/>
          <p:nvPr/>
        </p:nvSpPr>
        <p:spPr>
          <a:xfrm>
            <a:off x="7879339" y="2158224"/>
            <a:ext cx="3616568" cy="2585283"/>
          </a:xfrm>
          <a:prstGeom prst="rect">
            <a:avLst/>
          </a:prstGeom>
          <a:solidFill>
            <a:srgbClr val="FFC000"/>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800" b="0" i="0" u="none" dirty="0">
                <a:solidFill>
                  <a:srgbClr val="000000"/>
                </a:solidFill>
                <a:latin typeface="Times New Roman" panose="02020603050405020304" pitchFamily="18" charset="0"/>
                <a:cs typeface="Times New Roman" panose="02020603050405020304" pitchFamily="18" charset="0"/>
                <a:sym typeface="Arial"/>
              </a:rPr>
              <a:t>Here, if we de-allocate the memory for the variable ‘a’ using free(a), the memory location pointing to by it is returned to the free pool. Now the pointer variable ‘a’ can be used, but the contents pointed by that cannot be used, because the pointer variable ‘a’ does not contain a valid address now and is called a dangling pointer.</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93074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4" name="Google Shape;1708;p147">
            <a:extLst>
              <a:ext uri="{FF2B5EF4-FFF2-40B4-BE49-F238E27FC236}">
                <a16:creationId xmlns:a16="http://schemas.microsoft.com/office/drawing/2014/main" id="{DEABB32B-2F14-7307-A321-65318C76F95B}"/>
              </a:ext>
            </a:extLst>
          </p:cNvPr>
          <p:cNvPicPr preferRelativeResize="0"/>
          <p:nvPr/>
        </p:nvPicPr>
        <p:blipFill rotWithShape="1">
          <a:blip r:embed="rId4">
            <a:alphaModFix/>
          </a:blip>
          <a:srcRect/>
          <a:stretch/>
        </p:blipFill>
        <p:spPr>
          <a:xfrm>
            <a:off x="4010659" y="1414460"/>
            <a:ext cx="6029325" cy="4029075"/>
          </a:xfrm>
          <a:prstGeom prst="rect">
            <a:avLst/>
          </a:prstGeom>
          <a:noFill/>
          <a:ln>
            <a:noFill/>
          </a:ln>
        </p:spPr>
      </p:pic>
    </p:spTree>
    <p:extLst>
      <p:ext uri="{BB962C8B-B14F-4D97-AF65-F5344CB8AC3E}">
        <p14:creationId xmlns:p14="http://schemas.microsoft.com/office/powerpoint/2010/main" val="41405668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713;p148">
            <a:extLst>
              <a:ext uri="{FF2B5EF4-FFF2-40B4-BE49-F238E27FC236}">
                <a16:creationId xmlns:a16="http://schemas.microsoft.com/office/drawing/2014/main" id="{137BAADE-9C5B-877F-68C8-62B4A1EFC55D}"/>
              </a:ext>
            </a:extLst>
          </p:cNvPr>
          <p:cNvSpPr txBox="1">
            <a:spLocks/>
          </p:cNvSpPr>
          <p:nvPr/>
        </p:nvSpPr>
        <p:spPr>
          <a:xfrm>
            <a:off x="2732314" y="309790"/>
            <a:ext cx="6124575" cy="3746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1600"/>
            </a:pPr>
            <a:r>
              <a:rPr lang="en-US" sz="2400" dirty="0">
                <a:solidFill>
                  <a:srgbClr val="1581AA"/>
                </a:solidFill>
                <a:latin typeface="Times New Roman" panose="02020603050405020304" pitchFamily="18" charset="0"/>
                <a:cs typeface="Times New Roman" panose="02020603050405020304" pitchFamily="18" charset="0"/>
              </a:rPr>
              <a:t>Comparison of Malloc and </a:t>
            </a:r>
            <a:r>
              <a:rPr lang="en-US" sz="2400" dirty="0" err="1">
                <a:solidFill>
                  <a:srgbClr val="1581AA"/>
                </a:solidFill>
                <a:latin typeface="Times New Roman" panose="02020603050405020304" pitchFamily="18" charset="0"/>
                <a:cs typeface="Times New Roman" panose="02020603050405020304" pitchFamily="18" charset="0"/>
              </a:rPr>
              <a:t>Calloc</a:t>
            </a:r>
            <a:endParaRPr lang="en-US" sz="2400" dirty="0">
              <a:latin typeface="Times New Roman" panose="02020603050405020304" pitchFamily="18" charset="0"/>
              <a:cs typeface="Times New Roman" panose="02020603050405020304" pitchFamily="18" charset="0"/>
            </a:endParaRPr>
          </a:p>
        </p:txBody>
      </p:sp>
      <p:graphicFrame>
        <p:nvGraphicFramePr>
          <p:cNvPr id="3" name="Google Shape;1714;p148">
            <a:extLst>
              <a:ext uri="{FF2B5EF4-FFF2-40B4-BE49-F238E27FC236}">
                <a16:creationId xmlns:a16="http://schemas.microsoft.com/office/drawing/2014/main" id="{895D95B3-4EEB-4E70-42CB-9394F06FEFC3}"/>
              </a:ext>
            </a:extLst>
          </p:cNvPr>
          <p:cNvGraphicFramePr/>
          <p:nvPr>
            <p:extLst>
              <p:ext uri="{D42A27DB-BD31-4B8C-83A1-F6EECF244321}">
                <p14:modId xmlns:p14="http://schemas.microsoft.com/office/powerpoint/2010/main" val="573002883"/>
              </p:ext>
            </p:extLst>
          </p:nvPr>
        </p:nvGraphicFramePr>
        <p:xfrm>
          <a:off x="2730863" y="1098685"/>
          <a:ext cx="8361680" cy="5707873"/>
        </p:xfrm>
        <a:graphic>
          <a:graphicData uri="http://schemas.openxmlformats.org/drawingml/2006/table">
            <a:tbl>
              <a:tblPr>
                <a:noFill/>
              </a:tblPr>
              <a:tblGrid>
                <a:gridCol w="719908">
                  <a:extLst>
                    <a:ext uri="{9D8B030D-6E8A-4147-A177-3AD203B41FA5}">
                      <a16:colId xmlns:a16="http://schemas.microsoft.com/office/drawing/2014/main" val="20000"/>
                    </a:ext>
                  </a:extLst>
                </a:gridCol>
                <a:gridCol w="3829938">
                  <a:extLst>
                    <a:ext uri="{9D8B030D-6E8A-4147-A177-3AD203B41FA5}">
                      <a16:colId xmlns:a16="http://schemas.microsoft.com/office/drawing/2014/main" val="20001"/>
                    </a:ext>
                  </a:extLst>
                </a:gridCol>
                <a:gridCol w="3811834">
                  <a:extLst>
                    <a:ext uri="{9D8B030D-6E8A-4147-A177-3AD203B41FA5}">
                      <a16:colId xmlns:a16="http://schemas.microsoft.com/office/drawing/2014/main" val="20002"/>
                    </a:ext>
                  </a:extLst>
                </a:gridCol>
              </a:tblGrid>
              <a:tr h="952983">
                <a:tc>
                  <a:txBody>
                    <a:bodyPr/>
                    <a:lstStyle/>
                    <a:p>
                      <a:pPr marL="0" marR="0" lvl="0" indent="0" algn="l" rtl="0">
                        <a:lnSpc>
                          <a:spcPct val="100000"/>
                        </a:lnSpc>
                        <a:spcBef>
                          <a:spcPts val="0"/>
                        </a:spcBef>
                        <a:spcAft>
                          <a:spcPts val="0"/>
                        </a:spcAft>
                        <a:buClr>
                          <a:srgbClr val="FFFFFF"/>
                        </a:buClr>
                        <a:buSzPts val="1400"/>
                        <a:buFont typeface="Arial"/>
                        <a:buNone/>
                      </a:pPr>
                      <a:r>
                        <a:rPr lang="en-US" sz="1800" b="1" i="0" u="none" strike="noStrike" cap="none">
                          <a:solidFill>
                            <a:srgbClr val="FFFFFF"/>
                          </a:solidFill>
                          <a:latin typeface="Times New Roman" panose="02020603050405020304" pitchFamily="18" charset="0"/>
                          <a:ea typeface="Arial"/>
                          <a:cs typeface="Times New Roman" panose="02020603050405020304" pitchFamily="18" charset="0"/>
                          <a:sym typeface="Arial"/>
                        </a:rPr>
                        <a:t>Sl.No</a:t>
                      </a:r>
                      <a:endParaRPr sz="1800" b="1" i="0" u="none" strike="noStrike" cap="none">
                        <a:solidFill>
                          <a:srgbClr val="FFFFFF"/>
                        </a:solidFill>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400"/>
                        <a:buFont typeface="Arial"/>
                        <a:buNone/>
                      </a:pPr>
                      <a:endParaRPr sz="1800" b="1" i="0" u="none" strike="noStrike" cap="none">
                        <a:solidFill>
                          <a:srgbClr val="FFFFFF"/>
                        </a:solidFill>
                        <a:latin typeface="Times New Roman" panose="02020603050405020304" pitchFamily="18" charset="0"/>
                        <a:ea typeface="Arial"/>
                        <a:cs typeface="Times New Roman" panose="02020603050405020304" pitchFamily="18" charset="0"/>
                        <a:sym typeface="Arial"/>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FFFFFF"/>
                        </a:buClr>
                        <a:buSzPts val="1400"/>
                        <a:buFont typeface="Arial"/>
                        <a:buNone/>
                      </a:pPr>
                      <a:r>
                        <a:rPr lang="en-US" sz="1800" b="1" i="0" u="none" strike="noStrike" cap="none" dirty="0">
                          <a:solidFill>
                            <a:srgbClr val="FFFFFF"/>
                          </a:solidFill>
                          <a:latin typeface="Times New Roman" panose="02020603050405020304" pitchFamily="18" charset="0"/>
                          <a:ea typeface="Arial"/>
                          <a:cs typeface="Times New Roman" panose="02020603050405020304" pitchFamily="18" charset="0"/>
                          <a:sym typeface="Arial"/>
                        </a:rPr>
                        <a:t>malloc ( )</a:t>
                      </a:r>
                      <a:endParaRPr sz="1800" dirty="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FFFFFF"/>
                        </a:buClr>
                        <a:buSzPts val="1400"/>
                        <a:buFont typeface="Arial"/>
                        <a:buNone/>
                      </a:pPr>
                      <a:r>
                        <a:rPr lang="en-US" sz="1800" b="1" i="0" u="none" strike="noStrike" cap="none">
                          <a:solidFill>
                            <a:srgbClr val="FFFFFF"/>
                          </a:solidFill>
                          <a:latin typeface="Times New Roman" panose="02020603050405020304" pitchFamily="18" charset="0"/>
                          <a:ea typeface="Arial"/>
                          <a:cs typeface="Times New Roman" panose="02020603050405020304" pitchFamily="18" charset="0"/>
                          <a:sym typeface="Arial"/>
                        </a:rPr>
                        <a:t>calloc ( )</a:t>
                      </a:r>
                      <a:endParaRPr sz="180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0"/>
                  </a:ext>
                </a:extLst>
              </a:tr>
              <a:tr h="1000546">
                <a:tc>
                  <a:txBody>
                    <a:bodyPr/>
                    <a:lstStyle/>
                    <a:p>
                      <a:pPr marL="0" marR="0" lvl="0" indent="0" algn="l" rtl="0">
                        <a:lnSpc>
                          <a:spcPct val="100000"/>
                        </a:lnSpc>
                        <a:spcBef>
                          <a:spcPts val="0"/>
                        </a:spcBef>
                        <a:spcAft>
                          <a:spcPts val="0"/>
                        </a:spcAft>
                        <a:buClr>
                          <a:srgbClr val="000000"/>
                        </a:buClr>
                        <a:buSzPts val="1400"/>
                        <a:buFont typeface="Arial"/>
                        <a:buNone/>
                      </a:pPr>
                      <a:r>
                        <a:rPr lang="en-US"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rPr>
                        <a:t>1</a:t>
                      </a:r>
                      <a:endParaRPr sz="180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Syntax:ptr</a:t>
                      </a: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 (datatype*) malloc ( size )</a:t>
                      </a:r>
                      <a:endParaRPr sz="18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(Takes only one argument which is the size of the block)</a:t>
                      </a:r>
                      <a:endParaRPr sz="1800" dirty="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Syntax:ptr = (datatype*) calloc (n, size )</a:t>
                      </a:r>
                      <a:endParaRPr sz="180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(Takes 2 arguments, first is number of blocks to be allocated and second is the size of each block)</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1"/>
                  </a:ext>
                </a:extLst>
              </a:tr>
              <a:tr h="595379">
                <a:tc>
                  <a:txBody>
                    <a:bodyPr/>
                    <a:lstStyle/>
                    <a:p>
                      <a:pPr marL="0" marR="0" lvl="0" indent="0" algn="l" rtl="0">
                        <a:lnSpc>
                          <a:spcPct val="100000"/>
                        </a:lnSpc>
                        <a:spcBef>
                          <a:spcPts val="0"/>
                        </a:spcBef>
                        <a:spcAft>
                          <a:spcPts val="0"/>
                        </a:spcAft>
                        <a:buClr>
                          <a:srgbClr val="000000"/>
                        </a:buClr>
                        <a:buSzPts val="1400"/>
                        <a:buFont typeface="Arial"/>
                        <a:buNone/>
                      </a:pPr>
                      <a:r>
                        <a:rPr lang="en-US"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rPr>
                        <a:t>2</a:t>
                      </a:r>
                      <a:endParaRPr sz="180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Allocates a block of memory of specified size.</a:t>
                      </a:r>
                      <a:endParaRPr sz="180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Allocates multiple blocks of memory, each block with same size.</a:t>
                      </a:r>
                      <a:endParaRPr sz="180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2"/>
                  </a:ext>
                </a:extLst>
              </a:tr>
              <a:tr h="520945">
                <a:tc>
                  <a:txBody>
                    <a:bodyPr/>
                    <a:lstStyle/>
                    <a:p>
                      <a:pPr marL="0" marR="0" lvl="0" indent="0" algn="l" rtl="0">
                        <a:lnSpc>
                          <a:spcPct val="100000"/>
                        </a:lnSpc>
                        <a:spcBef>
                          <a:spcPts val="0"/>
                        </a:spcBef>
                        <a:spcAft>
                          <a:spcPts val="0"/>
                        </a:spcAft>
                        <a:buClr>
                          <a:srgbClr val="000000"/>
                        </a:buClr>
                        <a:buSzPts val="1400"/>
                        <a:buFont typeface="Arial"/>
                        <a:buNone/>
                      </a:pPr>
                      <a:r>
                        <a:rPr lang="en-US"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rPr>
                        <a:t>3</a:t>
                      </a:r>
                      <a:endParaRPr sz="180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Allocated space will not be initialized.</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Each byte of the allocated space is initialized to zero.</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3"/>
                  </a:ext>
                </a:extLst>
              </a:tr>
              <a:tr h="714440">
                <a:tc>
                  <a:txBody>
                    <a:bodyPr/>
                    <a:lstStyle/>
                    <a:p>
                      <a:pPr marL="0" marR="0" lvl="0" indent="0" algn="l" rtl="0">
                        <a:lnSpc>
                          <a:spcPct val="100000"/>
                        </a:lnSpc>
                        <a:spcBef>
                          <a:spcPts val="0"/>
                        </a:spcBef>
                        <a:spcAft>
                          <a:spcPts val="0"/>
                        </a:spcAft>
                        <a:buClr>
                          <a:srgbClr val="000000"/>
                        </a:buClr>
                        <a:buSzPts val="1400"/>
                        <a:buFont typeface="Arial"/>
                        <a:buNone/>
                      </a:pPr>
                      <a:r>
                        <a:rPr lang="en-US"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rPr>
                        <a:t>4</a:t>
                      </a:r>
                      <a:endParaRPr sz="180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Since no initialization takes place, time efficiency is higher than </a:t>
                      </a:r>
                      <a:r>
                        <a:rPr lang="en-US" sz="1800" b="0" i="0" u="none" strike="noStrike" cap="none" dirty="0" err="1">
                          <a:solidFill>
                            <a:srgbClr val="000000"/>
                          </a:solidFill>
                          <a:latin typeface="Times New Roman" panose="02020603050405020304" pitchFamily="18" charset="0"/>
                          <a:ea typeface="Times New Roman"/>
                          <a:cs typeface="Times New Roman" panose="02020603050405020304" pitchFamily="18" charset="0"/>
                          <a:sym typeface="Times New Roman"/>
                        </a:rPr>
                        <a:t>calloc</a:t>
                      </a: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endParaRPr sz="1800" dirty="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calloc( ) is computationally more expensive because of zero filling but, occasionally, more convenient than malloc( )</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4"/>
                  </a:ext>
                </a:extLst>
              </a:tr>
              <a:tr h="715266">
                <a:tc>
                  <a:txBody>
                    <a:bodyPr/>
                    <a:lstStyle/>
                    <a:p>
                      <a:pPr marL="0" marR="0" lvl="0" indent="0" algn="l" rtl="0">
                        <a:lnSpc>
                          <a:spcPct val="100000"/>
                        </a:lnSpc>
                        <a:spcBef>
                          <a:spcPts val="0"/>
                        </a:spcBef>
                        <a:spcAft>
                          <a:spcPts val="0"/>
                        </a:spcAft>
                        <a:buClr>
                          <a:srgbClr val="000000"/>
                        </a:buClr>
                        <a:buSzPts val="1400"/>
                        <a:buFont typeface="Arial"/>
                        <a:buNone/>
                      </a:pPr>
                      <a:r>
                        <a:rPr lang="en-US" sz="1800" b="0" i="0" u="none" strike="noStrike" cap="none">
                          <a:solidFill>
                            <a:srgbClr val="000000"/>
                          </a:solidFill>
                          <a:latin typeface="Times New Roman" panose="02020603050405020304" pitchFamily="18" charset="0"/>
                          <a:ea typeface="Arial"/>
                          <a:cs typeface="Times New Roman" panose="02020603050405020304" pitchFamily="18" charset="0"/>
                          <a:sym typeface="Arial"/>
                        </a:rPr>
                        <a:t>5</a:t>
                      </a:r>
                      <a:endParaRPr sz="1800">
                        <a:latin typeface="Times New Roman" panose="02020603050405020304" pitchFamily="18" charset="0"/>
                        <a:cs typeface="Times New Roman" panose="02020603050405020304" pitchFamily="18" charset="0"/>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a:solidFill>
                            <a:srgbClr val="000000"/>
                          </a:solidFill>
                          <a:latin typeface="Times New Roman" panose="02020603050405020304" pitchFamily="18" charset="0"/>
                          <a:ea typeface="Times New Roman"/>
                          <a:cs typeface="Times New Roman" panose="02020603050405020304" pitchFamily="18" charset="0"/>
                          <a:sym typeface="Times New Roman"/>
                        </a:rPr>
                        <a:t>This function can allocate the required size of memory even if the memory is not available contiguously but available at different locations.</a:t>
                      </a:r>
                      <a:endParaRPr sz="180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tc>
                  <a:txBody>
                    <a:bodyPr/>
                    <a:lstStyle/>
                    <a:p>
                      <a:pPr marL="0" marR="0" lvl="0" indent="0" algn="l" rtl="0">
                        <a:lnSpc>
                          <a:spcPct val="100000"/>
                        </a:lnSpc>
                        <a:spcBef>
                          <a:spcPts val="0"/>
                        </a:spcBef>
                        <a:spcAft>
                          <a:spcPts val="0"/>
                        </a:spcAft>
                        <a:buClr>
                          <a:srgbClr val="000000"/>
                        </a:buClr>
                        <a:buSzPts val="1200"/>
                        <a:buFont typeface="Times New Roman"/>
                        <a:buNone/>
                      </a:pPr>
                      <a:r>
                        <a:rPr lang="en-US" sz="18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This function can allocate the required number of blocks contiguously. If the required memory cannot be allocated contiguously, it returns NULL.</a:t>
                      </a:r>
                      <a:endParaRPr sz="1800" dirty="0">
                        <a:latin typeface="Times New Roman" panose="02020603050405020304" pitchFamily="18" charset="0"/>
                        <a:cs typeface="Times New Roman" panose="02020603050405020304" pitchFamily="18" charset="0"/>
                      </a:endParaRPr>
                    </a:p>
                  </a:txBody>
                  <a:tcPr marL="68575" marR="68575" marT="0" marB="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FC000"/>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785015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CEF3030-2B64-2AED-E3A0-0BAC56286CCF}"/>
              </a:ext>
            </a:extLst>
          </p:cNvPr>
          <p:cNvSpPr txBox="1"/>
          <p:nvPr/>
        </p:nvSpPr>
        <p:spPr>
          <a:xfrm>
            <a:off x="3009344" y="1474469"/>
            <a:ext cx="8126742" cy="830997"/>
          </a:xfrm>
          <a:prstGeom prst="rect">
            <a:avLst/>
          </a:prstGeom>
          <a:noFill/>
        </p:spPr>
        <p:txBody>
          <a:bodyPr wrap="square" rtlCol="0">
            <a:spAutoFit/>
          </a:bodyPr>
          <a:lstStyle/>
          <a:p>
            <a:r>
              <a:rPr lang="en-US" sz="2400" dirty="0">
                <a:solidFill>
                  <a:schemeClr val="accent5"/>
                </a:solidFill>
                <a:latin typeface="Times New Roman" panose="02020603050405020304" pitchFamily="18" charset="0"/>
                <a:cs typeface="Times New Roman" panose="02020603050405020304" pitchFamily="18" charset="0"/>
              </a:rPr>
              <a:t>Dynamic memory allocation for a 1-D array in C using malloc(),</a:t>
            </a:r>
            <a:r>
              <a:rPr lang="en-US" sz="2400" dirty="0" err="1">
                <a:solidFill>
                  <a:schemeClr val="accent5"/>
                </a:solidFill>
                <a:latin typeface="Times New Roman" panose="02020603050405020304" pitchFamily="18" charset="0"/>
                <a:cs typeface="Times New Roman" panose="02020603050405020304" pitchFamily="18" charset="0"/>
              </a:rPr>
              <a:t>calloc</a:t>
            </a:r>
            <a:r>
              <a:rPr lang="en-US" sz="2400" dirty="0">
                <a:solidFill>
                  <a:schemeClr val="accent5"/>
                </a:solidFill>
                <a:latin typeface="Times New Roman" panose="02020603050405020304" pitchFamily="18" charset="0"/>
                <a:cs typeface="Times New Roman" panose="02020603050405020304" pitchFamily="18" charset="0"/>
              </a:rPr>
              <a:t>() and </a:t>
            </a:r>
            <a:r>
              <a:rPr lang="en-US" sz="2400" dirty="0" err="1">
                <a:solidFill>
                  <a:schemeClr val="accent5"/>
                </a:solidFill>
                <a:latin typeface="Times New Roman" panose="02020603050405020304" pitchFamily="18" charset="0"/>
                <a:cs typeface="Times New Roman" panose="02020603050405020304" pitchFamily="18" charset="0"/>
              </a:rPr>
              <a:t>realloc</a:t>
            </a:r>
            <a:r>
              <a:rPr lang="en-US" sz="2400" dirty="0">
                <a:solidFill>
                  <a:schemeClr val="accent5"/>
                </a:solidFill>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5295ED00-9BF1-2D8E-2CE7-9799815206E5}"/>
              </a:ext>
            </a:extLst>
          </p:cNvPr>
          <p:cNvSpPr txBox="1"/>
          <p:nvPr/>
        </p:nvSpPr>
        <p:spPr>
          <a:xfrm>
            <a:off x="2913743" y="2628481"/>
            <a:ext cx="7381664" cy="307776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solidFill>
                  <a:schemeClr val="accent2"/>
                </a:solidFill>
              </a:rPr>
              <a:t>Using malloc()</a:t>
            </a:r>
          </a:p>
          <a:p>
            <a:pPr>
              <a:lnSpc>
                <a:spcPct val="150000"/>
              </a:lnSpc>
            </a:pPr>
            <a:r>
              <a:rPr lang="en-US" sz="2000" dirty="0"/>
              <a:t>int* </a:t>
            </a:r>
            <a:r>
              <a:rPr lang="en-US" sz="2000" dirty="0" err="1"/>
              <a:t>arr</a:t>
            </a:r>
            <a:r>
              <a:rPr lang="en-US" sz="2000" dirty="0"/>
              <a:t> = (int*)malloc(n * </a:t>
            </a:r>
            <a:r>
              <a:rPr lang="en-US" sz="2000" dirty="0" err="1"/>
              <a:t>sizeof</a:t>
            </a:r>
            <a:r>
              <a:rPr lang="en-US" sz="2000" dirty="0"/>
              <a:t>(int));</a:t>
            </a:r>
          </a:p>
          <a:p>
            <a:pPr marL="342900" indent="-342900">
              <a:lnSpc>
                <a:spcPct val="150000"/>
              </a:lnSpc>
              <a:buFont typeface="Arial" panose="020B0604020202020204" pitchFamily="34" charset="0"/>
              <a:buChar char="•"/>
            </a:pPr>
            <a:r>
              <a:rPr lang="en-US" sz="2000" dirty="0" err="1">
                <a:solidFill>
                  <a:schemeClr val="accent2"/>
                </a:solidFill>
              </a:rPr>
              <a:t>Calloc</a:t>
            </a:r>
            <a:r>
              <a:rPr lang="en-US" sz="2000" dirty="0">
                <a:solidFill>
                  <a:schemeClr val="accent2"/>
                </a:solidFill>
              </a:rPr>
              <a:t> initializes the allocated memory to Zero</a:t>
            </a:r>
          </a:p>
          <a:p>
            <a:pPr>
              <a:lnSpc>
                <a:spcPct val="150000"/>
              </a:lnSpc>
            </a:pPr>
            <a:r>
              <a:rPr lang="en-US" sz="2000" dirty="0"/>
              <a:t>int* </a:t>
            </a:r>
            <a:r>
              <a:rPr lang="en-US" sz="2000" dirty="0" err="1"/>
              <a:t>arr</a:t>
            </a:r>
            <a:r>
              <a:rPr lang="en-US" sz="2000" dirty="0"/>
              <a:t> = (int*)</a:t>
            </a:r>
            <a:r>
              <a:rPr lang="en-US" sz="2000" dirty="0" err="1"/>
              <a:t>calloc</a:t>
            </a:r>
            <a:r>
              <a:rPr lang="en-US" sz="2000" dirty="0"/>
              <a:t>(n, </a:t>
            </a:r>
            <a:r>
              <a:rPr lang="en-US" sz="2000" dirty="0" err="1"/>
              <a:t>sizeof</a:t>
            </a:r>
            <a:r>
              <a:rPr lang="en-US" sz="2000" dirty="0"/>
              <a:t>(int));</a:t>
            </a:r>
          </a:p>
          <a:p>
            <a:pPr marL="342900" indent="-342900">
              <a:lnSpc>
                <a:spcPct val="150000"/>
              </a:lnSpc>
              <a:buFont typeface="Arial" panose="020B0604020202020204" pitchFamily="34" charset="0"/>
              <a:buChar char="•"/>
            </a:pPr>
            <a:r>
              <a:rPr lang="en-US" sz="2000" dirty="0" err="1">
                <a:solidFill>
                  <a:schemeClr val="accent2"/>
                </a:solidFill>
              </a:rPr>
              <a:t>realloc</a:t>
            </a:r>
            <a:r>
              <a:rPr lang="en-US" sz="2000" dirty="0">
                <a:solidFill>
                  <a:schemeClr val="accent2"/>
                </a:solidFill>
              </a:rPr>
              <a:t>() resizes the previously allocated memory block</a:t>
            </a:r>
          </a:p>
          <a:p>
            <a:pPr>
              <a:lnSpc>
                <a:spcPct val="150000"/>
              </a:lnSpc>
            </a:pPr>
            <a:r>
              <a:rPr lang="en-US" sz="2000" dirty="0" err="1"/>
              <a:t>arr</a:t>
            </a:r>
            <a:r>
              <a:rPr lang="en-US" sz="2000" dirty="0"/>
              <a:t> = (int*)</a:t>
            </a:r>
            <a:r>
              <a:rPr lang="en-US" sz="2000" dirty="0" err="1"/>
              <a:t>realloc</a:t>
            </a:r>
            <a:r>
              <a:rPr lang="en-US" sz="2000" dirty="0"/>
              <a:t>(</a:t>
            </a:r>
            <a:r>
              <a:rPr lang="en-US" sz="2000" dirty="0" err="1"/>
              <a:t>arr</a:t>
            </a:r>
            <a:r>
              <a:rPr lang="en-US" sz="2000" dirty="0"/>
              <a:t>, </a:t>
            </a:r>
            <a:r>
              <a:rPr lang="en-US" sz="2000" dirty="0" err="1"/>
              <a:t>new_size</a:t>
            </a:r>
            <a:r>
              <a:rPr lang="en-US" sz="2000" dirty="0"/>
              <a:t> * </a:t>
            </a:r>
            <a:r>
              <a:rPr lang="en-US" sz="2000" dirty="0" err="1"/>
              <a:t>sizeof</a:t>
            </a:r>
            <a:r>
              <a:rPr lang="en-US" sz="2000" dirty="0"/>
              <a:t>(int));</a:t>
            </a:r>
          </a:p>
          <a:p>
            <a:endParaRPr lang="en-US" dirty="0"/>
          </a:p>
        </p:txBody>
      </p:sp>
    </p:spTree>
    <p:extLst>
      <p:ext uri="{BB962C8B-B14F-4D97-AF65-F5344CB8AC3E}">
        <p14:creationId xmlns:p14="http://schemas.microsoft.com/office/powerpoint/2010/main" val="4660674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1505;p122">
            <a:extLst>
              <a:ext uri="{FF2B5EF4-FFF2-40B4-BE49-F238E27FC236}">
                <a16:creationId xmlns:a16="http://schemas.microsoft.com/office/drawing/2014/main" id="{0F14A60C-CF69-E378-7F1D-C0046235549E}"/>
              </a:ext>
            </a:extLst>
          </p:cNvPr>
          <p:cNvPicPr preferRelativeResize="0">
            <a:picLocks noGrp="1"/>
          </p:cNvPicPr>
          <p:nvPr>
            <p:ph type="body" idx="1"/>
          </p:nvPr>
        </p:nvPicPr>
        <p:blipFill rotWithShape="1">
          <a:blip r:embed="rId4">
            <a:alphaModFix/>
          </a:blip>
          <a:srcRect/>
          <a:stretch/>
        </p:blipFill>
        <p:spPr>
          <a:xfrm>
            <a:off x="2913743" y="773744"/>
            <a:ext cx="8303684" cy="5082769"/>
          </a:xfrm>
          <a:prstGeom prst="rect">
            <a:avLst/>
          </a:prstGeom>
          <a:noFill/>
          <a:ln>
            <a:noFill/>
          </a:ln>
        </p:spPr>
      </p:pic>
    </p:spTree>
    <p:extLst>
      <p:ext uri="{BB962C8B-B14F-4D97-AF65-F5344CB8AC3E}">
        <p14:creationId xmlns:p14="http://schemas.microsoft.com/office/powerpoint/2010/main" val="441007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792;p161">
            <a:extLst>
              <a:ext uri="{FF2B5EF4-FFF2-40B4-BE49-F238E27FC236}">
                <a16:creationId xmlns:a16="http://schemas.microsoft.com/office/drawing/2014/main" id="{529D0402-8018-4FC0-1685-863AF593F8FB}"/>
              </a:ext>
            </a:extLst>
          </p:cNvPr>
          <p:cNvSpPr txBox="1">
            <a:spLocks/>
          </p:cNvSpPr>
          <p:nvPr/>
        </p:nvSpPr>
        <p:spPr>
          <a:xfrm>
            <a:off x="2532743" y="178707"/>
            <a:ext cx="7772400" cy="536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2400"/>
            </a:pPr>
            <a:r>
              <a:rPr lang="en-US" sz="2400">
                <a:solidFill>
                  <a:srgbClr val="1581AA"/>
                </a:solidFill>
              </a:rPr>
              <a:t>Two-Dimensional Arrays using pointer to pointer</a:t>
            </a:r>
            <a:endParaRPr lang="en-US" dirty="0"/>
          </a:p>
        </p:txBody>
      </p:sp>
      <p:sp>
        <p:nvSpPr>
          <p:cNvPr id="3" name="Google Shape;1793;p161">
            <a:extLst>
              <a:ext uri="{FF2B5EF4-FFF2-40B4-BE49-F238E27FC236}">
                <a16:creationId xmlns:a16="http://schemas.microsoft.com/office/drawing/2014/main" id="{95B26970-8C2F-584C-274A-ED60D7E0D70A}"/>
              </a:ext>
            </a:extLst>
          </p:cNvPr>
          <p:cNvSpPr txBox="1">
            <a:spLocks/>
          </p:cNvSpPr>
          <p:nvPr/>
        </p:nvSpPr>
        <p:spPr>
          <a:xfrm>
            <a:off x="2826483" y="865163"/>
            <a:ext cx="8200746" cy="50566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2400" dirty="0">
                <a:solidFill>
                  <a:srgbClr val="404040"/>
                </a:solidFill>
              </a:rPr>
              <a:t>For multidimensional arrays the concept of array-of-arrays is used. A 2-dimensional array is represented as a 1-dimensional array of pointers where each pointer contains address of one dimensional array.</a:t>
            </a:r>
            <a:endParaRPr lang="en-US" sz="2400" dirty="0"/>
          </a:p>
          <a:p>
            <a:pPr marL="0" indent="0">
              <a:lnSpc>
                <a:spcPct val="100000"/>
              </a:lnSpc>
              <a:buFont typeface="Arial"/>
              <a:buNone/>
            </a:pPr>
            <a:r>
              <a:rPr lang="en-US" sz="2400" dirty="0">
                <a:solidFill>
                  <a:srgbClr val="404040"/>
                </a:solidFill>
              </a:rPr>
              <a:t>EX: To represent a 2-dimensional array int a[3][5]; we create a 1-dimensional array ‘a’ whose length is 3; each element of ‘a’ is a 1-dimensional array whose length is 5.</a:t>
            </a:r>
            <a:endParaRPr lang="en-US" sz="2400" dirty="0"/>
          </a:p>
          <a:p>
            <a:pPr marL="0" indent="0">
              <a:lnSpc>
                <a:spcPct val="100000"/>
              </a:lnSpc>
              <a:buFont typeface="Arial"/>
              <a:buNone/>
            </a:pPr>
            <a:r>
              <a:rPr lang="en-US" sz="2400" dirty="0">
                <a:solidFill>
                  <a:srgbClr val="404040"/>
                </a:solidFill>
              </a:rPr>
              <a:t>The following shows the memory structure.</a:t>
            </a:r>
            <a:endParaRPr lang="en-US" sz="2400" dirty="0"/>
          </a:p>
        </p:txBody>
      </p:sp>
    </p:spTree>
    <p:extLst>
      <p:ext uri="{BB962C8B-B14F-4D97-AF65-F5344CB8AC3E}">
        <p14:creationId xmlns:p14="http://schemas.microsoft.com/office/powerpoint/2010/main" val="608112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4" name="Google Shape;1792;p161">
            <a:extLst>
              <a:ext uri="{FF2B5EF4-FFF2-40B4-BE49-F238E27FC236}">
                <a16:creationId xmlns:a16="http://schemas.microsoft.com/office/drawing/2014/main" id="{883658BA-8683-8404-B3EA-C7C21BFC2489}"/>
              </a:ext>
            </a:extLst>
          </p:cNvPr>
          <p:cNvSpPr txBox="1">
            <a:spLocks/>
          </p:cNvSpPr>
          <p:nvPr/>
        </p:nvSpPr>
        <p:spPr>
          <a:xfrm>
            <a:off x="2619829" y="200479"/>
            <a:ext cx="7772400" cy="536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100000"/>
              </a:lnSpc>
              <a:buClr>
                <a:srgbClr val="1581AA"/>
              </a:buClr>
              <a:buSzPts val="2400"/>
            </a:pPr>
            <a:r>
              <a:rPr lang="en-US" sz="2400">
                <a:solidFill>
                  <a:srgbClr val="1581AA"/>
                </a:solidFill>
              </a:rPr>
              <a:t>Two-Dimensional Arrays using pointer to pointer</a:t>
            </a:r>
            <a:endParaRPr lang="en-US" dirty="0"/>
          </a:p>
        </p:txBody>
      </p:sp>
      <p:sp>
        <p:nvSpPr>
          <p:cNvPr id="5" name="Google Shape;1793;p161">
            <a:extLst>
              <a:ext uri="{FF2B5EF4-FFF2-40B4-BE49-F238E27FC236}">
                <a16:creationId xmlns:a16="http://schemas.microsoft.com/office/drawing/2014/main" id="{4BEA9F98-04C6-64A0-0640-B3E339557942}"/>
              </a:ext>
            </a:extLst>
          </p:cNvPr>
          <p:cNvSpPr txBox="1">
            <a:spLocks/>
          </p:cNvSpPr>
          <p:nvPr/>
        </p:nvSpPr>
        <p:spPr>
          <a:xfrm>
            <a:off x="2872994" y="1474470"/>
            <a:ext cx="7508875" cy="3937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00000"/>
              </a:lnSpc>
              <a:spcBef>
                <a:spcPts val="0"/>
              </a:spcBef>
              <a:buFont typeface="Arial"/>
              <a:buNone/>
            </a:pPr>
            <a:r>
              <a:rPr lang="en-US" sz="2400" dirty="0">
                <a:solidFill>
                  <a:srgbClr val="404040"/>
                </a:solidFill>
              </a:rPr>
              <a:t>For multidimensional arrays the concept of array-of-arrays is used. A 2-dimensional array is </a:t>
            </a:r>
            <a:endParaRPr lang="en-US" sz="2400" dirty="0"/>
          </a:p>
          <a:p>
            <a:pPr marL="0" indent="0" algn="just">
              <a:lnSpc>
                <a:spcPct val="100000"/>
              </a:lnSpc>
              <a:buFont typeface="Arial"/>
              <a:buNone/>
            </a:pPr>
            <a:r>
              <a:rPr lang="en-US" sz="2400" dirty="0">
                <a:solidFill>
                  <a:srgbClr val="404040"/>
                </a:solidFill>
              </a:rPr>
              <a:t>represented as a 1-dimensional array of pointers where each pointer contains address of one </a:t>
            </a:r>
            <a:endParaRPr lang="en-US" sz="2400" dirty="0"/>
          </a:p>
          <a:p>
            <a:pPr marL="0" indent="0" algn="just">
              <a:lnSpc>
                <a:spcPct val="100000"/>
              </a:lnSpc>
              <a:buFont typeface="Arial"/>
              <a:buNone/>
            </a:pPr>
            <a:r>
              <a:rPr lang="en-US" sz="2400" dirty="0">
                <a:solidFill>
                  <a:srgbClr val="404040"/>
                </a:solidFill>
              </a:rPr>
              <a:t>dimensional array.</a:t>
            </a:r>
            <a:endParaRPr lang="en-US" sz="2400" dirty="0"/>
          </a:p>
          <a:p>
            <a:pPr marL="0" indent="0" algn="just">
              <a:lnSpc>
                <a:spcPct val="100000"/>
              </a:lnSpc>
              <a:buFont typeface="Arial"/>
              <a:buNone/>
            </a:pPr>
            <a:r>
              <a:rPr lang="en-US" sz="2400" dirty="0">
                <a:solidFill>
                  <a:srgbClr val="404040"/>
                </a:solidFill>
              </a:rPr>
              <a:t>EX: To represent a 2-dimensional array int a[3][5]; we create a 1-dimensional array ‘a’ whose </a:t>
            </a:r>
            <a:endParaRPr lang="en-US" sz="2400" dirty="0"/>
          </a:p>
          <a:p>
            <a:pPr marL="0" indent="0" algn="just">
              <a:lnSpc>
                <a:spcPct val="100000"/>
              </a:lnSpc>
              <a:buFont typeface="Arial"/>
              <a:buNone/>
            </a:pPr>
            <a:r>
              <a:rPr lang="en-US" sz="2400" dirty="0">
                <a:solidFill>
                  <a:srgbClr val="404040"/>
                </a:solidFill>
              </a:rPr>
              <a:t>length is 3; each element of ‘a’ is a 1-dimensional array whose length is 5.</a:t>
            </a:r>
            <a:endParaRPr lang="en-US" sz="2400" dirty="0"/>
          </a:p>
          <a:p>
            <a:pPr marL="0" indent="0" algn="just">
              <a:lnSpc>
                <a:spcPct val="100000"/>
              </a:lnSpc>
              <a:buFont typeface="Arial"/>
              <a:buNone/>
            </a:pPr>
            <a:r>
              <a:rPr lang="en-US" sz="2400" dirty="0">
                <a:solidFill>
                  <a:srgbClr val="404040"/>
                </a:solidFill>
              </a:rPr>
              <a:t>The following shows the memory structure.</a:t>
            </a:r>
            <a:endParaRPr lang="en-US" sz="2400" dirty="0"/>
          </a:p>
        </p:txBody>
      </p:sp>
    </p:spTree>
    <p:extLst>
      <p:ext uri="{BB962C8B-B14F-4D97-AF65-F5344CB8AC3E}">
        <p14:creationId xmlns:p14="http://schemas.microsoft.com/office/powerpoint/2010/main" val="919027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2" name="Google Shape;1800;p162">
            <a:extLst>
              <a:ext uri="{FF2B5EF4-FFF2-40B4-BE49-F238E27FC236}">
                <a16:creationId xmlns:a16="http://schemas.microsoft.com/office/drawing/2014/main" id="{44190EB2-0D42-F5D4-F70E-4239F64AE4B8}"/>
              </a:ext>
            </a:extLst>
          </p:cNvPr>
          <p:cNvPicPr preferRelativeResize="0"/>
          <p:nvPr/>
        </p:nvPicPr>
        <p:blipFill rotWithShape="1">
          <a:blip r:embed="rId4">
            <a:alphaModFix/>
          </a:blip>
          <a:srcRect/>
          <a:stretch/>
        </p:blipFill>
        <p:spPr>
          <a:xfrm>
            <a:off x="3104963" y="1356395"/>
            <a:ext cx="7998466" cy="3857862"/>
          </a:xfrm>
          <a:prstGeom prst="rect">
            <a:avLst/>
          </a:prstGeom>
          <a:noFill/>
          <a:ln>
            <a:noFill/>
          </a:ln>
        </p:spPr>
      </p:pic>
    </p:spTree>
    <p:extLst>
      <p:ext uri="{BB962C8B-B14F-4D97-AF65-F5344CB8AC3E}">
        <p14:creationId xmlns:p14="http://schemas.microsoft.com/office/powerpoint/2010/main" val="1943455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805;p163">
            <a:extLst>
              <a:ext uri="{FF2B5EF4-FFF2-40B4-BE49-F238E27FC236}">
                <a16:creationId xmlns:a16="http://schemas.microsoft.com/office/drawing/2014/main" id="{E7573302-BC27-895B-C807-21A310669991}"/>
              </a:ext>
            </a:extLst>
          </p:cNvPr>
          <p:cNvSpPr txBox="1">
            <a:spLocks/>
          </p:cNvSpPr>
          <p:nvPr/>
        </p:nvSpPr>
        <p:spPr>
          <a:xfrm>
            <a:off x="2871817" y="541970"/>
            <a:ext cx="7429500" cy="4410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gn="just">
              <a:lnSpc>
                <a:spcPct val="100000"/>
              </a:lnSpc>
              <a:spcBef>
                <a:spcPts val="0"/>
              </a:spcBef>
              <a:buSzPts val="1600"/>
              <a:buFont typeface="Arial"/>
              <a:buNone/>
            </a:pPr>
            <a:r>
              <a:rPr lang="en-US" sz="2400" dirty="0">
                <a:solidFill>
                  <a:srgbClr val="404040"/>
                </a:solidFill>
                <a:latin typeface="Times New Roman" panose="02020603050405020304" pitchFamily="18" charset="0"/>
                <a:cs typeface="Times New Roman" panose="02020603050405020304" pitchFamily="18" charset="0"/>
              </a:rPr>
              <a:t>The element a[</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][j] is found by first accessing the pointer in a[</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 This gives the address of the zero </a:t>
            </a:r>
            <a:r>
              <a:rPr lang="en-US" sz="2400" dirty="0" err="1">
                <a:solidFill>
                  <a:srgbClr val="404040"/>
                </a:solidFill>
                <a:latin typeface="Times New Roman" panose="02020603050405020304" pitchFamily="18" charset="0"/>
                <a:cs typeface="Times New Roman" panose="02020603050405020304" pitchFamily="18" charset="0"/>
              </a:rPr>
              <a:t>th</a:t>
            </a:r>
            <a:r>
              <a:rPr lang="en-US" sz="2400" dirty="0">
                <a:solidFill>
                  <a:srgbClr val="404040"/>
                </a:solidFill>
                <a:latin typeface="Times New Roman" panose="02020603050405020304" pitchFamily="18" charset="0"/>
                <a:cs typeface="Times New Roman" panose="02020603050405020304" pitchFamily="18" charset="0"/>
              </a:rPr>
              <a:t> element of row ‘</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 of the array. Then by adding ‘j’ to this pointer the address of the </a:t>
            </a:r>
            <a:r>
              <a:rPr lang="en-US" sz="2400" dirty="0" err="1">
                <a:solidFill>
                  <a:srgbClr val="404040"/>
                </a:solidFill>
                <a:latin typeface="Times New Roman" panose="02020603050405020304" pitchFamily="18" charset="0"/>
                <a:cs typeface="Times New Roman" panose="02020603050405020304" pitchFamily="18" charset="0"/>
              </a:rPr>
              <a:t>jth</a:t>
            </a:r>
            <a:r>
              <a:rPr lang="en-US" sz="2400" dirty="0">
                <a:solidFill>
                  <a:srgbClr val="404040"/>
                </a:solidFill>
                <a:latin typeface="Times New Roman" panose="02020603050405020304" pitchFamily="18" charset="0"/>
                <a:cs typeface="Times New Roman" panose="02020603050405020304" pitchFamily="18" charset="0"/>
              </a:rPr>
              <a:t> element of row ‘</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 is found</a:t>
            </a:r>
            <a:endParaRPr lang="en-US" sz="2400" dirty="0">
              <a:latin typeface="Times New Roman" panose="02020603050405020304" pitchFamily="18" charset="0"/>
              <a:cs typeface="Times New Roman" panose="02020603050405020304" pitchFamily="18" charset="0"/>
            </a:endParaRPr>
          </a:p>
          <a:p>
            <a:pPr marL="0" indent="0" algn="just">
              <a:lnSpc>
                <a:spcPct val="100000"/>
              </a:lnSpc>
              <a:buSzPts val="1600"/>
              <a:buFont typeface="Arial"/>
              <a:buNone/>
            </a:pPr>
            <a:r>
              <a:rPr lang="en-US" sz="2400" dirty="0">
                <a:solidFill>
                  <a:srgbClr val="404040"/>
                </a:solidFill>
                <a:latin typeface="Times New Roman" panose="02020603050405020304" pitchFamily="18" charset="0"/>
                <a:cs typeface="Times New Roman" panose="02020603050405020304" pitchFamily="18" charset="0"/>
              </a:rPr>
              <a:t>This means,</a:t>
            </a:r>
            <a:endParaRPr lang="en-US" sz="2400" dirty="0">
              <a:latin typeface="Times New Roman" panose="02020603050405020304" pitchFamily="18" charset="0"/>
              <a:cs typeface="Times New Roman" panose="02020603050405020304" pitchFamily="18" charset="0"/>
            </a:endParaRPr>
          </a:p>
          <a:p>
            <a:pPr marL="0" indent="-101600" algn="just">
              <a:lnSpc>
                <a:spcPct val="100000"/>
              </a:lnSpc>
              <a:buClr>
                <a:srgbClr val="353535"/>
              </a:buClr>
              <a:buSzPts val="1600"/>
            </a:pPr>
            <a:r>
              <a:rPr lang="en-US" sz="2400" dirty="0">
                <a:solidFill>
                  <a:srgbClr val="404040"/>
                </a:solidFill>
                <a:latin typeface="Times New Roman" panose="02020603050405020304" pitchFamily="18" charset="0"/>
                <a:cs typeface="Times New Roman" panose="02020603050405020304" pitchFamily="18" charset="0"/>
              </a:rPr>
              <a:t>The expression *(a + </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 + j points to the </a:t>
            </a:r>
            <a:r>
              <a:rPr lang="en-US" sz="2400" dirty="0" err="1">
                <a:solidFill>
                  <a:srgbClr val="404040"/>
                </a:solidFill>
                <a:latin typeface="Times New Roman" panose="02020603050405020304" pitchFamily="18" charset="0"/>
                <a:cs typeface="Times New Roman" panose="02020603050405020304" pitchFamily="18" charset="0"/>
              </a:rPr>
              <a:t>jth</a:t>
            </a:r>
            <a:r>
              <a:rPr lang="en-US" sz="2400" dirty="0">
                <a:solidFill>
                  <a:srgbClr val="404040"/>
                </a:solidFill>
                <a:latin typeface="Times New Roman" panose="02020603050405020304" pitchFamily="18" charset="0"/>
                <a:cs typeface="Times New Roman" panose="02020603050405020304" pitchFamily="18" charset="0"/>
              </a:rPr>
              <a:t> element in the </a:t>
            </a:r>
            <a:r>
              <a:rPr lang="en-US" sz="2400" dirty="0" err="1">
                <a:solidFill>
                  <a:srgbClr val="404040"/>
                </a:solidFill>
                <a:latin typeface="Times New Roman" panose="02020603050405020304" pitchFamily="18" charset="0"/>
                <a:cs typeface="Times New Roman" panose="02020603050405020304" pitchFamily="18" charset="0"/>
              </a:rPr>
              <a:t>ith</a:t>
            </a:r>
            <a:r>
              <a:rPr lang="en-US" sz="2400" dirty="0">
                <a:solidFill>
                  <a:srgbClr val="404040"/>
                </a:solidFill>
                <a:latin typeface="Times New Roman" panose="02020603050405020304" pitchFamily="18" charset="0"/>
                <a:cs typeface="Times New Roman" panose="02020603050405020304" pitchFamily="18" charset="0"/>
              </a:rPr>
              <a:t> row i.e. *(a + </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 + j = &amp;a[</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][j]</a:t>
            </a:r>
            <a:endParaRPr lang="en-US" sz="2400" dirty="0">
              <a:latin typeface="Times New Roman" panose="02020603050405020304" pitchFamily="18" charset="0"/>
              <a:cs typeface="Times New Roman" panose="02020603050405020304" pitchFamily="18" charset="0"/>
            </a:endParaRPr>
          </a:p>
          <a:p>
            <a:pPr marL="0" indent="-101600" algn="just">
              <a:lnSpc>
                <a:spcPct val="100000"/>
              </a:lnSpc>
              <a:buClr>
                <a:srgbClr val="353535"/>
              </a:buClr>
              <a:buSzPts val="1600"/>
            </a:pPr>
            <a:r>
              <a:rPr lang="en-US" sz="2400" dirty="0">
                <a:solidFill>
                  <a:srgbClr val="404040"/>
                </a:solidFill>
                <a:latin typeface="Times New Roman" panose="02020603050405020304" pitchFamily="18" charset="0"/>
                <a:cs typeface="Times New Roman" panose="02020603050405020304" pitchFamily="18" charset="0"/>
              </a:rPr>
              <a:t>The expression *( *(a + </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 + j ) gives the value of the element in </a:t>
            </a:r>
            <a:r>
              <a:rPr lang="en-US" sz="2400" dirty="0" err="1">
                <a:solidFill>
                  <a:srgbClr val="404040"/>
                </a:solidFill>
                <a:latin typeface="Times New Roman" panose="02020603050405020304" pitchFamily="18" charset="0"/>
                <a:cs typeface="Times New Roman" panose="02020603050405020304" pitchFamily="18" charset="0"/>
              </a:rPr>
              <a:t>ith</a:t>
            </a:r>
            <a:r>
              <a:rPr lang="en-US" sz="2400" dirty="0">
                <a:solidFill>
                  <a:srgbClr val="404040"/>
                </a:solidFill>
                <a:latin typeface="Times New Roman" panose="02020603050405020304" pitchFamily="18" charset="0"/>
                <a:cs typeface="Times New Roman" panose="02020603050405020304" pitchFamily="18" charset="0"/>
              </a:rPr>
              <a:t> row and </a:t>
            </a:r>
            <a:r>
              <a:rPr lang="en-US" sz="2400" dirty="0" err="1">
                <a:solidFill>
                  <a:srgbClr val="404040"/>
                </a:solidFill>
                <a:latin typeface="Times New Roman" panose="02020603050405020304" pitchFamily="18" charset="0"/>
                <a:cs typeface="Times New Roman" panose="02020603050405020304" pitchFamily="18" charset="0"/>
              </a:rPr>
              <a:t>jth</a:t>
            </a:r>
            <a:r>
              <a:rPr lang="en-US" sz="2400" dirty="0">
                <a:solidFill>
                  <a:srgbClr val="404040"/>
                </a:solidFill>
                <a:latin typeface="Times New Roman" panose="02020603050405020304" pitchFamily="18" charset="0"/>
                <a:cs typeface="Times New Roman" panose="02020603050405020304" pitchFamily="18" charset="0"/>
              </a:rPr>
              <a:t> column i.e.  *( *(a + </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 + j ) = a[</a:t>
            </a:r>
            <a:r>
              <a:rPr lang="en-US" sz="2400" dirty="0" err="1">
                <a:solidFill>
                  <a:srgbClr val="404040"/>
                </a:solidFill>
                <a:latin typeface="Times New Roman" panose="02020603050405020304" pitchFamily="18" charset="0"/>
                <a:cs typeface="Times New Roman" panose="02020603050405020304" pitchFamily="18" charset="0"/>
              </a:rPr>
              <a:t>i</a:t>
            </a:r>
            <a:r>
              <a:rPr lang="en-US" sz="2400" dirty="0">
                <a:solidFill>
                  <a:srgbClr val="404040"/>
                </a:solidFill>
                <a:latin typeface="Times New Roman" panose="02020603050405020304" pitchFamily="18" charset="0"/>
                <a:cs typeface="Times New Roman" panose="02020603050405020304" pitchFamily="18" charset="0"/>
              </a:rPr>
              <a:t>][j].</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04553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810;p164">
            <a:extLst>
              <a:ext uri="{FF2B5EF4-FFF2-40B4-BE49-F238E27FC236}">
                <a16:creationId xmlns:a16="http://schemas.microsoft.com/office/drawing/2014/main" id="{AED1E5A5-D8E5-90CA-D81F-7AD02727A9F0}"/>
              </a:ext>
            </a:extLst>
          </p:cNvPr>
          <p:cNvSpPr txBox="1">
            <a:spLocks/>
          </p:cNvSpPr>
          <p:nvPr/>
        </p:nvSpPr>
        <p:spPr>
          <a:xfrm>
            <a:off x="2826483" y="974272"/>
            <a:ext cx="8772525" cy="44005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dirty="0">
                <a:solidFill>
                  <a:srgbClr val="404040"/>
                </a:solidFill>
              </a:rPr>
              <a:t>A 2-dimensional array with 3 rows and 5mcolumns can be created by allocating the memory dynamically in two stages.</a:t>
            </a:r>
            <a:endParaRPr lang="en-US" dirty="0"/>
          </a:p>
          <a:p>
            <a:pPr marL="0" indent="0">
              <a:lnSpc>
                <a:spcPct val="100000"/>
              </a:lnSpc>
              <a:buFont typeface="Arial"/>
              <a:buNone/>
            </a:pPr>
            <a:r>
              <a:rPr lang="en-US" sz="1800" dirty="0">
                <a:solidFill>
                  <a:srgbClr val="404040"/>
                </a:solidFill>
              </a:rPr>
              <a:t>Stage 1: Allocate memory for specified number of row pointers.</a:t>
            </a:r>
            <a:endParaRPr lang="en-US" dirty="0"/>
          </a:p>
          <a:p>
            <a:pPr marL="0" indent="0">
              <a:lnSpc>
                <a:spcPct val="100000"/>
              </a:lnSpc>
              <a:buFont typeface="Arial"/>
              <a:buNone/>
            </a:pPr>
            <a:r>
              <a:rPr lang="en-US" sz="1800" dirty="0">
                <a:solidFill>
                  <a:srgbClr val="404040"/>
                </a:solidFill>
              </a:rPr>
              <a:t> 	Example: allocate memory for 3 row pointers using</a:t>
            </a:r>
            <a:endParaRPr lang="en-US" dirty="0"/>
          </a:p>
          <a:p>
            <a:pPr marL="0" indent="0">
              <a:lnSpc>
                <a:spcPct val="100000"/>
              </a:lnSpc>
              <a:buFont typeface="Arial"/>
              <a:buNone/>
            </a:pPr>
            <a:r>
              <a:rPr lang="en-US" sz="1800" dirty="0">
                <a:solidFill>
                  <a:srgbClr val="404040"/>
                </a:solidFill>
              </a:rPr>
              <a:t>	Pictorial representation is shown below</a:t>
            </a:r>
            <a:endParaRPr lang="en-US" dirty="0"/>
          </a:p>
          <a:p>
            <a:pPr marL="0" indent="0">
              <a:lnSpc>
                <a:spcPct val="100000"/>
              </a:lnSpc>
              <a:buFont typeface="Arial"/>
              <a:buNone/>
            </a:pPr>
            <a:r>
              <a:rPr lang="en-US" sz="1800" dirty="0">
                <a:solidFill>
                  <a:srgbClr val="404040"/>
                </a:solidFill>
              </a:rPr>
              <a:t>	</a:t>
            </a:r>
            <a:endParaRPr lang="en-US" dirty="0"/>
          </a:p>
          <a:p>
            <a:pPr marL="0" indent="0">
              <a:lnSpc>
                <a:spcPct val="100000"/>
              </a:lnSpc>
              <a:buFont typeface="Arial"/>
              <a:buNone/>
            </a:pPr>
            <a:endParaRPr lang="en-US" sz="1800" dirty="0">
              <a:solidFill>
                <a:srgbClr val="404040"/>
              </a:solidFill>
            </a:endParaRPr>
          </a:p>
          <a:p>
            <a:pPr marL="0" indent="0">
              <a:lnSpc>
                <a:spcPct val="100000"/>
              </a:lnSpc>
              <a:buFont typeface="Arial"/>
              <a:buNone/>
            </a:pPr>
            <a:endParaRPr lang="en-US" sz="1800" dirty="0">
              <a:solidFill>
                <a:srgbClr val="404040"/>
              </a:solidFill>
            </a:endParaRPr>
          </a:p>
          <a:p>
            <a:pPr marL="0" indent="0">
              <a:lnSpc>
                <a:spcPct val="100000"/>
              </a:lnSpc>
              <a:buFont typeface="Arial"/>
              <a:buNone/>
            </a:pPr>
            <a:endParaRPr lang="en-US" sz="1800" dirty="0">
              <a:solidFill>
                <a:srgbClr val="404040"/>
              </a:solidFill>
            </a:endParaRPr>
          </a:p>
          <a:p>
            <a:pPr marL="0" indent="0" algn="ctr">
              <a:buClr>
                <a:srgbClr val="353535"/>
              </a:buClr>
              <a:buFont typeface="Noto Sans Symbols"/>
              <a:buNone/>
            </a:pPr>
            <a:endParaRPr lang="en-US" sz="1800" dirty="0">
              <a:solidFill>
                <a:srgbClr val="404040"/>
              </a:solidFill>
            </a:endParaRPr>
          </a:p>
          <a:p>
            <a:pPr marL="0" indent="0" algn="ctr">
              <a:buClr>
                <a:srgbClr val="353535"/>
              </a:buClr>
              <a:buFont typeface="Noto Sans Symbols"/>
              <a:buNone/>
            </a:pPr>
            <a:endParaRPr lang="en-US" sz="1800" dirty="0">
              <a:solidFill>
                <a:srgbClr val="404040"/>
              </a:solidFill>
            </a:endParaRPr>
          </a:p>
        </p:txBody>
      </p:sp>
      <p:pic>
        <p:nvPicPr>
          <p:cNvPr id="3" name="Google Shape;1813;p164">
            <a:extLst>
              <a:ext uri="{FF2B5EF4-FFF2-40B4-BE49-F238E27FC236}">
                <a16:creationId xmlns:a16="http://schemas.microsoft.com/office/drawing/2014/main" id="{3ADF30E0-AC08-D199-5869-DBC8854D70AE}"/>
              </a:ext>
            </a:extLst>
          </p:cNvPr>
          <p:cNvPicPr preferRelativeResize="0"/>
          <p:nvPr/>
        </p:nvPicPr>
        <p:blipFill rotWithShape="1">
          <a:blip r:embed="rId4">
            <a:alphaModFix/>
          </a:blip>
          <a:srcRect/>
          <a:stretch/>
        </p:blipFill>
        <p:spPr>
          <a:xfrm>
            <a:off x="5091566" y="3364960"/>
            <a:ext cx="2725737" cy="1363662"/>
          </a:xfrm>
          <a:prstGeom prst="rect">
            <a:avLst/>
          </a:prstGeom>
          <a:noFill/>
          <a:ln>
            <a:noFill/>
          </a:ln>
        </p:spPr>
      </p:pic>
      <p:sp>
        <p:nvSpPr>
          <p:cNvPr id="5" name="Rectangle 2">
            <a:extLst>
              <a:ext uri="{FF2B5EF4-FFF2-40B4-BE49-F238E27FC236}">
                <a16:creationId xmlns:a16="http://schemas.microsoft.com/office/drawing/2014/main" id="{345A38C8-DC1A-9FE3-E7EC-28E3433BC54C}"/>
              </a:ext>
            </a:extLst>
          </p:cNvPr>
          <p:cNvSpPr>
            <a:spLocks noChangeArrowheads="1"/>
          </p:cNvSpPr>
          <p:nvPr/>
        </p:nvSpPr>
        <p:spPr bwMode="auto">
          <a:xfrm>
            <a:off x="3892062" y="5190156"/>
            <a:ext cx="5552802"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array = (int**) malloc(rows * </a:t>
            </a:r>
            <a:r>
              <a:rPr kumimoji="0" lang="en-US" altLang="en-US" sz="2400" b="0" i="0" u="none" strike="noStrike" cap="none" normalizeH="0" baseline="0" dirty="0" err="1">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sizeof</a:t>
            </a:r>
            <a:r>
              <a:rPr kumimoji="0" lang="en-US" altLang="en-US" sz="24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(int*));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7278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2" name="Google Shape;1818;p165">
            <a:extLst>
              <a:ext uri="{FF2B5EF4-FFF2-40B4-BE49-F238E27FC236}">
                <a16:creationId xmlns:a16="http://schemas.microsoft.com/office/drawing/2014/main" id="{BB0A6BA3-B79F-177A-5004-4288EEAFECEE}"/>
              </a:ext>
            </a:extLst>
          </p:cNvPr>
          <p:cNvSpPr txBox="1">
            <a:spLocks/>
          </p:cNvSpPr>
          <p:nvPr/>
        </p:nvSpPr>
        <p:spPr>
          <a:xfrm>
            <a:off x="2913743" y="654504"/>
            <a:ext cx="7486650" cy="41433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sz="1800" dirty="0">
                <a:solidFill>
                  <a:srgbClr val="404040"/>
                </a:solidFill>
              </a:rPr>
              <a:t>Stage 2: Allocate memory for each row with specified number of column .</a:t>
            </a:r>
            <a:endParaRPr lang="en-US" dirty="0"/>
          </a:p>
          <a:p>
            <a:pPr marL="0" indent="0">
              <a:lnSpc>
                <a:spcPct val="100000"/>
              </a:lnSpc>
              <a:buFont typeface="Arial"/>
              <a:buNone/>
            </a:pPr>
            <a:r>
              <a:rPr lang="en-US" sz="1800" dirty="0">
                <a:solidFill>
                  <a:srgbClr val="404040"/>
                </a:solidFill>
              </a:rPr>
              <a:t>Example: Allocate memory for 5 columns with respect to row x[0],x[1] and x[2]</a:t>
            </a:r>
            <a:endParaRPr lang="en-US" dirty="0"/>
          </a:p>
          <a:p>
            <a:pPr marL="0" indent="0" algn="ctr">
              <a:buClr>
                <a:srgbClr val="353535"/>
              </a:buClr>
              <a:buFont typeface="Noto Sans Symbols"/>
              <a:buNone/>
            </a:pPr>
            <a:endParaRPr lang="en-US" sz="1800" dirty="0">
              <a:solidFill>
                <a:srgbClr val="404040"/>
              </a:solidFill>
            </a:endParaRPr>
          </a:p>
        </p:txBody>
      </p:sp>
      <p:sp>
        <p:nvSpPr>
          <p:cNvPr id="4" name="Rectangle 1">
            <a:extLst>
              <a:ext uri="{FF2B5EF4-FFF2-40B4-BE49-F238E27FC236}">
                <a16:creationId xmlns:a16="http://schemas.microsoft.com/office/drawing/2014/main" id="{ED2E7D2B-43F4-3059-3ACB-60FD08BCAF53}"/>
              </a:ext>
            </a:extLst>
          </p:cNvPr>
          <p:cNvSpPr>
            <a:spLocks noChangeArrowheads="1"/>
          </p:cNvSpPr>
          <p:nvPr/>
        </p:nvSpPr>
        <p:spPr bwMode="auto">
          <a:xfrm>
            <a:off x="3058886" y="5148099"/>
            <a:ext cx="4587794"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for (</a:t>
            </a:r>
            <a:r>
              <a:rPr kumimoji="0" lang="en-US" altLang="en-US" sz="2000" b="0" i="0" u="none" strike="noStrike" cap="none" normalizeH="0" baseline="0" dirty="0" err="1">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 = 0; </a:t>
            </a:r>
            <a:r>
              <a:rPr kumimoji="0" lang="en-US" altLang="en-US" sz="2000" b="0" i="0" u="none" strike="noStrike" cap="none" normalizeH="0" baseline="0" dirty="0" err="1">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 &lt; rows; </a:t>
            </a:r>
            <a:r>
              <a:rPr kumimoji="0" lang="en-US" altLang="en-US" sz="2000" b="0" i="0" u="none" strike="noStrike" cap="none" normalizeH="0" baseline="0" dirty="0" err="1">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   array[</a:t>
            </a:r>
            <a:r>
              <a:rPr kumimoji="0" lang="en-US" altLang="en-US" sz="2000" b="0" i="0" u="none" strike="noStrike" cap="none" normalizeH="0" baseline="0" dirty="0" err="1">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kumimoji="0" lang="en-US" altLang="en-US" sz="20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 = (int*) malloc(cols * </a:t>
            </a:r>
            <a:r>
              <a:rPr kumimoji="0" lang="en-US" altLang="en-US" sz="2000" b="0" i="0" u="none" strike="noStrike" cap="none" normalizeH="0" baseline="0" dirty="0" err="1">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sizeof</a:t>
            </a:r>
            <a:r>
              <a:rPr kumimoji="0" lang="en-US" altLang="en-US" sz="2000" b="0" i="0" u="none" strike="noStrike" cap="none" normalizeH="0" baseline="0" dirty="0">
                <a:ln>
                  <a:noFill/>
                </a:ln>
                <a:solidFill>
                  <a:srgbClr val="212529"/>
                </a:solidFill>
                <a:effectLst/>
                <a:latin typeface="Times New Roman" panose="02020603050405020304" pitchFamily="18" charset="0"/>
                <a:ea typeface="Times New Roman" panose="02020603050405020304" pitchFamily="18" charset="0"/>
                <a:cs typeface="Times New Roman" panose="02020603050405020304" pitchFamily="18" charset="0"/>
              </a:rPr>
              <a:t>(int));</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080AB574-92FD-F494-9C4E-B5E9CB7326A4}"/>
              </a:ext>
            </a:extLst>
          </p:cNvPr>
          <p:cNvPicPr>
            <a:picLocks noChangeAspect="1"/>
          </p:cNvPicPr>
          <p:nvPr/>
        </p:nvPicPr>
        <p:blipFill>
          <a:blip r:embed="rId4"/>
          <a:stretch>
            <a:fillRect/>
          </a:stretch>
        </p:blipFill>
        <p:spPr>
          <a:xfrm>
            <a:off x="4251230" y="2647910"/>
            <a:ext cx="3689540" cy="1562180"/>
          </a:xfrm>
          <a:prstGeom prst="rect">
            <a:avLst/>
          </a:prstGeom>
        </p:spPr>
      </p:pic>
    </p:spTree>
    <p:extLst>
      <p:ext uri="{BB962C8B-B14F-4D97-AF65-F5344CB8AC3E}">
        <p14:creationId xmlns:p14="http://schemas.microsoft.com/office/powerpoint/2010/main" val="4679244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9A94A5B3-EE7B-0976-28CE-02DCC4C00867}"/>
              </a:ext>
            </a:extLst>
          </p:cNvPr>
          <p:cNvSpPr txBox="1"/>
          <p:nvPr/>
        </p:nvSpPr>
        <p:spPr>
          <a:xfrm>
            <a:off x="2803071" y="478619"/>
            <a:ext cx="8496299" cy="523220"/>
          </a:xfrm>
          <a:prstGeom prst="rect">
            <a:avLst/>
          </a:prstGeom>
          <a:noFill/>
        </p:spPr>
        <p:txBody>
          <a:bodyPr wrap="square">
            <a:spAutoFit/>
          </a:bodyPr>
          <a:lstStyle/>
          <a:p>
            <a:pPr algn="l"/>
            <a:r>
              <a:rPr lang="en-US" sz="2800" b="1" i="0" u="none" strike="noStrike" baseline="0" dirty="0">
                <a:solidFill>
                  <a:schemeClr val="accent5"/>
                </a:solidFill>
                <a:latin typeface="Times New Roman" panose="02020603050405020304" pitchFamily="18" charset="0"/>
                <a:cs typeface="Times New Roman" panose="02020603050405020304" pitchFamily="18" charset="0"/>
              </a:rPr>
              <a:t>Address Calculation in single (one) Dimension Array</a:t>
            </a:r>
          </a:p>
        </p:txBody>
      </p:sp>
      <p:pic>
        <p:nvPicPr>
          <p:cNvPr id="5" name="Picture 4">
            <a:extLst>
              <a:ext uri="{FF2B5EF4-FFF2-40B4-BE49-F238E27FC236}">
                <a16:creationId xmlns:a16="http://schemas.microsoft.com/office/drawing/2014/main" id="{B3B654A3-D9BA-D6E0-07C0-00BFCAC7E838}"/>
              </a:ext>
            </a:extLst>
          </p:cNvPr>
          <p:cNvPicPr>
            <a:picLocks noChangeAspect="1"/>
          </p:cNvPicPr>
          <p:nvPr/>
        </p:nvPicPr>
        <p:blipFill>
          <a:blip r:embed="rId4"/>
          <a:stretch>
            <a:fillRect/>
          </a:stretch>
        </p:blipFill>
        <p:spPr>
          <a:xfrm>
            <a:off x="3104963" y="1259754"/>
            <a:ext cx="8299253" cy="4708803"/>
          </a:xfrm>
          <a:prstGeom prst="rect">
            <a:avLst/>
          </a:prstGeom>
        </p:spPr>
      </p:pic>
    </p:spTree>
    <p:extLst>
      <p:ext uri="{BB962C8B-B14F-4D97-AF65-F5344CB8AC3E}">
        <p14:creationId xmlns:p14="http://schemas.microsoft.com/office/powerpoint/2010/main" val="3221535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90002809-8E28-3F71-C237-E8CA31830280}"/>
              </a:ext>
            </a:extLst>
          </p:cNvPr>
          <p:cNvSpPr txBox="1"/>
          <p:nvPr/>
        </p:nvSpPr>
        <p:spPr>
          <a:xfrm>
            <a:off x="2994737" y="797061"/>
            <a:ext cx="7499091" cy="3785652"/>
          </a:xfrm>
          <a:prstGeom prst="rect">
            <a:avLst/>
          </a:prstGeom>
          <a:noFill/>
        </p:spPr>
        <p:txBody>
          <a:bodyPr wrap="square">
            <a:spAutoFit/>
          </a:bodyPr>
          <a:lstStyle/>
          <a:p>
            <a:pPr algn="l"/>
            <a:r>
              <a:rPr lang="en-US" sz="2400" b="0" i="0" u="none" strike="noStrike" baseline="0" dirty="0">
                <a:latin typeface="Times New Roman" panose="02020603050405020304" pitchFamily="18" charset="0"/>
                <a:cs typeface="Times New Roman" panose="02020603050405020304" pitchFamily="18" charset="0"/>
              </a:rPr>
              <a:t>Array of an element of an array say “A[ I ]” is calculated using the following formula:</a:t>
            </a:r>
          </a:p>
          <a:p>
            <a:pPr algn="l"/>
            <a:r>
              <a:rPr lang="en-US" sz="2400" b="1" i="0" u="none" strike="noStrike" baseline="0" dirty="0">
                <a:latin typeface="Times New Roman" panose="02020603050405020304" pitchFamily="18" charset="0"/>
                <a:cs typeface="Times New Roman" panose="02020603050405020304" pitchFamily="18" charset="0"/>
              </a:rPr>
              <a:t>Address of A [ I ] = B + W * ( I – LB )</a:t>
            </a:r>
          </a:p>
          <a:p>
            <a:pPr algn="l"/>
            <a:r>
              <a:rPr lang="en-US" sz="2400" b="0" i="0" u="none" strike="noStrike" baseline="0" dirty="0">
                <a:latin typeface="Times New Roman" panose="02020603050405020304" pitchFamily="18" charset="0"/>
                <a:cs typeface="Times New Roman" panose="02020603050405020304" pitchFamily="18" charset="0"/>
              </a:rPr>
              <a:t>Where,</a:t>
            </a:r>
          </a:p>
          <a:p>
            <a:pPr algn="l"/>
            <a:r>
              <a:rPr lang="en-US" sz="2400" b="1" i="0" u="none" strike="noStrike" baseline="0" dirty="0">
                <a:latin typeface="Times New Roman" panose="02020603050405020304" pitchFamily="18" charset="0"/>
                <a:cs typeface="Times New Roman" panose="02020603050405020304" pitchFamily="18" charset="0"/>
              </a:rPr>
              <a:t>B </a:t>
            </a:r>
            <a:r>
              <a:rPr lang="en-US" sz="2400" b="0" i="0" u="none" strike="noStrike" baseline="0" dirty="0">
                <a:latin typeface="Times New Roman" panose="02020603050405020304" pitchFamily="18" charset="0"/>
                <a:cs typeface="Times New Roman" panose="02020603050405020304" pitchFamily="18" charset="0"/>
              </a:rPr>
              <a:t>= Base address</a:t>
            </a:r>
          </a:p>
          <a:p>
            <a:pPr algn="l"/>
            <a:r>
              <a:rPr lang="en-US" sz="2400" b="1" i="0" u="none" strike="noStrike" baseline="0" dirty="0">
                <a:latin typeface="Times New Roman" panose="02020603050405020304" pitchFamily="18" charset="0"/>
                <a:cs typeface="Times New Roman" panose="02020603050405020304" pitchFamily="18" charset="0"/>
              </a:rPr>
              <a:t>W </a:t>
            </a:r>
            <a:r>
              <a:rPr lang="en-US" sz="2400" b="0" i="0" u="none" strike="noStrike" baseline="0" dirty="0">
                <a:latin typeface="Times New Roman" panose="02020603050405020304" pitchFamily="18" charset="0"/>
                <a:cs typeface="Times New Roman" panose="02020603050405020304" pitchFamily="18" charset="0"/>
              </a:rPr>
              <a:t>= Storage Size of one element stored in the array (in byte)</a:t>
            </a:r>
          </a:p>
          <a:p>
            <a:pPr algn="l"/>
            <a:r>
              <a:rPr lang="en-US" sz="2400" b="1" i="0" u="none" strike="noStrike" baseline="0" dirty="0">
                <a:latin typeface="Times New Roman" panose="02020603050405020304" pitchFamily="18" charset="0"/>
                <a:cs typeface="Times New Roman" panose="02020603050405020304" pitchFamily="18" charset="0"/>
              </a:rPr>
              <a:t>I </a:t>
            </a:r>
            <a:r>
              <a:rPr lang="en-US" sz="2400" b="0" i="0" u="none" strike="noStrike" baseline="0" dirty="0">
                <a:latin typeface="Times New Roman" panose="02020603050405020304" pitchFamily="18" charset="0"/>
                <a:cs typeface="Times New Roman" panose="02020603050405020304" pitchFamily="18" charset="0"/>
              </a:rPr>
              <a:t>= Subscript of element whose address is to be found</a:t>
            </a:r>
          </a:p>
          <a:p>
            <a:pPr algn="l"/>
            <a:r>
              <a:rPr lang="en-US" sz="2400" b="1" i="0" u="none" strike="noStrike" baseline="0" dirty="0">
                <a:latin typeface="Times New Roman" panose="02020603050405020304" pitchFamily="18" charset="0"/>
                <a:cs typeface="Times New Roman" panose="02020603050405020304" pitchFamily="18" charset="0"/>
              </a:rPr>
              <a:t>LB </a:t>
            </a:r>
            <a:r>
              <a:rPr lang="en-US" sz="2400" b="0" i="0" u="none" strike="noStrike" baseline="0" dirty="0">
                <a:latin typeface="Times New Roman" panose="02020603050405020304" pitchFamily="18" charset="0"/>
                <a:cs typeface="Times New Roman" panose="02020603050405020304" pitchFamily="18" charset="0"/>
              </a:rPr>
              <a:t>= Lower limit / Lower Bound of subscript, if not specified assume 0 (zero)</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129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66BBE778-6EFF-63D4-9192-D12B7171CE03}"/>
              </a:ext>
            </a:extLst>
          </p:cNvPr>
          <p:cNvSpPr txBox="1"/>
          <p:nvPr/>
        </p:nvSpPr>
        <p:spPr>
          <a:xfrm>
            <a:off x="2541083" y="352079"/>
            <a:ext cx="8954824" cy="1200329"/>
          </a:xfrm>
          <a:prstGeom prst="rect">
            <a:avLst/>
          </a:prstGeom>
          <a:noFill/>
        </p:spPr>
        <p:txBody>
          <a:bodyPr wrap="square">
            <a:spAutoFit/>
          </a:bodyPr>
          <a:lstStyle/>
          <a:p>
            <a:pPr algn="l"/>
            <a:r>
              <a:rPr lang="en-US" sz="2400" b="1" i="0" u="none" strike="noStrike" baseline="0" dirty="0">
                <a:latin typeface="Times New Roman" panose="02020603050405020304" pitchFamily="18" charset="0"/>
                <a:cs typeface="Times New Roman" panose="02020603050405020304" pitchFamily="18" charset="0"/>
              </a:rPr>
              <a:t>Example:</a:t>
            </a:r>
          </a:p>
          <a:p>
            <a:pPr algn="l"/>
            <a:r>
              <a:rPr lang="en-US" sz="2400" b="0" i="0" u="none" strike="noStrike" baseline="0" dirty="0">
                <a:latin typeface="Times New Roman" panose="02020603050405020304" pitchFamily="18" charset="0"/>
                <a:cs typeface="Times New Roman" panose="02020603050405020304" pitchFamily="18" charset="0"/>
              </a:rPr>
              <a:t>Given the base address of an array </a:t>
            </a:r>
            <a:r>
              <a:rPr lang="en-US" sz="2400" b="1" i="0" u="none" strike="noStrike" baseline="0" dirty="0">
                <a:latin typeface="Times New Roman" panose="02020603050405020304" pitchFamily="18" charset="0"/>
                <a:cs typeface="Times New Roman" panose="02020603050405020304" pitchFamily="18" charset="0"/>
              </a:rPr>
              <a:t>B[1300…..1900] </a:t>
            </a:r>
            <a:r>
              <a:rPr lang="en-US" sz="2400" b="0" i="0" u="none" strike="noStrike" baseline="0" dirty="0">
                <a:latin typeface="Times New Roman" panose="02020603050405020304" pitchFamily="18" charset="0"/>
                <a:cs typeface="Times New Roman" panose="02020603050405020304" pitchFamily="18" charset="0"/>
              </a:rPr>
              <a:t>as 1020 and size of each element is 2 bytes in the memory. Find the address of </a:t>
            </a:r>
            <a:r>
              <a:rPr lang="en-US" sz="2400" b="1" i="0" u="none" strike="noStrike" baseline="0" dirty="0">
                <a:latin typeface="Times New Roman" panose="02020603050405020304" pitchFamily="18" charset="0"/>
                <a:cs typeface="Times New Roman" panose="02020603050405020304" pitchFamily="18" charset="0"/>
              </a:rPr>
              <a:t>B[1700]</a:t>
            </a:r>
            <a:r>
              <a:rPr lang="en-US" sz="2400" b="0" i="0" u="none" strike="noStrike" baseline="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ED5869A-2960-2F70-B08E-911B1F8C9A87}"/>
              </a:ext>
            </a:extLst>
          </p:cNvPr>
          <p:cNvSpPr txBox="1"/>
          <p:nvPr/>
        </p:nvSpPr>
        <p:spPr>
          <a:xfrm>
            <a:off x="2777463" y="1905504"/>
            <a:ext cx="8344343" cy="2677656"/>
          </a:xfrm>
          <a:prstGeom prst="rect">
            <a:avLst/>
          </a:prstGeom>
          <a:noFill/>
        </p:spPr>
        <p:txBody>
          <a:bodyPr wrap="square">
            <a:spAutoFit/>
          </a:bodyPr>
          <a:lstStyle/>
          <a:p>
            <a:pPr algn="l"/>
            <a:r>
              <a:rPr lang="en-US" sz="2400" b="1" i="0" u="none" strike="noStrike" baseline="0" dirty="0">
                <a:latin typeface="Times New Roman" panose="02020603050405020304" pitchFamily="18" charset="0"/>
                <a:cs typeface="Times New Roman" panose="02020603050405020304" pitchFamily="18" charset="0"/>
              </a:rPr>
              <a:t>Solution:</a:t>
            </a:r>
          </a:p>
          <a:p>
            <a:pPr algn="l"/>
            <a:r>
              <a:rPr lang="en-US" sz="2400" b="0" i="0" u="none" strike="noStrike" baseline="0" dirty="0">
                <a:latin typeface="Times New Roman" panose="02020603050405020304" pitchFamily="18" charset="0"/>
                <a:cs typeface="Times New Roman" panose="02020603050405020304" pitchFamily="18" charset="0"/>
              </a:rPr>
              <a:t>The given values are: B = 1020, LB = 1300, W = 2, I = 1700</a:t>
            </a:r>
          </a:p>
          <a:p>
            <a:pPr algn="l"/>
            <a:r>
              <a:rPr lang="en-US" sz="2400" b="1" i="0" u="none" strike="noStrike" baseline="0" dirty="0">
                <a:latin typeface="Times New Roman" panose="02020603050405020304" pitchFamily="18" charset="0"/>
                <a:cs typeface="Times New Roman" panose="02020603050405020304" pitchFamily="18" charset="0"/>
              </a:rPr>
              <a:t>Address of A [ I ] = B + W * ( I – LB )</a:t>
            </a:r>
          </a:p>
          <a:p>
            <a:pPr algn="l"/>
            <a:r>
              <a:rPr lang="en-US" sz="2400" b="0" i="0" u="none" strike="noStrike" baseline="0" dirty="0">
                <a:latin typeface="Times New Roman" panose="02020603050405020304" pitchFamily="18" charset="0"/>
                <a:cs typeface="Times New Roman" panose="02020603050405020304" pitchFamily="18" charset="0"/>
              </a:rPr>
              <a:t>= 1020 + 2 * (1700 – 1300)</a:t>
            </a:r>
          </a:p>
          <a:p>
            <a:pPr algn="l"/>
            <a:r>
              <a:rPr lang="en-US" sz="2400" b="0" i="0" u="none" strike="noStrike" baseline="0" dirty="0">
                <a:latin typeface="Times New Roman" panose="02020603050405020304" pitchFamily="18" charset="0"/>
                <a:cs typeface="Times New Roman" panose="02020603050405020304" pitchFamily="18" charset="0"/>
              </a:rPr>
              <a:t>= 1020 + 2 * 400</a:t>
            </a:r>
          </a:p>
          <a:p>
            <a:pPr algn="l"/>
            <a:r>
              <a:rPr lang="en-US" sz="2400" b="0" i="0" u="none" strike="noStrike" baseline="0" dirty="0">
                <a:latin typeface="Times New Roman" panose="02020603050405020304" pitchFamily="18" charset="0"/>
                <a:cs typeface="Times New Roman" panose="02020603050405020304" pitchFamily="18" charset="0"/>
              </a:rPr>
              <a:t>= 1020 + 800</a:t>
            </a:r>
          </a:p>
          <a:p>
            <a:pPr algn="l"/>
            <a:r>
              <a:rPr lang="en-US" sz="2400" b="0" i="0" u="none" strike="noStrike" baseline="0" dirty="0">
                <a:latin typeface="Times New Roman" panose="02020603050405020304" pitchFamily="18" charset="0"/>
                <a:cs typeface="Times New Roman" panose="02020603050405020304" pitchFamily="18" charset="0"/>
              </a:rPr>
              <a:t>= 1820 </a:t>
            </a:r>
            <a:r>
              <a:rPr lang="en-US" sz="2400" b="1" i="0" u="none" strike="noStrike" baseline="0" dirty="0">
                <a:latin typeface="Times New Roman" panose="02020603050405020304" pitchFamily="18" charset="0"/>
                <a:cs typeface="Times New Roman" panose="02020603050405020304" pitchFamily="18" charset="0"/>
              </a:rPr>
              <a:t>[Ans]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390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A9B2701C-CE1E-13E1-3CEB-7A0BB9B04937}"/>
              </a:ext>
            </a:extLst>
          </p:cNvPr>
          <p:cNvSpPr txBox="1"/>
          <p:nvPr/>
        </p:nvSpPr>
        <p:spPr>
          <a:xfrm>
            <a:off x="2913743" y="520961"/>
            <a:ext cx="8396514" cy="2800767"/>
          </a:xfrm>
          <a:prstGeom prst="rect">
            <a:avLst/>
          </a:prstGeom>
          <a:noFill/>
        </p:spPr>
        <p:txBody>
          <a:bodyPr wrap="square">
            <a:spAutoFit/>
          </a:bodyPr>
          <a:lstStyle/>
          <a:p>
            <a:pPr algn="l"/>
            <a:r>
              <a:rPr lang="en-US" sz="2800" b="1" i="0" u="none" strike="noStrike" baseline="0" dirty="0">
                <a:solidFill>
                  <a:schemeClr val="accent5"/>
                </a:solidFill>
                <a:latin typeface="Times New Roman" panose="02020603050405020304" pitchFamily="18" charset="0"/>
              </a:rPr>
              <a:t>Address Calculation in Double (Two) Dimensional Array:</a:t>
            </a:r>
          </a:p>
          <a:p>
            <a:pPr algn="l"/>
            <a:r>
              <a:rPr lang="en-US" sz="2400" b="0" i="0" u="none" strike="noStrike" baseline="0" dirty="0">
                <a:latin typeface="Times New Roman" panose="02020603050405020304" pitchFamily="18" charset="0"/>
              </a:rPr>
              <a:t>While storing the elements of a 2-D array in memory, these are allocated contiguous memory locations. Therefore, a 2-D array must be linearized so as to enable their storage. </a:t>
            </a:r>
          </a:p>
          <a:p>
            <a:pPr algn="l"/>
            <a:r>
              <a:rPr lang="en-US" sz="2400" b="0" i="0" u="none" strike="noStrike" baseline="0" dirty="0">
                <a:latin typeface="Times New Roman" panose="02020603050405020304" pitchFamily="18" charset="0"/>
              </a:rPr>
              <a:t>There are two alternatives to achieve linearization: </a:t>
            </a:r>
          </a:p>
          <a:p>
            <a:pPr algn="l"/>
            <a:r>
              <a:rPr lang="en-US" sz="2400" b="1" i="0" u="none" strike="noStrike" baseline="0" dirty="0">
                <a:latin typeface="Times New Roman" panose="02020603050405020304" pitchFamily="18" charset="0"/>
              </a:rPr>
              <a:t>Row-Major and Column-Major.</a:t>
            </a:r>
            <a:endParaRPr lang="en-US" sz="2400" b="1" dirty="0"/>
          </a:p>
        </p:txBody>
      </p:sp>
      <p:pic>
        <p:nvPicPr>
          <p:cNvPr id="5" name="Picture 4">
            <a:extLst>
              <a:ext uri="{FF2B5EF4-FFF2-40B4-BE49-F238E27FC236}">
                <a16:creationId xmlns:a16="http://schemas.microsoft.com/office/drawing/2014/main" id="{9C377C3A-A195-9950-B933-F7E29ACF20A7}"/>
              </a:ext>
            </a:extLst>
          </p:cNvPr>
          <p:cNvPicPr>
            <a:picLocks noChangeAspect="1"/>
          </p:cNvPicPr>
          <p:nvPr/>
        </p:nvPicPr>
        <p:blipFill>
          <a:blip r:embed="rId4"/>
          <a:stretch>
            <a:fillRect/>
          </a:stretch>
        </p:blipFill>
        <p:spPr>
          <a:xfrm>
            <a:off x="4180114" y="3429000"/>
            <a:ext cx="5667838" cy="3032930"/>
          </a:xfrm>
          <a:prstGeom prst="rect">
            <a:avLst/>
          </a:prstGeom>
        </p:spPr>
      </p:pic>
    </p:spTree>
    <p:extLst>
      <p:ext uri="{BB962C8B-B14F-4D97-AF65-F5344CB8AC3E}">
        <p14:creationId xmlns:p14="http://schemas.microsoft.com/office/powerpoint/2010/main" val="194950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682910" y="4723445"/>
            <a:ext cx="8725319" cy="1585534"/>
          </a:xfrm>
          <a:prstGeom prst="rect">
            <a:avLst/>
          </a:prstGeom>
          <a:noFill/>
          <a:ln>
            <a:noFill/>
          </a:ln>
        </p:spPr>
        <p:txBody>
          <a:bodyPr spcFirstLastPara="1" wrap="square" lIns="91425" tIns="45700" rIns="91425" bIns="45700" anchor="t" anchorCtr="0">
            <a:noAutofit/>
          </a:bodyPr>
          <a:lstStyle/>
          <a:p>
            <a:r>
              <a:rPr lang="en-US" sz="2000" dirty="0">
                <a:latin typeface="Times New Roman" panose="02020603050405020304" pitchFamily="18" charset="0"/>
                <a:cs typeface="Times New Roman" panose="02020603050405020304" pitchFamily="18" charset="0"/>
              </a:rPr>
              <a:t>C allows for arrays of two or more dimensions. A two-dimensional (2D) array is an array of arrays.</a:t>
            </a:r>
          </a:p>
          <a:p>
            <a:r>
              <a:rPr lang="en-US" sz="2000" dirty="0">
                <a:latin typeface="Times New Roman" panose="02020603050405020304" pitchFamily="18" charset="0"/>
                <a:cs typeface="Times New Roman" panose="02020603050405020304" pitchFamily="18" charset="0"/>
              </a:rPr>
              <a:t>Address of an element of any array say “</a:t>
            </a:r>
            <a:r>
              <a:rPr lang="en-US" sz="2000" b="1" dirty="0">
                <a:latin typeface="Times New Roman" panose="02020603050405020304" pitchFamily="18" charset="0"/>
                <a:cs typeface="Times New Roman" panose="02020603050405020304" pitchFamily="18" charset="0"/>
              </a:rPr>
              <a:t>A[ I ][ J ]</a:t>
            </a:r>
            <a:r>
              <a:rPr lang="en-US" sz="2000" dirty="0">
                <a:latin typeface="Times New Roman" panose="02020603050405020304" pitchFamily="18" charset="0"/>
                <a:cs typeface="Times New Roman" panose="02020603050405020304" pitchFamily="18" charset="0"/>
              </a:rPr>
              <a:t>” is calculated in two forms as given:</a:t>
            </a:r>
          </a:p>
          <a:p>
            <a:r>
              <a:rPr lang="en-US" sz="2000" dirty="0">
                <a:latin typeface="Times New Roman" panose="02020603050405020304" pitchFamily="18" charset="0"/>
                <a:cs typeface="Times New Roman" panose="02020603050405020304" pitchFamily="18" charset="0"/>
              </a:rPr>
              <a:t>(1) Row Major System (2) Column Major System</a:t>
            </a:r>
            <a:endParaRPr sz="2000" b="1" dirty="0">
              <a:solidFill>
                <a:srgbClr val="E88B31"/>
              </a:solidFill>
              <a:latin typeface="Times New Roman" panose="02020603050405020304" pitchFamily="18" charset="0"/>
              <a:ea typeface="Times New Roman"/>
              <a:cs typeface="Times New Roman" panose="02020603050405020304" pitchFamily="18" charset="0"/>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7143F896-131C-8A1D-1A41-D147FE303B09}"/>
              </a:ext>
            </a:extLst>
          </p:cNvPr>
          <p:cNvPicPr>
            <a:picLocks noChangeAspect="1"/>
          </p:cNvPicPr>
          <p:nvPr/>
        </p:nvPicPr>
        <p:blipFill>
          <a:blip r:embed="rId4"/>
          <a:stretch>
            <a:fillRect/>
          </a:stretch>
        </p:blipFill>
        <p:spPr>
          <a:xfrm>
            <a:off x="3267780" y="549021"/>
            <a:ext cx="7472127" cy="3724541"/>
          </a:xfrm>
          <a:prstGeom prst="rect">
            <a:avLst/>
          </a:prstGeom>
        </p:spPr>
      </p:pic>
    </p:spTree>
    <p:extLst>
      <p:ext uri="{BB962C8B-B14F-4D97-AF65-F5344CB8AC3E}">
        <p14:creationId xmlns:p14="http://schemas.microsoft.com/office/powerpoint/2010/main" val="238022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A6761CDA-7995-A7AD-7A92-3F07D0782CD3}"/>
              </a:ext>
            </a:extLst>
          </p:cNvPr>
          <p:cNvSpPr txBox="1"/>
          <p:nvPr/>
        </p:nvSpPr>
        <p:spPr>
          <a:xfrm>
            <a:off x="3104962" y="712133"/>
            <a:ext cx="7029637" cy="1323439"/>
          </a:xfrm>
          <a:prstGeom prst="rect">
            <a:avLst/>
          </a:prstGeom>
          <a:noFill/>
        </p:spPr>
        <p:txBody>
          <a:bodyPr wrap="square">
            <a:spAutoFit/>
          </a:bodyPr>
          <a:lstStyle/>
          <a:p>
            <a:pPr algn="l"/>
            <a:r>
              <a:rPr lang="en-US" sz="2000" b="1" i="0" u="none" strike="noStrike" baseline="0" dirty="0">
                <a:solidFill>
                  <a:schemeClr val="accent5"/>
                </a:solidFill>
                <a:latin typeface="Times New Roman" panose="02020603050405020304" pitchFamily="18" charset="0"/>
                <a:cs typeface="Times New Roman" panose="02020603050405020304" pitchFamily="18" charset="0"/>
              </a:rPr>
              <a:t>Row Major System:</a:t>
            </a:r>
          </a:p>
          <a:p>
            <a:pPr algn="l"/>
            <a:r>
              <a:rPr lang="en-US" sz="2000" b="0" i="0" u="none" strike="noStrike" baseline="0" dirty="0">
                <a:solidFill>
                  <a:srgbClr val="333333"/>
                </a:solidFill>
                <a:latin typeface="Times New Roman" panose="02020603050405020304" pitchFamily="18" charset="0"/>
                <a:cs typeface="Times New Roman" panose="02020603050405020304" pitchFamily="18" charset="0"/>
              </a:rPr>
              <a:t>The address of a location in Row Major System is calculated using the following formula:</a:t>
            </a:r>
          </a:p>
          <a:p>
            <a:pPr algn="l"/>
            <a:r>
              <a:rPr lang="en-US" sz="2000" b="1" i="0" u="none" strike="noStrike" baseline="0" dirty="0">
                <a:solidFill>
                  <a:srgbClr val="333333"/>
                </a:solidFill>
                <a:latin typeface="Times New Roman" panose="02020603050405020304" pitchFamily="18" charset="0"/>
                <a:cs typeface="Times New Roman" panose="02020603050405020304" pitchFamily="18" charset="0"/>
              </a:rPr>
              <a:t>Address of A [ I ][ J ] = B + W * [ N * ( I – Lr ) + ( J – Lc ) ]</a:t>
            </a:r>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200E30A-5E87-572B-2050-9E1F9542899D}"/>
              </a:ext>
            </a:extLst>
          </p:cNvPr>
          <p:cNvSpPr txBox="1"/>
          <p:nvPr/>
        </p:nvSpPr>
        <p:spPr>
          <a:xfrm>
            <a:off x="2730863" y="2236470"/>
            <a:ext cx="8899072" cy="1323439"/>
          </a:xfrm>
          <a:prstGeom prst="rect">
            <a:avLst/>
          </a:prstGeom>
          <a:noFill/>
        </p:spPr>
        <p:txBody>
          <a:bodyPr wrap="square">
            <a:spAutoFit/>
          </a:bodyPr>
          <a:lstStyle/>
          <a:p>
            <a:pPr algn="l"/>
            <a:r>
              <a:rPr lang="en-US" sz="2000" b="1" i="0" u="none" strike="noStrike" baseline="0" dirty="0">
                <a:solidFill>
                  <a:schemeClr val="accent5"/>
                </a:solidFill>
                <a:latin typeface="Times New Roman" panose="02020603050405020304" pitchFamily="18" charset="0"/>
                <a:cs typeface="Times New Roman" panose="02020603050405020304" pitchFamily="18" charset="0"/>
              </a:rPr>
              <a:t>Column Major System:</a:t>
            </a:r>
          </a:p>
          <a:p>
            <a:pPr algn="l"/>
            <a:r>
              <a:rPr lang="en-US" sz="2000" b="0" i="0" u="none" strike="noStrike" baseline="0" dirty="0">
                <a:solidFill>
                  <a:srgbClr val="333333"/>
                </a:solidFill>
                <a:latin typeface="Times New Roman" panose="02020603050405020304" pitchFamily="18" charset="0"/>
                <a:cs typeface="Times New Roman" panose="02020603050405020304" pitchFamily="18" charset="0"/>
              </a:rPr>
              <a:t>The address of a location in Column Major System is calculated using the following formula:</a:t>
            </a:r>
          </a:p>
          <a:p>
            <a:pPr algn="l"/>
            <a:r>
              <a:rPr lang="en-US" sz="2000" b="1" i="0" u="none" strike="noStrike" baseline="0" dirty="0">
                <a:solidFill>
                  <a:srgbClr val="333333"/>
                </a:solidFill>
                <a:latin typeface="Times New Roman" panose="02020603050405020304" pitchFamily="18" charset="0"/>
                <a:cs typeface="Times New Roman" panose="02020603050405020304" pitchFamily="18" charset="0"/>
              </a:rPr>
              <a:t>Address of A [ I ][ J ] Column Major Wise = B + W * [( I – Lr ) + M * ( J – Lc )]</a:t>
            </a: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62C8F94-3C2A-C147-07FA-8CC9F9206ABE}"/>
              </a:ext>
            </a:extLst>
          </p:cNvPr>
          <p:cNvSpPr txBox="1"/>
          <p:nvPr/>
        </p:nvSpPr>
        <p:spPr>
          <a:xfrm>
            <a:off x="3336472" y="3597802"/>
            <a:ext cx="6417128" cy="3139321"/>
          </a:xfrm>
          <a:prstGeom prst="rect">
            <a:avLst/>
          </a:prstGeom>
          <a:noFill/>
        </p:spPr>
        <p:txBody>
          <a:bodyPr wrap="square">
            <a:spAutoFit/>
          </a:bodyPr>
          <a:lstStyle/>
          <a:p>
            <a:pPr algn="l"/>
            <a:r>
              <a:rPr lang="en-US" sz="1800" b="0" i="0" u="none" strike="noStrike" baseline="0" dirty="0">
                <a:solidFill>
                  <a:srgbClr val="333333"/>
                </a:solidFill>
                <a:latin typeface="Times New Roman" panose="02020603050405020304" pitchFamily="18" charset="0"/>
              </a:rPr>
              <a:t>Where,</a:t>
            </a:r>
          </a:p>
          <a:p>
            <a:pPr algn="l"/>
            <a:r>
              <a:rPr lang="en-US" sz="1800" b="1" i="0" u="none" strike="noStrike" baseline="0" dirty="0">
                <a:solidFill>
                  <a:srgbClr val="333333"/>
                </a:solidFill>
                <a:latin typeface="Times New Roman" panose="02020603050405020304" pitchFamily="18" charset="0"/>
              </a:rPr>
              <a:t>B </a:t>
            </a:r>
            <a:r>
              <a:rPr lang="en-US" sz="1800" b="0" i="0" u="none" strike="noStrike" baseline="0" dirty="0">
                <a:solidFill>
                  <a:srgbClr val="333333"/>
                </a:solidFill>
                <a:latin typeface="Times New Roman" panose="02020603050405020304" pitchFamily="18" charset="0"/>
              </a:rPr>
              <a:t>= Base address</a:t>
            </a:r>
          </a:p>
          <a:p>
            <a:pPr algn="l"/>
            <a:r>
              <a:rPr lang="en-US" sz="1800" b="1" i="0" u="none" strike="noStrike" baseline="0" dirty="0">
                <a:solidFill>
                  <a:srgbClr val="333333"/>
                </a:solidFill>
                <a:latin typeface="Times New Roman" panose="02020603050405020304" pitchFamily="18" charset="0"/>
              </a:rPr>
              <a:t>I </a:t>
            </a:r>
            <a:r>
              <a:rPr lang="en-US" sz="1800" b="0" i="0" u="none" strike="noStrike" baseline="0" dirty="0">
                <a:solidFill>
                  <a:srgbClr val="333333"/>
                </a:solidFill>
                <a:latin typeface="Times New Roman" panose="02020603050405020304" pitchFamily="18" charset="0"/>
              </a:rPr>
              <a:t>= Row subscript of element whose address is to be found</a:t>
            </a:r>
          </a:p>
          <a:p>
            <a:pPr algn="l"/>
            <a:r>
              <a:rPr lang="en-US" sz="1800" b="1" i="0" u="none" strike="noStrike" baseline="0" dirty="0">
                <a:solidFill>
                  <a:srgbClr val="333333"/>
                </a:solidFill>
                <a:latin typeface="Times New Roman" panose="02020603050405020304" pitchFamily="18" charset="0"/>
              </a:rPr>
              <a:t>J </a:t>
            </a:r>
            <a:r>
              <a:rPr lang="en-US" sz="1800" b="0" i="0" u="none" strike="noStrike" baseline="0" dirty="0">
                <a:solidFill>
                  <a:srgbClr val="333333"/>
                </a:solidFill>
                <a:latin typeface="Times New Roman" panose="02020603050405020304" pitchFamily="18" charset="0"/>
              </a:rPr>
              <a:t>= Column subscript of element whose address is to be found</a:t>
            </a:r>
          </a:p>
          <a:p>
            <a:pPr algn="l"/>
            <a:r>
              <a:rPr lang="en-US" sz="1800" b="1" i="0" u="none" strike="noStrike" baseline="0" dirty="0">
                <a:solidFill>
                  <a:srgbClr val="333333"/>
                </a:solidFill>
                <a:latin typeface="Times New Roman" panose="02020603050405020304" pitchFamily="18" charset="0"/>
              </a:rPr>
              <a:t>W </a:t>
            </a:r>
            <a:r>
              <a:rPr lang="en-US" sz="1800" b="0" i="0" u="none" strike="noStrike" baseline="0" dirty="0">
                <a:solidFill>
                  <a:srgbClr val="333333"/>
                </a:solidFill>
                <a:latin typeface="Times New Roman" panose="02020603050405020304" pitchFamily="18" charset="0"/>
              </a:rPr>
              <a:t>= Storage Size of one element stored in the array (in byte)</a:t>
            </a:r>
          </a:p>
          <a:p>
            <a:pPr algn="l"/>
            <a:r>
              <a:rPr lang="en-US" sz="1800" b="1" i="0" u="none" strike="noStrike" baseline="0" dirty="0">
                <a:solidFill>
                  <a:srgbClr val="333333"/>
                </a:solidFill>
                <a:latin typeface="Times New Roman" panose="02020603050405020304" pitchFamily="18" charset="0"/>
              </a:rPr>
              <a:t>Lr </a:t>
            </a:r>
            <a:r>
              <a:rPr lang="en-US" sz="1800" b="0" i="0" u="none" strike="noStrike" baseline="0" dirty="0">
                <a:solidFill>
                  <a:srgbClr val="333333"/>
                </a:solidFill>
                <a:latin typeface="Times New Roman" panose="02020603050405020304" pitchFamily="18" charset="0"/>
              </a:rPr>
              <a:t>= Lower limit of row/start row index of matrix, if not given assume 0 (zero)</a:t>
            </a:r>
          </a:p>
          <a:p>
            <a:pPr algn="l"/>
            <a:r>
              <a:rPr lang="en-US" sz="1800" b="1" i="0" u="none" strike="noStrike" baseline="0" dirty="0">
                <a:solidFill>
                  <a:srgbClr val="333333"/>
                </a:solidFill>
                <a:latin typeface="Times New Roman" panose="02020603050405020304" pitchFamily="18" charset="0"/>
              </a:rPr>
              <a:t>Lc </a:t>
            </a:r>
            <a:r>
              <a:rPr lang="en-US" sz="1800" b="0" i="0" u="none" strike="noStrike" baseline="0" dirty="0">
                <a:solidFill>
                  <a:srgbClr val="333333"/>
                </a:solidFill>
                <a:latin typeface="Times New Roman" panose="02020603050405020304" pitchFamily="18" charset="0"/>
              </a:rPr>
              <a:t>= Lower limit of column/start column index of matrix, if not given assume 0 (zero)</a:t>
            </a:r>
          </a:p>
          <a:p>
            <a:pPr algn="l"/>
            <a:r>
              <a:rPr lang="en-US" sz="1800" b="1" i="0" u="none" strike="noStrike" baseline="0" dirty="0">
                <a:solidFill>
                  <a:srgbClr val="333333"/>
                </a:solidFill>
                <a:latin typeface="Times New Roman" panose="02020603050405020304" pitchFamily="18" charset="0"/>
              </a:rPr>
              <a:t>M </a:t>
            </a:r>
            <a:r>
              <a:rPr lang="en-US" sz="1800" b="0" i="0" u="none" strike="noStrike" baseline="0" dirty="0">
                <a:solidFill>
                  <a:srgbClr val="333333"/>
                </a:solidFill>
                <a:latin typeface="Times New Roman" panose="02020603050405020304" pitchFamily="18" charset="0"/>
              </a:rPr>
              <a:t>= Number of row of the given matrix</a:t>
            </a:r>
          </a:p>
          <a:p>
            <a:pPr algn="l"/>
            <a:r>
              <a:rPr lang="en-US" sz="1800" b="1" i="0" u="none" strike="noStrike" baseline="0" dirty="0">
                <a:solidFill>
                  <a:srgbClr val="333333"/>
                </a:solidFill>
                <a:latin typeface="Times New Roman" panose="02020603050405020304" pitchFamily="18" charset="0"/>
              </a:rPr>
              <a:t>N </a:t>
            </a:r>
            <a:r>
              <a:rPr lang="en-US" sz="1800" b="0" i="0" u="none" strike="noStrike" baseline="0" dirty="0">
                <a:solidFill>
                  <a:srgbClr val="333333"/>
                </a:solidFill>
                <a:latin typeface="Times New Roman" panose="02020603050405020304" pitchFamily="18" charset="0"/>
              </a:rPr>
              <a:t>= Number of column of the given matrix</a:t>
            </a:r>
            <a:endParaRPr lang="en-US" sz="1800" dirty="0"/>
          </a:p>
        </p:txBody>
      </p:sp>
    </p:spTree>
    <p:extLst>
      <p:ext uri="{BB962C8B-B14F-4D97-AF65-F5344CB8AC3E}">
        <p14:creationId xmlns:p14="http://schemas.microsoft.com/office/powerpoint/2010/main" val="283724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EC26726B-0F43-08EE-BD52-FD2288FD32E6}"/>
              </a:ext>
            </a:extLst>
          </p:cNvPr>
          <p:cNvSpPr txBox="1"/>
          <p:nvPr/>
        </p:nvSpPr>
        <p:spPr>
          <a:xfrm>
            <a:off x="2526478" y="235079"/>
            <a:ext cx="9030159" cy="3730317"/>
          </a:xfrm>
          <a:prstGeom prst="rect">
            <a:avLst/>
          </a:prstGeom>
          <a:noFill/>
        </p:spPr>
        <p:txBody>
          <a:bodyPr wrap="square">
            <a:spAutoFit/>
          </a:bodyPr>
          <a:lstStyle/>
          <a:p>
            <a:pPr algn="l">
              <a:lnSpc>
                <a:spcPct val="150000"/>
              </a:lnSpc>
            </a:pPr>
            <a:r>
              <a:rPr lang="en-US" sz="2000" b="1" i="0" u="none" strike="noStrike" baseline="0" dirty="0">
                <a:solidFill>
                  <a:srgbClr val="FF0000"/>
                </a:solidFill>
                <a:latin typeface="Times New Roman" panose="02020603050405020304" pitchFamily="18" charset="0"/>
                <a:cs typeface="Times New Roman" panose="02020603050405020304" pitchFamily="18" charset="0"/>
              </a:rPr>
              <a:t>Important </a:t>
            </a:r>
            <a:r>
              <a:rPr lang="en-US" sz="2000" b="1" i="0" u="none" strike="noStrike" baseline="0" dirty="0">
                <a:solidFill>
                  <a:srgbClr val="333333"/>
                </a:solidFill>
                <a:latin typeface="Times New Roman" panose="02020603050405020304" pitchFamily="18" charset="0"/>
                <a:cs typeface="Times New Roman" panose="02020603050405020304" pitchFamily="18" charset="0"/>
              </a:rPr>
              <a:t>: </a:t>
            </a:r>
            <a:r>
              <a:rPr lang="en-US" sz="2000" b="0" i="0" u="none" strike="noStrike" baseline="0" dirty="0">
                <a:solidFill>
                  <a:srgbClr val="333333"/>
                </a:solidFill>
                <a:latin typeface="Times New Roman" panose="02020603050405020304" pitchFamily="18" charset="0"/>
                <a:cs typeface="Times New Roman" panose="02020603050405020304" pitchFamily="18" charset="0"/>
              </a:rPr>
              <a:t>Usually number of rows and columns of a matrix are given ( like A[20][30] or A[40][60] ) but if it is given as </a:t>
            </a:r>
            <a:r>
              <a:rPr lang="en-US" sz="2000" b="1" i="0" u="none" strike="noStrike" baseline="0" dirty="0">
                <a:solidFill>
                  <a:srgbClr val="333333"/>
                </a:solidFill>
                <a:latin typeface="Times New Roman" panose="02020603050405020304" pitchFamily="18" charset="0"/>
                <a:cs typeface="Times New Roman" panose="02020603050405020304" pitchFamily="18" charset="0"/>
              </a:rPr>
              <a:t>A[Lr- – – – – Ur, Lc- – – – – Uc]</a:t>
            </a:r>
            <a:r>
              <a:rPr lang="en-US" sz="2000" b="0" i="0" u="none" strike="noStrike" baseline="0" dirty="0">
                <a:solidFill>
                  <a:srgbClr val="333333"/>
                </a:solidFill>
                <a:latin typeface="Times New Roman" panose="02020603050405020304" pitchFamily="18" charset="0"/>
                <a:cs typeface="Times New Roman" panose="02020603050405020304" pitchFamily="18" charset="0"/>
              </a:rPr>
              <a:t>. </a:t>
            </a:r>
          </a:p>
          <a:p>
            <a:pPr algn="l">
              <a:lnSpc>
                <a:spcPct val="150000"/>
              </a:lnSpc>
            </a:pPr>
            <a:endParaRPr lang="en-US" sz="2000" dirty="0">
              <a:solidFill>
                <a:srgbClr val="333333"/>
              </a:solidFill>
              <a:latin typeface="Times New Roman" panose="02020603050405020304" pitchFamily="18" charset="0"/>
              <a:cs typeface="Times New Roman" panose="02020603050405020304" pitchFamily="18" charset="0"/>
            </a:endParaRP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In this case number of rows and columns are calculated using the following methods:</a:t>
            </a: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Number of rows (</a:t>
            </a:r>
            <a:r>
              <a:rPr lang="en-US" sz="2000" b="1" i="0" u="none" strike="noStrike" baseline="0" dirty="0">
                <a:solidFill>
                  <a:srgbClr val="333333"/>
                </a:solidFill>
                <a:latin typeface="Times New Roman" panose="02020603050405020304" pitchFamily="18" charset="0"/>
                <a:cs typeface="Times New Roman" panose="02020603050405020304" pitchFamily="18" charset="0"/>
              </a:rPr>
              <a:t>M</a:t>
            </a:r>
            <a:r>
              <a:rPr lang="en-US" sz="2000" b="0" i="0" u="none" strike="noStrike" baseline="0" dirty="0">
                <a:solidFill>
                  <a:srgbClr val="333333"/>
                </a:solidFill>
                <a:latin typeface="Times New Roman" panose="02020603050405020304" pitchFamily="18" charset="0"/>
                <a:cs typeface="Times New Roman" panose="02020603050405020304" pitchFamily="18" charset="0"/>
              </a:rPr>
              <a:t>) will be calculated as = </a:t>
            </a:r>
            <a:r>
              <a:rPr lang="en-US" sz="2000" b="1" i="0" u="none" strike="noStrike" baseline="0" dirty="0">
                <a:solidFill>
                  <a:srgbClr val="333333"/>
                </a:solidFill>
                <a:latin typeface="Times New Roman" panose="02020603050405020304" pitchFamily="18" charset="0"/>
                <a:cs typeface="Times New Roman" panose="02020603050405020304" pitchFamily="18" charset="0"/>
              </a:rPr>
              <a:t>(Ur – Lr) + 1</a:t>
            </a: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Number of columns (</a:t>
            </a:r>
            <a:r>
              <a:rPr lang="en-US" sz="2000" b="1" i="0" u="none" strike="noStrike" baseline="0" dirty="0">
                <a:solidFill>
                  <a:srgbClr val="333333"/>
                </a:solidFill>
                <a:latin typeface="Times New Roman" panose="02020603050405020304" pitchFamily="18" charset="0"/>
                <a:cs typeface="Times New Roman" panose="02020603050405020304" pitchFamily="18" charset="0"/>
              </a:rPr>
              <a:t>N</a:t>
            </a:r>
            <a:r>
              <a:rPr lang="en-US" sz="2000" b="0" i="0" u="none" strike="noStrike" baseline="0" dirty="0">
                <a:solidFill>
                  <a:srgbClr val="333333"/>
                </a:solidFill>
                <a:latin typeface="Times New Roman" panose="02020603050405020304" pitchFamily="18" charset="0"/>
                <a:cs typeface="Times New Roman" panose="02020603050405020304" pitchFamily="18" charset="0"/>
              </a:rPr>
              <a:t>) will be calculated as = </a:t>
            </a:r>
            <a:r>
              <a:rPr lang="en-US" sz="2000" b="1" i="0" u="none" strike="noStrike" baseline="0" dirty="0">
                <a:solidFill>
                  <a:srgbClr val="333333"/>
                </a:solidFill>
                <a:latin typeface="Times New Roman" panose="02020603050405020304" pitchFamily="18" charset="0"/>
                <a:cs typeface="Times New Roman" panose="02020603050405020304" pitchFamily="18" charset="0"/>
              </a:rPr>
              <a:t>(Uc – Lc) + 1</a:t>
            </a: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And rest of the process will remain same as per requirement (Row Major Wise or Column Major Wise).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851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FA5957D4-9BA2-B44E-EE7D-DD7924C23607}"/>
              </a:ext>
            </a:extLst>
          </p:cNvPr>
          <p:cNvSpPr txBox="1"/>
          <p:nvPr/>
        </p:nvSpPr>
        <p:spPr>
          <a:xfrm>
            <a:off x="2913743" y="338672"/>
            <a:ext cx="8185755" cy="5576976"/>
          </a:xfrm>
          <a:prstGeom prst="rect">
            <a:avLst/>
          </a:prstGeom>
          <a:noFill/>
        </p:spPr>
        <p:txBody>
          <a:bodyPr wrap="square">
            <a:spAutoFit/>
          </a:bodyPr>
          <a:lstStyle/>
          <a:p>
            <a:pPr algn="l">
              <a:lnSpc>
                <a:spcPct val="150000"/>
              </a:lnSpc>
            </a:pPr>
            <a:r>
              <a:rPr lang="en-US" sz="2000" b="1" i="0" u="none" strike="noStrike" baseline="0" dirty="0">
                <a:solidFill>
                  <a:srgbClr val="333333"/>
                </a:solidFill>
                <a:latin typeface="Times New Roman" panose="02020603050405020304" pitchFamily="18" charset="0"/>
                <a:cs typeface="Times New Roman" panose="02020603050405020304" pitchFamily="18" charset="0"/>
              </a:rPr>
              <a:t>Q 1</a:t>
            </a:r>
            <a:r>
              <a:rPr lang="en-US" sz="2000" b="0" i="0" u="none" strike="noStrike" baseline="0" dirty="0">
                <a:solidFill>
                  <a:srgbClr val="333333"/>
                </a:solidFill>
                <a:latin typeface="Times New Roman" panose="02020603050405020304" pitchFamily="18" charset="0"/>
                <a:cs typeface="Times New Roman" panose="02020603050405020304" pitchFamily="18" charset="0"/>
              </a:rPr>
              <a:t>. An array X [-15……….10, 15……………40] requires one byte of storage. If beginning location is 1500 determine the location of X [8][20].</a:t>
            </a:r>
          </a:p>
          <a:p>
            <a:pPr algn="l">
              <a:lnSpc>
                <a:spcPct val="150000"/>
              </a:lnSpc>
            </a:pPr>
            <a:r>
              <a:rPr lang="en-US" sz="2000" b="1" i="0" u="none" strike="noStrike" baseline="0" dirty="0">
                <a:solidFill>
                  <a:srgbClr val="333333"/>
                </a:solidFill>
                <a:latin typeface="Times New Roman" panose="02020603050405020304" pitchFamily="18" charset="0"/>
                <a:cs typeface="Times New Roman" panose="02020603050405020304" pitchFamily="18" charset="0"/>
              </a:rPr>
              <a:t>Solution:</a:t>
            </a: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As you see here the number of rows and columns are not given in the question. So they are calculated as:</a:t>
            </a: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Number or rows say </a:t>
            </a:r>
            <a:r>
              <a:rPr lang="en-US" sz="2000" b="1" i="0" u="none" strike="noStrike" baseline="0" dirty="0">
                <a:solidFill>
                  <a:srgbClr val="333333"/>
                </a:solidFill>
                <a:latin typeface="Times New Roman" panose="02020603050405020304" pitchFamily="18" charset="0"/>
                <a:cs typeface="Times New Roman" panose="02020603050405020304" pitchFamily="18" charset="0"/>
              </a:rPr>
              <a:t>M = (Ur – Lr) + 1 </a:t>
            </a:r>
            <a:r>
              <a:rPr lang="en-US" sz="2000" b="0" i="0" u="none" strike="noStrike" baseline="0" dirty="0">
                <a:solidFill>
                  <a:srgbClr val="333333"/>
                </a:solidFill>
                <a:latin typeface="Times New Roman" panose="02020603050405020304" pitchFamily="18" charset="0"/>
                <a:cs typeface="Times New Roman" panose="02020603050405020304" pitchFamily="18" charset="0"/>
              </a:rPr>
              <a:t>= [10 – (- 15)] +1 = 26</a:t>
            </a: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Number or columns say </a:t>
            </a:r>
            <a:r>
              <a:rPr lang="en-US" sz="2000" b="1" i="0" u="none" strike="noStrike" baseline="0" dirty="0">
                <a:solidFill>
                  <a:srgbClr val="333333"/>
                </a:solidFill>
                <a:latin typeface="Times New Roman" panose="02020603050405020304" pitchFamily="18" charset="0"/>
                <a:cs typeface="Times New Roman" panose="02020603050405020304" pitchFamily="18" charset="0"/>
              </a:rPr>
              <a:t>N = (Uc – Lc) + 1 </a:t>
            </a:r>
            <a:r>
              <a:rPr lang="en-US" sz="2000" b="0" i="0" u="none" strike="noStrike" baseline="0" dirty="0">
                <a:solidFill>
                  <a:srgbClr val="333333"/>
                </a:solidFill>
                <a:latin typeface="Times New Roman" panose="02020603050405020304" pitchFamily="18" charset="0"/>
                <a:cs typeface="Times New Roman" panose="02020603050405020304" pitchFamily="18" charset="0"/>
              </a:rPr>
              <a:t>= [40 – 15)] +1 = 26</a:t>
            </a:r>
          </a:p>
          <a:p>
            <a:pPr algn="l">
              <a:lnSpc>
                <a:spcPct val="150000"/>
              </a:lnSpc>
            </a:pPr>
            <a:r>
              <a:rPr lang="en-US" sz="2000" b="1" i="0" u="none" strike="noStrike" baseline="0" dirty="0">
                <a:solidFill>
                  <a:srgbClr val="333333"/>
                </a:solidFill>
                <a:latin typeface="Times New Roman" panose="02020603050405020304" pitchFamily="18" charset="0"/>
                <a:cs typeface="Times New Roman" panose="02020603050405020304" pitchFamily="18" charset="0"/>
              </a:rPr>
              <a:t>(</a:t>
            </a:r>
            <a:r>
              <a:rPr lang="en-US" sz="2000" b="1" i="0" u="none" strike="noStrike" baseline="0" dirty="0" err="1">
                <a:solidFill>
                  <a:srgbClr val="333333"/>
                </a:solidFill>
                <a:latin typeface="Times New Roman" panose="02020603050405020304" pitchFamily="18" charset="0"/>
                <a:cs typeface="Times New Roman" panose="02020603050405020304" pitchFamily="18" charset="0"/>
              </a:rPr>
              <a:t>i</a:t>
            </a:r>
            <a:r>
              <a:rPr lang="en-US" sz="2000" b="1" i="0" u="none" strike="noStrike" baseline="0" dirty="0">
                <a:solidFill>
                  <a:srgbClr val="333333"/>
                </a:solidFill>
                <a:latin typeface="Times New Roman" panose="02020603050405020304" pitchFamily="18" charset="0"/>
                <a:cs typeface="Times New Roman" panose="02020603050405020304" pitchFamily="18" charset="0"/>
              </a:rPr>
              <a:t>) Column Major Wise Calculation of above equation</a:t>
            </a: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The given values are: B = 1500, W = 1 byte, I = 8, J = 20, Lr = -15, Lc = 15, M = 26</a:t>
            </a: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Address of A [ I ][ J ] = B + W * [ ( I – Lr ) + M * ( J – Lc ) ]</a:t>
            </a:r>
          </a:p>
          <a:p>
            <a:pPr algn="l">
              <a:lnSpc>
                <a:spcPct val="150000"/>
              </a:lnSpc>
            </a:pPr>
            <a:r>
              <a:rPr lang="en-US" sz="2000" b="0" i="0" u="none" strike="noStrike" baseline="0" dirty="0">
                <a:solidFill>
                  <a:srgbClr val="333333"/>
                </a:solidFill>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511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A3C3C0EE-DD79-3AD4-BA5B-8DE8B0B07916}"/>
              </a:ext>
            </a:extLst>
          </p:cNvPr>
          <p:cNvSpPr txBox="1"/>
          <p:nvPr/>
        </p:nvSpPr>
        <p:spPr>
          <a:xfrm>
            <a:off x="2913677" y="792867"/>
            <a:ext cx="8486630" cy="2795958"/>
          </a:xfrm>
          <a:prstGeom prst="rect">
            <a:avLst/>
          </a:prstGeom>
          <a:noFill/>
        </p:spPr>
        <p:txBody>
          <a:bodyPr wrap="square">
            <a:spAutoFit/>
          </a:bodyPr>
          <a:lstStyle/>
          <a:p>
            <a:pPr algn="l">
              <a:lnSpc>
                <a:spcPct val="150000"/>
              </a:lnSpc>
            </a:pPr>
            <a:r>
              <a:rPr lang="en-US" sz="2400" b="1" i="0" u="none" strike="noStrike" baseline="0" dirty="0">
                <a:solidFill>
                  <a:srgbClr val="333333"/>
                </a:solidFill>
                <a:latin typeface="Times New Roman" panose="02020603050405020304" pitchFamily="18" charset="0"/>
                <a:cs typeface="Times New Roman" panose="02020603050405020304" pitchFamily="18" charset="0"/>
              </a:rPr>
              <a:t>(ii) Row Major Wise Calculation of above equation</a:t>
            </a:r>
          </a:p>
          <a:p>
            <a:pPr algn="l">
              <a:lnSpc>
                <a:spcPct val="150000"/>
              </a:lnSpc>
            </a:pPr>
            <a:r>
              <a:rPr lang="en-US" sz="2400" b="0" i="0" u="none" strike="noStrike" baseline="0" dirty="0">
                <a:solidFill>
                  <a:srgbClr val="333333"/>
                </a:solidFill>
                <a:latin typeface="Times New Roman" panose="02020603050405020304" pitchFamily="18" charset="0"/>
                <a:cs typeface="Times New Roman" panose="02020603050405020304" pitchFamily="18" charset="0"/>
              </a:rPr>
              <a:t>The given values are: B = 1500, W = 1 byte, I = 8, J = 20, Lr = -15, Lc = 15, N = 26</a:t>
            </a:r>
          </a:p>
          <a:p>
            <a:pPr algn="l">
              <a:lnSpc>
                <a:spcPct val="150000"/>
              </a:lnSpc>
            </a:pPr>
            <a:r>
              <a:rPr lang="en-US" sz="2400" b="0" i="0" u="none" strike="noStrike" baseline="0" dirty="0">
                <a:solidFill>
                  <a:srgbClr val="333333"/>
                </a:solidFill>
                <a:latin typeface="Times New Roman" panose="02020603050405020304" pitchFamily="18" charset="0"/>
                <a:cs typeface="Times New Roman" panose="02020603050405020304" pitchFamily="18" charset="0"/>
              </a:rPr>
              <a:t>Address of A [ I ][ J ] = B + W * [ N * ( I – Lr ) + ( J – Lc ) ]</a:t>
            </a:r>
          </a:p>
          <a:p>
            <a:pPr algn="l">
              <a:lnSpc>
                <a:spcPct val="150000"/>
              </a:lnSpc>
            </a:pPr>
            <a:r>
              <a:rPr lang="en-US" sz="2400" b="0" i="0" u="none" strike="noStrike" baseline="0" dirty="0">
                <a:solidFill>
                  <a:srgbClr val="333333"/>
                </a:solidFill>
                <a:latin typeface="Times New Roman" panose="02020603050405020304" pitchFamily="18" charset="0"/>
                <a:cs typeface="Times New Roman" panose="02020603050405020304" pitchFamily="18" charset="0"/>
              </a:rPr>
              <a:t>= ? </a:t>
            </a:r>
            <a:r>
              <a:rPr lang="en-US" sz="2400" b="1" i="0" u="none" strike="noStrike" baseline="0" dirty="0">
                <a:solidFill>
                  <a:srgbClr val="333333"/>
                </a:solidFill>
                <a:latin typeface="Times New Roman" panose="02020603050405020304" pitchFamily="18" charset="0"/>
                <a:cs typeface="Times New Roman" panose="02020603050405020304" pitchFamily="18" charset="0"/>
              </a:rPr>
              <a:t>[Ans]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813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97" name="Google Shape;97;g2eff20282af_0_123"/>
          <p:cNvSpPr txBox="1"/>
          <p:nvPr/>
        </p:nvSpPr>
        <p:spPr>
          <a:xfrm>
            <a:off x="2203938" y="4952045"/>
            <a:ext cx="9354900" cy="6462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a:t>
            </a:r>
            <a:endParaRPr sz="3000" b="1" dirty="0">
              <a:solidFill>
                <a:srgbClr val="E88B31"/>
              </a:solidFill>
              <a:latin typeface="Times New Roman"/>
              <a:ea typeface="Times New Roman"/>
              <a:cs typeface="Times New Roman"/>
              <a:sym typeface="Times New Roman"/>
            </a:endParaRP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
        <p:nvSpPr>
          <p:cNvPr id="3" name="Google Shape;742;p69">
            <a:extLst>
              <a:ext uri="{FF2B5EF4-FFF2-40B4-BE49-F238E27FC236}">
                <a16:creationId xmlns:a16="http://schemas.microsoft.com/office/drawing/2014/main" id="{CBDCC206-B5DD-83C4-171B-EC0837CDC76C}"/>
              </a:ext>
            </a:extLst>
          </p:cNvPr>
          <p:cNvSpPr txBox="1">
            <a:spLocks/>
          </p:cNvSpPr>
          <p:nvPr/>
        </p:nvSpPr>
        <p:spPr>
          <a:xfrm>
            <a:off x="2994738" y="421797"/>
            <a:ext cx="7405687" cy="41084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lnSpc>
                <a:spcPct val="100000"/>
              </a:lnSpc>
              <a:spcBef>
                <a:spcPts val="0"/>
              </a:spcBef>
              <a:buFont typeface="Arial"/>
              <a:buNone/>
            </a:pPr>
            <a:r>
              <a:rPr lang="en-US" b="1" dirty="0">
                <a:solidFill>
                  <a:schemeClr val="accent1"/>
                </a:solidFill>
              </a:rPr>
              <a:t>FIBONACCI SERIES</a:t>
            </a:r>
          </a:p>
          <a:p>
            <a:pPr marL="0" indent="0">
              <a:lnSpc>
                <a:spcPct val="100000"/>
              </a:lnSpc>
              <a:buFont typeface="Arial"/>
              <a:buNone/>
            </a:pPr>
            <a:r>
              <a:rPr lang="en-US" sz="2400" dirty="0">
                <a:solidFill>
                  <a:srgbClr val="404040"/>
                </a:solidFill>
              </a:rPr>
              <a:t>	The Fibonacci sequence is the sequence of integers, where each number in this sequence is the sum of two preceding elements.</a:t>
            </a:r>
            <a:endParaRPr lang="en-US" sz="2400" dirty="0"/>
          </a:p>
          <a:p>
            <a:pPr marL="0" indent="0">
              <a:lnSpc>
                <a:spcPct val="100000"/>
              </a:lnSpc>
              <a:buFont typeface="Arial"/>
              <a:buNone/>
            </a:pPr>
            <a:r>
              <a:rPr lang="en-US" sz="2400" dirty="0">
                <a:solidFill>
                  <a:srgbClr val="404040"/>
                </a:solidFill>
              </a:rPr>
              <a:t>A formal definition is</a:t>
            </a:r>
            <a:endParaRPr lang="en-US" sz="2400" dirty="0"/>
          </a:p>
          <a:p>
            <a:pPr marL="0" indent="0">
              <a:lnSpc>
                <a:spcPct val="100000"/>
              </a:lnSpc>
              <a:buFont typeface="Arial"/>
              <a:buNone/>
            </a:pPr>
            <a:r>
              <a:rPr lang="en-US" sz="2400" dirty="0" err="1">
                <a:solidFill>
                  <a:srgbClr val="404040"/>
                </a:solidFill>
              </a:rPr>
              <a:t>a.If</a:t>
            </a:r>
            <a:r>
              <a:rPr lang="en-US" sz="2400" dirty="0">
                <a:solidFill>
                  <a:srgbClr val="404040"/>
                </a:solidFill>
              </a:rPr>
              <a:t> n=0 or 1,then F(n)=n</a:t>
            </a:r>
            <a:endParaRPr lang="en-US" sz="2400" dirty="0"/>
          </a:p>
          <a:p>
            <a:pPr marL="0" indent="0">
              <a:lnSpc>
                <a:spcPct val="100000"/>
              </a:lnSpc>
              <a:buFont typeface="Arial"/>
              <a:buNone/>
            </a:pPr>
            <a:r>
              <a:rPr lang="en-US" sz="2400" dirty="0" err="1">
                <a:solidFill>
                  <a:srgbClr val="404040"/>
                </a:solidFill>
              </a:rPr>
              <a:t>b.If</a:t>
            </a:r>
            <a:r>
              <a:rPr lang="en-US" sz="2400" dirty="0">
                <a:solidFill>
                  <a:srgbClr val="404040"/>
                </a:solidFill>
              </a:rPr>
              <a:t> n&gt;1,then F(n)=F(n-1)+F(n-2)</a:t>
            </a:r>
            <a:endParaRPr lang="en-US" sz="2400" dirty="0"/>
          </a:p>
        </p:txBody>
      </p:sp>
    </p:spTree>
    <p:extLst>
      <p:ext uri="{BB962C8B-B14F-4D97-AF65-F5344CB8AC3E}">
        <p14:creationId xmlns:p14="http://schemas.microsoft.com/office/powerpoint/2010/main" val="3083183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2eff20282af_0_109"/>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213" name="Google Shape;213;g2eff20282af_0_109"/>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grpSp>
        <p:nvGrpSpPr>
          <p:cNvPr id="214" name="Google Shape;214;g2eff20282af_0_109"/>
          <p:cNvGrpSpPr/>
          <p:nvPr/>
        </p:nvGrpSpPr>
        <p:grpSpPr>
          <a:xfrm>
            <a:off x="53470" y="1474470"/>
            <a:ext cx="2278380" cy="3049270"/>
            <a:chOff x="122" y="2322"/>
            <a:chExt cx="3588" cy="4802"/>
          </a:xfrm>
        </p:grpSpPr>
        <p:sp>
          <p:nvSpPr>
            <p:cNvPr id="215" name="Google Shape;215;g2eff20282af_0_109"/>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216" name="Google Shape;216;g2eff20282af_0_109"/>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217" name="Google Shape;217;g2eff20282af_0_109" descr="Image"/>
            <p:cNvPicPr preferRelativeResize="0"/>
            <p:nvPr/>
          </p:nvPicPr>
          <p:blipFill rotWithShape="1">
            <a:blip r:embed="rId3">
              <a:alphaModFix/>
            </a:blip>
            <a:srcRect/>
            <a:stretch/>
          </p:blipFill>
          <p:spPr>
            <a:xfrm>
              <a:off x="987" y="3715"/>
              <a:ext cx="1683" cy="1805"/>
            </a:xfrm>
            <a:prstGeom prst="rect">
              <a:avLst/>
            </a:prstGeom>
            <a:noFill/>
            <a:ln>
              <a:noFill/>
            </a:ln>
          </p:spPr>
        </p:pic>
      </p:grpSp>
      <p:pic>
        <p:nvPicPr>
          <p:cNvPr id="218" name="Google Shape;218;g2eff20282af_0_109"/>
          <p:cNvPicPr preferRelativeResize="0"/>
          <p:nvPr/>
        </p:nvPicPr>
        <p:blipFill>
          <a:blip r:embed="rId4">
            <a:alphaModFix/>
          </a:blip>
          <a:stretch>
            <a:fillRect/>
          </a:stretch>
        </p:blipFill>
        <p:spPr>
          <a:xfrm>
            <a:off x="4321900" y="1198225"/>
            <a:ext cx="5962650" cy="4219575"/>
          </a:xfrm>
          <a:prstGeom prst="rect">
            <a:avLst/>
          </a:prstGeom>
          <a:noFill/>
          <a:ln>
            <a:noFill/>
          </a:ln>
        </p:spPr>
      </p:pic>
      <p:sp>
        <p:nvSpPr>
          <p:cNvPr id="219" name="Google Shape;219;g2eff20282af_0_109"/>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AIML DS</a:t>
            </a:r>
            <a:endParaRPr sz="1400" i="0" u="none" strike="noStrike" cap="none" dirty="0">
              <a:solidFill>
                <a:srgbClr val="FFFFFF"/>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3_Custom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Custom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Custom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5280</TotalTime>
  <Words>5829</Words>
  <Application>Microsoft Office PowerPoint</Application>
  <PresentationFormat>Widescreen</PresentationFormat>
  <Paragraphs>670</Paragraphs>
  <Slides>82</Slides>
  <Notes>82</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82</vt:i4>
      </vt:variant>
    </vt:vector>
  </HeadingPairs>
  <TitlesOfParts>
    <vt:vector size="93" baseType="lpstr">
      <vt:lpstr>Calibri Light</vt:lpstr>
      <vt:lpstr>Poppins</vt:lpstr>
      <vt:lpstr>Arial</vt:lpstr>
      <vt:lpstr>Noto Sans Symbols</vt:lpstr>
      <vt:lpstr>Calibri</vt:lpstr>
      <vt:lpstr>Times New Roman</vt:lpstr>
      <vt:lpstr>3_Custom Design</vt:lpstr>
      <vt:lpstr>1_Custom Design</vt:lpstr>
      <vt:lpstr>5_Custom Design</vt:lpstr>
      <vt:lpstr>4_Custom Design</vt:lpstr>
      <vt:lpstr>Custom Design</vt:lpstr>
      <vt:lpstr>PowerPoint Presentation</vt:lpstr>
      <vt:lpstr>PowerPoint Presentation</vt:lpstr>
      <vt:lpstr>MODULE-1 Introduction:</vt:lpstr>
      <vt:lpstr>Basic Terminologies</vt:lpstr>
      <vt:lpstr>PowerPoint Presentation</vt:lpstr>
      <vt:lpstr>Basic Terminologies </vt:lpstr>
      <vt:lpstr>Basic Terminologies </vt:lpstr>
      <vt:lpstr>Basic Terminologies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Principal aip</dc:creator>
  <cp:lastModifiedBy>Hi</cp:lastModifiedBy>
  <cp:revision>20</cp:revision>
  <dcterms:created xsi:type="dcterms:W3CDTF">2021-09-07T04:22:00Z</dcterms:created>
  <dcterms:modified xsi:type="dcterms:W3CDTF">2026-10-27T16:33:50Z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0398283ACE364599A240D38F3F474187_13</vt:lpwstr>
  </property>
  <property fmtid="{D5CDD505-2E9C-101B-9397-08002B2CF9AE}" pid="3" name="KSOProductBuildVer">
    <vt:lpwstr>1033-12.2.0.13489</vt:lpwstr>
  </property>
</Properties>
</file>